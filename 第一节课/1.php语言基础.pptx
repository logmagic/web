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7" r:id="rId3"/>
  </p:sldMasterIdLst>
  <p:notesMasterIdLst>
    <p:notesMasterId r:id="rId5"/>
  </p:notesMasterIdLst>
  <p:sldIdLst>
    <p:sldId id="256" r:id="rId4"/>
    <p:sldId id="613" r:id="rId6"/>
    <p:sldId id="641" r:id="rId7"/>
    <p:sldId id="662" r:id="rId8"/>
    <p:sldId id="663" r:id="rId9"/>
    <p:sldId id="664" r:id="rId10"/>
    <p:sldId id="665" r:id="rId11"/>
    <p:sldId id="669" r:id="rId12"/>
    <p:sldId id="696" r:id="rId13"/>
    <p:sldId id="694" r:id="rId14"/>
    <p:sldId id="695" r:id="rId15"/>
    <p:sldId id="670" r:id="rId16"/>
    <p:sldId id="666" r:id="rId17"/>
    <p:sldId id="671" r:id="rId18"/>
    <p:sldId id="688" r:id="rId19"/>
    <p:sldId id="686" r:id="rId20"/>
    <p:sldId id="689" r:id="rId21"/>
    <p:sldId id="690" r:id="rId22"/>
    <p:sldId id="691" r:id="rId23"/>
    <p:sldId id="692" r:id="rId24"/>
    <p:sldId id="687" r:id="rId25"/>
    <p:sldId id="693" r:id="rId26"/>
    <p:sldId id="631"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11" userDrawn="1">
          <p15:clr>
            <a:srgbClr val="A4A3A4"/>
          </p15:clr>
        </p15:guide>
        <p15:guide id="2" pos="3817" userDrawn="1">
          <p15:clr>
            <a:srgbClr val="A4A3A4"/>
          </p15:clr>
        </p15:guide>
        <p15:guide id="3" pos="6766" userDrawn="1">
          <p15:clr>
            <a:srgbClr val="A4A3A4"/>
          </p15:clr>
        </p15:guide>
        <p15:guide id="4" pos="869" userDrawn="1">
          <p15:clr>
            <a:srgbClr val="A4A3A4"/>
          </p15:clr>
        </p15:guide>
        <p15:guide id="5" orient="horz" pos="648" userDrawn="1">
          <p15:clr>
            <a:srgbClr val="A4A3A4"/>
          </p15:clr>
        </p15:guide>
        <p15:guide id="6" orient="horz" pos="51" userDrawn="1">
          <p15:clr>
            <a:srgbClr val="A4A3A4"/>
          </p15:clr>
        </p15:guide>
        <p15:guide id="7" orient="horz" pos="3992" userDrawn="1">
          <p15:clr>
            <a:srgbClr val="A4A3A4"/>
          </p15:clr>
        </p15:guide>
        <p15:guide id="8" orient="horz" pos="315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 华" initials="李"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FEF"/>
    <a:srgbClr val="1A4157"/>
    <a:srgbClr val="394479"/>
    <a:srgbClr val="D9D9D9"/>
    <a:srgbClr val="BC3649"/>
    <a:srgbClr val="557788"/>
    <a:srgbClr val="8CA3AE"/>
    <a:srgbClr val="416C69"/>
    <a:srgbClr val="006C30"/>
    <a:srgbClr val="ADB5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8" autoAdjust="0"/>
    <p:restoredTop sz="95524" autoAdjust="0"/>
  </p:normalViewPr>
  <p:slideViewPr>
    <p:cSldViewPr snapToGrid="0" showGuides="1">
      <p:cViewPr varScale="1">
        <p:scale>
          <a:sx n="91" d="100"/>
          <a:sy n="91" d="100"/>
        </p:scale>
        <p:origin x="274" y="53"/>
      </p:cViewPr>
      <p:guideLst>
        <p:guide orient="horz" pos="1911"/>
        <p:guide pos="3817"/>
        <p:guide pos="6766"/>
        <p:guide pos="869"/>
        <p:guide orient="horz" pos="648"/>
        <p:guide orient="horz" pos="51"/>
        <p:guide orient="horz" pos="3992"/>
        <p:guide orient="horz" pos="3158"/>
      </p:guideLst>
    </p:cSldViewPr>
  </p:slideViewPr>
  <p:outlineViewPr>
    <p:cViewPr>
      <p:scale>
        <a:sx n="33" d="100"/>
        <a:sy n="33" d="100"/>
      </p:scale>
      <p:origin x="0" y="0"/>
    </p:cViewPr>
  </p:outlineViewPr>
  <p:notesTextViewPr>
    <p:cViewPr>
      <p:scale>
        <a:sx n="3" d="2"/>
        <a:sy n="3" d="2"/>
      </p:scale>
      <p:origin x="0" y="0"/>
    </p:cViewPr>
  </p:notesTextViewPr>
  <p:sorterViewPr>
    <p:cViewPr>
      <p:scale>
        <a:sx n="125" d="100"/>
        <a:sy n="125" d="100"/>
      </p:scale>
      <p:origin x="0" y="-101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B8F2AF-B165-49ED-8D49-F91D3C9FFCC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0F3238-B197-4DD0-8393-B222E6E8551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90F3238-B197-4DD0-8393-B222E6E8551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90F3238-B197-4DD0-8393-B222E6E8551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90F3238-B197-4DD0-8393-B222E6E8551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0" i="0" kern="1200" dirty="0" err="1">
                <a:solidFill>
                  <a:schemeClr val="tx1"/>
                </a:solidFill>
                <a:effectLst/>
                <a:latin typeface="+mn-lt"/>
                <a:ea typeface="+mn-ea"/>
                <a:cs typeface="+mn-cs"/>
              </a:rPr>
              <a:t>ctf</a:t>
            </a:r>
            <a:r>
              <a:rPr lang="zh-CN" altLang="en-US" sz="1200" b="0" i="0" kern="1200" dirty="0">
                <a:solidFill>
                  <a:schemeClr val="tx1"/>
                </a:solidFill>
                <a:effectLst/>
                <a:latin typeface="+mn-lt"/>
                <a:ea typeface="+mn-ea"/>
                <a:cs typeface="+mn-cs"/>
              </a:rPr>
              <a:t>比赛的第三种模式是</a:t>
            </a:r>
            <a:r>
              <a:rPr lang="zh-CN" altLang="en-US" sz="1200" b="1" i="0" kern="1200" dirty="0">
                <a:solidFill>
                  <a:schemeClr val="tx1"/>
                </a:solidFill>
                <a:effectLst/>
                <a:latin typeface="+mn-lt"/>
                <a:ea typeface="+mn-ea"/>
                <a:cs typeface="+mn-cs"/>
              </a:rPr>
              <a:t>混合模式（</a:t>
            </a:r>
            <a:r>
              <a:rPr lang="en-US" altLang="zh-CN" sz="1200" b="1" i="0" kern="1200" dirty="0">
                <a:solidFill>
                  <a:schemeClr val="tx1"/>
                </a:solidFill>
                <a:effectLst/>
                <a:latin typeface="+mn-lt"/>
                <a:ea typeface="+mn-ea"/>
                <a:cs typeface="+mn-cs"/>
              </a:rPr>
              <a:t>Mix</a:t>
            </a:r>
            <a:r>
              <a:rPr lang="zh-CN" altLang="en-US" sz="1200" b="1" i="0" kern="1200" dirty="0">
                <a:solidFill>
                  <a:schemeClr val="tx1"/>
                </a:solidFill>
                <a:effectLst/>
                <a:latin typeface="+mn-lt"/>
                <a:ea typeface="+mn-ea"/>
                <a:cs typeface="+mn-cs"/>
              </a:rPr>
              <a:t>）</a:t>
            </a:r>
            <a:endParaRPr lang="en-US" altLang="zh-CN"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i="0" kern="1200" dirty="0">
                <a:solidFill>
                  <a:schemeClr val="tx1"/>
                </a:solidFill>
                <a:effectLst/>
                <a:latin typeface="+mn-lt"/>
                <a:ea typeface="+mn-ea"/>
                <a:cs typeface="+mn-cs"/>
              </a:rPr>
              <a:t>这种模式</a:t>
            </a:r>
            <a:r>
              <a:rPr lang="zh-CN" altLang="en-US" sz="1200" b="0" i="0" kern="1200" dirty="0">
                <a:solidFill>
                  <a:schemeClr val="tx1"/>
                </a:solidFill>
                <a:effectLst/>
                <a:latin typeface="+mn-lt"/>
                <a:ea typeface="+mn-ea"/>
                <a:cs typeface="+mn-cs"/>
              </a:rPr>
              <a:t>结合了解题模式与攻防模式的</a:t>
            </a:r>
            <a:r>
              <a:rPr lang="en-US" altLang="zh-CN" sz="1200" b="0" i="0" kern="1200" dirty="0">
                <a:solidFill>
                  <a:schemeClr val="tx1"/>
                </a:solidFill>
                <a:effectLst/>
                <a:latin typeface="+mn-lt"/>
                <a:ea typeface="+mn-ea"/>
                <a:cs typeface="+mn-cs"/>
              </a:rPr>
              <a:t>CTF</a:t>
            </a:r>
            <a:r>
              <a:rPr lang="zh-CN" altLang="en-US" sz="1200" b="0" i="0" kern="1200" dirty="0">
                <a:solidFill>
                  <a:schemeClr val="tx1"/>
                </a:solidFill>
                <a:effectLst/>
                <a:latin typeface="+mn-lt"/>
                <a:ea typeface="+mn-ea"/>
                <a:cs typeface="+mn-cs"/>
              </a:rPr>
              <a:t>赛制，比如参赛队伍通过解题可以获取一些初始分数，然后通过攻防对抗进行得分增减的零和游戏，最终以得分高低分出胜负。采用混合模式</a:t>
            </a:r>
            <a:r>
              <a:rPr lang="en-US" altLang="zh-CN" sz="1200" b="0" i="0" kern="1200" dirty="0">
                <a:solidFill>
                  <a:schemeClr val="tx1"/>
                </a:solidFill>
                <a:effectLst/>
                <a:latin typeface="+mn-lt"/>
                <a:ea typeface="+mn-ea"/>
                <a:cs typeface="+mn-cs"/>
              </a:rPr>
              <a:t>CTF</a:t>
            </a:r>
            <a:r>
              <a:rPr lang="zh-CN" altLang="en-US" sz="1200" b="0" i="0" kern="1200" dirty="0">
                <a:solidFill>
                  <a:schemeClr val="tx1"/>
                </a:solidFill>
                <a:effectLst/>
                <a:latin typeface="+mn-lt"/>
                <a:ea typeface="+mn-ea"/>
                <a:cs typeface="+mn-cs"/>
              </a:rPr>
              <a:t>赛制的例子有：</a:t>
            </a:r>
            <a:r>
              <a:rPr lang="en-US" altLang="zh-CN" sz="1200" b="0" i="0" kern="1200" dirty="0" err="1">
                <a:solidFill>
                  <a:schemeClr val="tx1"/>
                </a:solidFill>
                <a:effectLst/>
                <a:latin typeface="+mn-lt"/>
                <a:ea typeface="+mn-ea"/>
                <a:cs typeface="+mn-cs"/>
              </a:rPr>
              <a:t>RuCTF</a:t>
            </a:r>
            <a:r>
              <a:rPr lang="zh-CN" altLang="en-US" sz="1200" b="0" i="0" kern="1200" dirty="0">
                <a:solidFill>
                  <a:schemeClr val="tx1"/>
                </a:solidFill>
                <a:effectLst/>
                <a:latin typeface="+mn-lt"/>
                <a:ea typeface="+mn-ea"/>
                <a:cs typeface="+mn-cs"/>
              </a:rPr>
              <a:t>：由俄罗斯</a:t>
            </a:r>
            <a:r>
              <a:rPr lang="en-US" altLang="zh-CN" sz="1200" b="0" i="0" kern="1200" dirty="0">
                <a:solidFill>
                  <a:schemeClr val="tx1"/>
                </a:solidFill>
                <a:effectLst/>
                <a:latin typeface="+mn-lt"/>
                <a:ea typeface="+mn-ea"/>
                <a:cs typeface="+mn-cs"/>
              </a:rPr>
              <a:t>Hackerdom</a:t>
            </a:r>
            <a:r>
              <a:rPr lang="zh-CN" altLang="en-US" sz="1200" b="0" i="0" kern="1200" dirty="0">
                <a:solidFill>
                  <a:schemeClr val="tx1"/>
                </a:solidFill>
                <a:effectLst/>
                <a:latin typeface="+mn-lt"/>
                <a:ea typeface="+mn-ea"/>
                <a:cs typeface="+mn-cs"/>
              </a:rPr>
              <a:t>组织，解题模式资格赛面向全球参赛，它的决赛就是混合模式</a:t>
            </a:r>
            <a:r>
              <a:rPr lang="zh-CN" altLang="en-US" sz="1200" b="1" i="0" kern="1200" dirty="0">
                <a:solidFill>
                  <a:schemeClr val="tx1"/>
                </a:solidFill>
                <a:effectLst/>
                <a:latin typeface="+mn-lt"/>
                <a:ea typeface="+mn-ea"/>
                <a:cs typeface="+mn-cs"/>
              </a:rPr>
              <a:t>（</a:t>
            </a:r>
            <a:r>
              <a:rPr lang="en-US" altLang="zh-CN" sz="1200" b="1" i="0" kern="1200" dirty="0">
                <a:solidFill>
                  <a:schemeClr val="tx1"/>
                </a:solidFill>
                <a:effectLst/>
                <a:latin typeface="+mn-lt"/>
                <a:ea typeface="+mn-ea"/>
                <a:cs typeface="+mn-cs"/>
              </a:rPr>
              <a:t>Mix</a:t>
            </a:r>
            <a:r>
              <a:rPr lang="zh-CN" altLang="en-US" sz="1200" b="1" i="0" kern="1200" dirty="0">
                <a:solidFill>
                  <a:schemeClr val="tx1"/>
                </a:solidFill>
                <a:effectLst/>
                <a:latin typeface="+mn-lt"/>
                <a:ea typeface="+mn-ea"/>
                <a:cs typeface="+mn-cs"/>
              </a:rPr>
              <a:t>）</a:t>
            </a:r>
            <a:endParaRPr lang="en-US" altLang="zh-CN"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790F3238-B197-4DD0-8393-B222E6E8551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对于非安全人员来说，接触</a:t>
            </a:r>
            <a:r>
              <a:rPr lang="en-US" altLang="zh-CN" dirty="0" err="1"/>
              <a:t>ctf</a:t>
            </a:r>
            <a:r>
              <a:rPr lang="zh-CN" altLang="en-US" dirty="0"/>
              <a:t>的二进制可以让你熟悉知识点的使用方法，知道在哪里使用，哪里容易出漏洞。这个过程可以带你熟悉一些基础的编程语言，更深刻地理解数据结构的算法，熟悉软件的运行方式，了解计算机底层的逻辑，学到很多之前没有接触过的知识和技巧。至少就算是一个菜鸟，</a:t>
            </a:r>
            <a:r>
              <a:rPr lang="zh-CN" altLang="en-US" sz="1200" b="0" i="0" kern="1200" dirty="0">
                <a:solidFill>
                  <a:schemeClr val="tx1"/>
                </a:solidFill>
                <a:effectLst/>
                <a:latin typeface="+mn-lt"/>
                <a:ea typeface="+mn-ea"/>
                <a:cs typeface="+mn-cs"/>
              </a:rPr>
              <a:t>在独自查资料解决问题的能力方面也有所提升</a:t>
            </a:r>
            <a:endParaRPr lang="zh-CN" altLang="en-US" dirty="0"/>
          </a:p>
        </p:txBody>
      </p:sp>
      <p:sp>
        <p:nvSpPr>
          <p:cNvPr id="4" name="灯片编号占位符 3"/>
          <p:cNvSpPr>
            <a:spLocks noGrp="1"/>
          </p:cNvSpPr>
          <p:nvPr>
            <p:ph type="sldNum" sz="quarter" idx="5"/>
          </p:nvPr>
        </p:nvSpPr>
        <p:spPr/>
        <p:txBody>
          <a:bodyPr/>
          <a:lstStyle/>
          <a:p>
            <a:fld id="{790F3238-B197-4DD0-8393-B222E6E85519}"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对于非安全人员来说，接触</a:t>
            </a:r>
            <a:r>
              <a:rPr lang="en-US" altLang="zh-CN" dirty="0" err="1"/>
              <a:t>ctf</a:t>
            </a:r>
            <a:r>
              <a:rPr lang="zh-CN" altLang="en-US" dirty="0"/>
              <a:t>的二进制可以让你熟悉知识点的使用方法，知道在哪里使用，哪里容易出漏洞。这个过程可以带你熟悉一些基础的编程语言，更深刻地理解数据结构的算法，熟悉软件的运行方式，了解计算机底层的逻辑，学到很多之前没有接触过的知识和技巧。至少就算是一个菜鸟，</a:t>
            </a:r>
            <a:r>
              <a:rPr lang="zh-CN" altLang="en-US" sz="1200" b="0" i="0" kern="1200" dirty="0">
                <a:solidFill>
                  <a:schemeClr val="tx1"/>
                </a:solidFill>
                <a:effectLst/>
                <a:latin typeface="+mn-lt"/>
                <a:ea typeface="+mn-ea"/>
                <a:cs typeface="+mn-cs"/>
              </a:rPr>
              <a:t>在独自查资料解决问题的能力方面也有所提升</a:t>
            </a:r>
            <a:endParaRPr lang="zh-CN" altLang="en-US" dirty="0"/>
          </a:p>
        </p:txBody>
      </p:sp>
      <p:sp>
        <p:nvSpPr>
          <p:cNvPr id="4" name="灯片编号占位符 3"/>
          <p:cNvSpPr>
            <a:spLocks noGrp="1"/>
          </p:cNvSpPr>
          <p:nvPr>
            <p:ph type="sldNum" sz="quarter" idx="5"/>
          </p:nvPr>
        </p:nvSpPr>
        <p:spPr/>
        <p:txBody>
          <a:bodyPr/>
          <a:lstStyle/>
          <a:p>
            <a:fld id="{790F3238-B197-4DD0-8393-B222E6E85519}"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对于非安全人员来说，接触</a:t>
            </a:r>
            <a:r>
              <a:rPr lang="en-US" altLang="zh-CN" dirty="0" err="1"/>
              <a:t>ctf</a:t>
            </a:r>
            <a:r>
              <a:rPr lang="zh-CN" altLang="en-US" dirty="0"/>
              <a:t>的二进制可以让你熟悉知识点的使用方法，知道在哪里使用，哪里容易出漏洞。这个过程可以带你熟悉一些基础的编程语言，更深刻地理解数据结构的算法，熟悉软件的运行方式，了解计算机底层的逻辑，学到很多之前没有接触过的知识和技巧。至少就算是一个菜鸟，</a:t>
            </a:r>
            <a:r>
              <a:rPr lang="zh-CN" altLang="en-US" sz="1200" b="0" i="0" kern="1200" dirty="0">
                <a:solidFill>
                  <a:schemeClr val="tx1"/>
                </a:solidFill>
                <a:effectLst/>
                <a:latin typeface="+mn-lt"/>
                <a:ea typeface="+mn-ea"/>
                <a:cs typeface="+mn-cs"/>
              </a:rPr>
              <a:t>在独自查资料解决问题的能力方面也有所提升</a:t>
            </a:r>
            <a:endParaRPr lang="zh-CN" altLang="en-US" dirty="0"/>
          </a:p>
        </p:txBody>
      </p:sp>
      <p:sp>
        <p:nvSpPr>
          <p:cNvPr id="4" name="灯片编号占位符 3"/>
          <p:cNvSpPr>
            <a:spLocks noGrp="1"/>
          </p:cNvSpPr>
          <p:nvPr>
            <p:ph type="sldNum" sz="quarter" idx="5"/>
          </p:nvPr>
        </p:nvSpPr>
        <p:spPr/>
        <p:txBody>
          <a:bodyPr/>
          <a:lstStyle/>
          <a:p>
            <a:fld id="{790F3238-B197-4DD0-8393-B222E6E85519}"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对于非安全人员来说，接触</a:t>
            </a:r>
            <a:r>
              <a:rPr lang="en-US" altLang="zh-CN" dirty="0" err="1"/>
              <a:t>ctf</a:t>
            </a:r>
            <a:r>
              <a:rPr lang="zh-CN" altLang="en-US" dirty="0"/>
              <a:t>的二进制可以让你熟悉知识点的使用方法，知道在哪里使用，哪里容易出漏洞。这个过程可以带你熟悉一些基础的编程语言，更深刻地理解数据结构的算法，熟悉软件的运行方式，了解计算机底层的逻辑，学到很多之前没有接触过的知识和技巧。至少就算是一个菜鸟，</a:t>
            </a:r>
            <a:r>
              <a:rPr lang="zh-CN" altLang="en-US" sz="1200" b="0" i="0" kern="1200" dirty="0">
                <a:solidFill>
                  <a:schemeClr val="tx1"/>
                </a:solidFill>
                <a:effectLst/>
                <a:latin typeface="+mn-lt"/>
                <a:ea typeface="+mn-ea"/>
                <a:cs typeface="+mn-cs"/>
              </a:rPr>
              <a:t>在独自查资料解决问题的能力方面也有所提升</a:t>
            </a:r>
            <a:endParaRPr lang="zh-CN" altLang="en-US" dirty="0"/>
          </a:p>
        </p:txBody>
      </p:sp>
      <p:sp>
        <p:nvSpPr>
          <p:cNvPr id="4" name="灯片编号占位符 3"/>
          <p:cNvSpPr>
            <a:spLocks noGrp="1"/>
          </p:cNvSpPr>
          <p:nvPr>
            <p:ph type="sldNum" sz="quarter" idx="5"/>
          </p:nvPr>
        </p:nvSpPr>
        <p:spPr/>
        <p:txBody>
          <a:bodyPr/>
          <a:lstStyle/>
          <a:p>
            <a:fld id="{790F3238-B197-4DD0-8393-B222E6E85519}"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对于非安全人员来说，接触</a:t>
            </a:r>
            <a:r>
              <a:rPr lang="en-US" altLang="zh-CN" dirty="0" err="1"/>
              <a:t>ctf</a:t>
            </a:r>
            <a:r>
              <a:rPr lang="zh-CN" altLang="en-US" dirty="0"/>
              <a:t>的二进制可以让你熟悉知识点的使用方法，知道在哪里使用，哪里容易出漏洞。这个过程可以带你熟悉一些基础的编程语言，更深刻地理解数据结构的算法，熟悉软件的运行方式，了解计算机底层的逻辑，学到很多之前没有接触过的知识和技巧。至少就算是一个菜鸟，</a:t>
            </a:r>
            <a:r>
              <a:rPr lang="zh-CN" altLang="en-US" sz="1200" b="0" i="0" kern="1200" dirty="0">
                <a:solidFill>
                  <a:schemeClr val="tx1"/>
                </a:solidFill>
                <a:effectLst/>
                <a:latin typeface="+mn-lt"/>
                <a:ea typeface="+mn-ea"/>
                <a:cs typeface="+mn-cs"/>
              </a:rPr>
              <a:t>在独自查资料解决问题的能力方面也有所提升</a:t>
            </a:r>
            <a:endParaRPr lang="zh-CN" altLang="en-US" dirty="0"/>
          </a:p>
        </p:txBody>
      </p:sp>
      <p:sp>
        <p:nvSpPr>
          <p:cNvPr id="4" name="灯片编号占位符 3"/>
          <p:cNvSpPr>
            <a:spLocks noGrp="1"/>
          </p:cNvSpPr>
          <p:nvPr>
            <p:ph type="sldNum" sz="quarter" idx="5"/>
          </p:nvPr>
        </p:nvSpPr>
        <p:spPr/>
        <p:txBody>
          <a:bodyPr/>
          <a:lstStyle/>
          <a:p>
            <a:fld id="{790F3238-B197-4DD0-8393-B222E6E85519}"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对于安全人员来说，接触</a:t>
            </a:r>
            <a:r>
              <a:rPr lang="en-US" altLang="zh-CN" dirty="0" err="1"/>
              <a:t>ctf</a:t>
            </a:r>
            <a:r>
              <a:rPr lang="zh-CN" altLang="en-US" dirty="0"/>
              <a:t>的二进制，比较现实的就是</a:t>
            </a:r>
            <a:r>
              <a:rPr lang="zh-CN" altLang="en-US" sz="1200" b="0" i="0" kern="1200" dirty="0">
                <a:solidFill>
                  <a:schemeClr val="tx1"/>
                </a:solidFill>
                <a:effectLst/>
                <a:latin typeface="+mn-lt"/>
                <a:ea typeface="+mn-ea"/>
                <a:cs typeface="+mn-cs"/>
              </a:rPr>
              <a:t>锻炼自己的业务能力和实战能力。如果你以后想从事破解软件，实现软件保护技术，破解软件保护技术，实现底层的加密算法，完成恶意代码的分析等业务，</a:t>
            </a:r>
            <a:r>
              <a:rPr lang="en-US" altLang="zh-CN" sz="1200" b="0" i="0" kern="1200" dirty="0" err="1">
                <a:solidFill>
                  <a:schemeClr val="tx1"/>
                </a:solidFill>
                <a:effectLst/>
                <a:latin typeface="+mn-lt"/>
                <a:ea typeface="+mn-ea"/>
                <a:cs typeface="+mn-cs"/>
              </a:rPr>
              <a:t>ctf</a:t>
            </a:r>
            <a:r>
              <a:rPr lang="zh-CN" altLang="en-US" sz="1200" b="0" i="0" kern="1200" dirty="0">
                <a:solidFill>
                  <a:schemeClr val="tx1"/>
                </a:solidFill>
                <a:effectLst/>
                <a:latin typeface="+mn-lt"/>
                <a:ea typeface="+mn-ea"/>
                <a:cs typeface="+mn-cs"/>
              </a:rPr>
              <a:t>的二进制是个不错的选择。基本上很多</a:t>
            </a:r>
            <a:r>
              <a:rPr lang="en-US" altLang="zh-CN" sz="1200" b="0" i="0" kern="1200" dirty="0">
                <a:solidFill>
                  <a:schemeClr val="tx1"/>
                </a:solidFill>
                <a:effectLst/>
                <a:latin typeface="+mn-lt"/>
                <a:ea typeface="+mn-ea"/>
                <a:cs typeface="+mn-cs"/>
              </a:rPr>
              <a:t>CTF</a:t>
            </a:r>
            <a:r>
              <a:rPr lang="zh-CN" altLang="en-US" sz="1200" b="0" i="0" kern="1200" dirty="0">
                <a:solidFill>
                  <a:schemeClr val="tx1"/>
                </a:solidFill>
                <a:effectLst/>
                <a:latin typeface="+mn-lt"/>
                <a:ea typeface="+mn-ea"/>
                <a:cs typeface="+mn-cs"/>
              </a:rPr>
              <a:t>比赛都是公司赞助的，公司赞助其中有一点就是为了发现人才，收揽人才。</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90F3238-B197-4DD0-8393-B222E6E85519}"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对于安全人员来说，接触</a:t>
            </a:r>
            <a:r>
              <a:rPr lang="en-US" altLang="zh-CN" dirty="0" err="1"/>
              <a:t>ctf</a:t>
            </a:r>
            <a:r>
              <a:rPr lang="zh-CN" altLang="en-US" dirty="0"/>
              <a:t>的二进制，比较现实的就是</a:t>
            </a:r>
            <a:r>
              <a:rPr lang="zh-CN" altLang="en-US" sz="1200" b="0" i="0" kern="1200" dirty="0">
                <a:solidFill>
                  <a:schemeClr val="tx1"/>
                </a:solidFill>
                <a:effectLst/>
                <a:latin typeface="+mn-lt"/>
                <a:ea typeface="+mn-ea"/>
                <a:cs typeface="+mn-cs"/>
              </a:rPr>
              <a:t>锻炼自己的业务能力和实战能力。如果你以后想从事破解软件，实现软件保护技术，破解软件保护技术，实现底层的加密算法，完成恶意代码的分析等业务，</a:t>
            </a:r>
            <a:r>
              <a:rPr lang="en-US" altLang="zh-CN" sz="1200" b="0" i="0" kern="1200" dirty="0" err="1">
                <a:solidFill>
                  <a:schemeClr val="tx1"/>
                </a:solidFill>
                <a:effectLst/>
                <a:latin typeface="+mn-lt"/>
                <a:ea typeface="+mn-ea"/>
                <a:cs typeface="+mn-cs"/>
              </a:rPr>
              <a:t>ctf</a:t>
            </a:r>
            <a:r>
              <a:rPr lang="zh-CN" altLang="en-US" sz="1200" b="0" i="0" kern="1200" dirty="0">
                <a:solidFill>
                  <a:schemeClr val="tx1"/>
                </a:solidFill>
                <a:effectLst/>
                <a:latin typeface="+mn-lt"/>
                <a:ea typeface="+mn-ea"/>
                <a:cs typeface="+mn-cs"/>
              </a:rPr>
              <a:t>的二进制是个不错的选择。基本上很多</a:t>
            </a:r>
            <a:r>
              <a:rPr lang="en-US" altLang="zh-CN" sz="1200" b="0" i="0" kern="1200" dirty="0">
                <a:solidFill>
                  <a:schemeClr val="tx1"/>
                </a:solidFill>
                <a:effectLst/>
                <a:latin typeface="+mn-lt"/>
                <a:ea typeface="+mn-ea"/>
                <a:cs typeface="+mn-cs"/>
              </a:rPr>
              <a:t>CTF</a:t>
            </a:r>
            <a:r>
              <a:rPr lang="zh-CN" altLang="en-US" sz="1200" b="0" i="0" kern="1200" dirty="0">
                <a:solidFill>
                  <a:schemeClr val="tx1"/>
                </a:solidFill>
                <a:effectLst/>
                <a:latin typeface="+mn-lt"/>
                <a:ea typeface="+mn-ea"/>
                <a:cs typeface="+mn-cs"/>
              </a:rPr>
              <a:t>比赛都是公司赞助的，公司赞助其中有一点就是为了发现人才，收揽人才。</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90F3238-B197-4DD0-8393-B222E6E85519}"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90F3238-B197-4DD0-8393-B222E6E8551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882" y="2308881"/>
            <a:ext cx="10852237" cy="899167"/>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925" y="3565525"/>
            <a:ext cx="10852150" cy="801370"/>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40105" y="727710"/>
            <a:ext cx="3931920" cy="1115060"/>
          </a:xfrm>
        </p:spPr>
        <p:txBody>
          <a:bodyPr anchor="ctr" anchorCtr="0"/>
          <a:lstStyle>
            <a:lvl1pPr>
              <a:defRPr sz="32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5138420" y="727710"/>
            <a:ext cx="6172200" cy="5403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840105" y="2239645"/>
            <a:ext cx="3931920" cy="3891915"/>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p:nvPr>
        </p:nvSpPr>
        <p:spPr>
          <a:xfrm>
            <a:off x="669925" y="5605145"/>
            <a:ext cx="10852150" cy="558165"/>
          </a:xfrm>
        </p:spPr>
        <p:txBody>
          <a:bodyPr/>
          <a:lstStyle>
            <a:lvl1pPr>
              <a:defRPr/>
            </a:lvl1pPr>
          </a:lstStyle>
          <a:p>
            <a:r>
              <a:rPr>
                <a:sym typeface="+mn-ea"/>
              </a:rPr>
              <a:t>单击此处编辑母版标题样式</a:t>
            </a:r>
            <a:endParaRPr lang="zh-CN" altLang="en-US"/>
          </a:p>
        </p:txBody>
      </p:sp>
      <p:sp>
        <p:nvSpPr>
          <p:cNvPr id="8" name="内容占位符 7"/>
          <p:cNvSpPr>
            <a:spLocks noGrp="1"/>
          </p:cNvSpPr>
          <p:nvPr>
            <p:ph idx="1"/>
          </p:nvPr>
        </p:nvSpPr>
        <p:spPr>
          <a:xfrm>
            <a:off x="669925" y="641350"/>
            <a:ext cx="10852150" cy="4556125"/>
          </a:xfrm>
        </p:spPr>
        <p:txBody>
          <a:bodyPr vert="horz" lIns="101600" tIns="0" rIns="82550" bIns="0" rtlCol="0">
            <a:noAutofit/>
          </a:bodyPr>
          <a:lstStyle>
            <a:lvl1pPr defTabSz="914400">
              <a:defRPr lang="zh-CN" altLang="en-US" dirty="0">
                <a:solidFill>
                  <a:schemeClr val="tx1">
                    <a:lumMod val="75000"/>
                    <a:lumOff val="25000"/>
                  </a:schemeClr>
                </a:solidFill>
                <a:sym typeface="+mn-ea"/>
              </a:defRPr>
            </a:lvl1pPr>
            <a:lvl2pPr marL="457200" lvl="1" indent="0" defTabSz="914400">
              <a:buNone/>
              <a:tabLst>
                <a:tab pos="1609725" algn="l"/>
              </a:tabLst>
              <a:defRPr lang="zh-CN" altLang="en-US" dirty="0">
                <a:solidFill>
                  <a:schemeClr val="tx1">
                    <a:lumMod val="75000"/>
                    <a:lumOff val="25000"/>
                  </a:schemeClr>
                </a:solidFill>
                <a:sym typeface="+mn-ea"/>
              </a:defRPr>
            </a:lvl2pPr>
            <a:lvl3pPr lvl="2" defTabSz="914400">
              <a:defRPr lang="zh-CN" altLang="en-US" dirty="0">
                <a:solidFill>
                  <a:schemeClr val="tx1">
                    <a:lumMod val="75000"/>
                    <a:lumOff val="25000"/>
                  </a:schemeClr>
                </a:solidFill>
                <a:sym typeface="+mn-ea"/>
              </a:defRPr>
            </a:lvl3pPr>
            <a:lvl4pPr lvl="3" defTabSz="914400">
              <a:defRPr lang="zh-CN" altLang="en-US" dirty="0">
                <a:solidFill>
                  <a:schemeClr val="tx1">
                    <a:lumMod val="75000"/>
                    <a:lumOff val="25000"/>
                  </a:schemeClr>
                </a:solidFill>
                <a:sym typeface="+mn-ea"/>
              </a:defRPr>
            </a:lvl4pPr>
            <a:lvl5pPr lvl="4" defTabSz="914400">
              <a:defRPr lang="zh-CN" altLang="en-US" dirty="0">
                <a:solidFill>
                  <a:schemeClr val="tx1">
                    <a:lumMod val="75000"/>
                    <a:lumOff val="25000"/>
                  </a:schemeClr>
                </a:solidFill>
                <a:sym typeface="+mn-ea"/>
              </a:defRPr>
            </a:lvl5pPr>
          </a:lstStyle>
          <a:p>
            <a:pPr lvl="0"/>
            <a:r>
              <a:rPr>
                <a:sym typeface="+mn-ea"/>
              </a:rPr>
              <a:t>单击此处编辑母版文本样式</a:t>
            </a:r>
            <a:endParaRPr dirty="0">
              <a:sym typeface="+mn-ea"/>
            </a:endParaRPr>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6445" cy="68681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95"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7770"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882" y="623591"/>
            <a:ext cx="10852237" cy="899167"/>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alphaModFix amt="50000"/>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886" y="1"/>
            <a:ext cx="12192000" cy="6858000"/>
          </a:xfrm>
          <a:prstGeom prst="rect">
            <a:avLst/>
          </a:prstGeom>
        </p:spPr>
      </p:pic>
      <p:sp>
        <p:nvSpPr>
          <p:cNvPr id="9801" name="副标题 2"/>
          <p:cNvSpPr>
            <a:spLocks noGrp="1"/>
          </p:cNvSpPr>
          <p:nvPr>
            <p:ph type="subTitle" idx="1"/>
          </p:nvPr>
        </p:nvSpPr>
        <p:spPr>
          <a:xfrm>
            <a:off x="673100" y="3870251"/>
            <a:ext cx="10845800" cy="468637"/>
          </a:xfrm>
        </p:spPr>
        <p:txBody>
          <a:bodyPr anchor="ctr" anchorCtr="1">
            <a:normAutofit/>
          </a:bodyPr>
          <a:lstStyle>
            <a:lvl1pPr marL="0" indent="0" algn="ctr">
              <a:buNone/>
              <a:defRPr sz="2400">
                <a:solidFill>
                  <a:srgbClr val="38447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9802" name="标题 1"/>
          <p:cNvSpPr>
            <a:spLocks noGrp="1"/>
          </p:cNvSpPr>
          <p:nvPr>
            <p:ph type="ctrTitle"/>
          </p:nvPr>
        </p:nvSpPr>
        <p:spPr>
          <a:xfrm>
            <a:off x="673099" y="2920209"/>
            <a:ext cx="10845800" cy="894050"/>
          </a:xfrm>
        </p:spPr>
        <p:txBody>
          <a:bodyPr anchor="ctr" anchorCtr="1">
            <a:normAutofit/>
          </a:bodyPr>
          <a:lstStyle>
            <a:lvl1pPr algn="ctr">
              <a:defRPr sz="4000">
                <a:solidFill>
                  <a:schemeClr val="tx1"/>
                </a:solidFill>
              </a:defRPr>
            </a:lvl1pPr>
          </a:lstStyle>
          <a:p>
            <a:endParaRPr lang="zh-CN" altLang="en-US" dirty="0"/>
          </a:p>
        </p:txBody>
      </p:sp>
      <p:sp>
        <p:nvSpPr>
          <p:cNvPr id="12" name="文本占位符 13"/>
          <p:cNvSpPr>
            <a:spLocks noGrp="1"/>
          </p:cNvSpPr>
          <p:nvPr>
            <p:ph type="body" sz="quarter" idx="10" hasCustomPrompt="1"/>
          </p:nvPr>
        </p:nvSpPr>
        <p:spPr>
          <a:xfrm>
            <a:off x="673099" y="4394880"/>
            <a:ext cx="10845800" cy="371475"/>
          </a:xfrm>
        </p:spPr>
        <p:txBody>
          <a:bodyPr anchor="ctr">
            <a:normAutofit/>
          </a:bodyPr>
          <a:lstStyle>
            <a:lvl1pPr marL="0" indent="0" algn="ctr">
              <a:buNone/>
              <a:defRPr sz="1200" b="0">
                <a:solidFill>
                  <a:schemeClr val="tx1">
                    <a:lumMod val="65000"/>
                    <a:lumOff val="3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署名</a:t>
            </a:r>
            <a:endParaRPr lang="zh-CN" altLang="en-US" dirty="0"/>
          </a:p>
        </p:txBody>
      </p:sp>
      <p:sp>
        <p:nvSpPr>
          <p:cNvPr id="13" name="文本占位符 13"/>
          <p:cNvSpPr>
            <a:spLocks noGrp="1"/>
          </p:cNvSpPr>
          <p:nvPr>
            <p:ph type="body" sz="quarter" idx="11" hasCustomPrompt="1"/>
          </p:nvPr>
        </p:nvSpPr>
        <p:spPr>
          <a:xfrm>
            <a:off x="673099" y="4766355"/>
            <a:ext cx="10845800" cy="371475"/>
          </a:xfrm>
        </p:spPr>
        <p:txBody>
          <a:bodyPr anchor="ctr">
            <a:normAutofit/>
          </a:bodyPr>
          <a:lstStyle>
            <a:lvl1pPr marL="0" indent="0" algn="ctr">
              <a:buNone/>
              <a:defRPr sz="1200" b="0">
                <a:solidFill>
                  <a:schemeClr val="tx1">
                    <a:lumMod val="65000"/>
                    <a:lumOff val="3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日期</a:t>
            </a:r>
            <a:endParaRPr lang="zh-CN" altLang="en-US" dirty="0"/>
          </a:p>
        </p:txBody>
      </p:sp>
      <p:sp>
        <p:nvSpPr>
          <p:cNvPr id="8" name="Rectangle 7"/>
          <p:cNvSpPr/>
          <p:nvPr userDrawn="1"/>
        </p:nvSpPr>
        <p:spPr>
          <a:xfrm>
            <a:off x="0" y="0"/>
            <a:ext cx="381000" cy="3429000"/>
          </a:xfrm>
          <a:prstGeom prst="rect">
            <a:avLst/>
          </a:prstGeom>
          <a:solidFill>
            <a:srgbClr val="C4251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9" name="Rectangle 8"/>
          <p:cNvSpPr/>
          <p:nvPr userDrawn="1"/>
        </p:nvSpPr>
        <p:spPr>
          <a:xfrm>
            <a:off x="0" y="0"/>
            <a:ext cx="381000" cy="381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nvGrpSpPr>
          <p:cNvPr id="2" name="Group 1"/>
          <p:cNvGrpSpPr/>
          <p:nvPr userDrawn="1"/>
        </p:nvGrpSpPr>
        <p:grpSpPr>
          <a:xfrm>
            <a:off x="8763001" y="6477000"/>
            <a:ext cx="3429000" cy="381000"/>
            <a:chOff x="8763001" y="6477000"/>
            <a:chExt cx="3429000" cy="381000"/>
          </a:xfrm>
        </p:grpSpPr>
        <p:sp>
          <p:nvSpPr>
            <p:cNvPr id="10" name="Rectangle 9"/>
            <p:cNvSpPr/>
            <p:nvPr userDrawn="1"/>
          </p:nvSpPr>
          <p:spPr>
            <a:xfrm rot="5400000">
              <a:off x="10287001" y="4953000"/>
              <a:ext cx="381000" cy="3429000"/>
            </a:xfrm>
            <a:prstGeom prst="rect">
              <a:avLst/>
            </a:prstGeom>
            <a:solidFill>
              <a:srgbClr val="C4251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14" name="Rectangle 13"/>
            <p:cNvSpPr/>
            <p:nvPr userDrawn="1"/>
          </p:nvSpPr>
          <p:spPr>
            <a:xfrm rot="5400000">
              <a:off x="11811001" y="6477000"/>
              <a:ext cx="381000" cy="381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pic>
        <p:nvPicPr>
          <p:cNvPr id="1028" name="Picture 4" descr="http://zsjy.gzhu.edu.cn/images/pic_logo.png"/>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t="-1" r="45034" b="-7143"/>
          <a:stretch>
            <a:fillRect/>
          </a:stretch>
        </p:blipFill>
        <p:spPr bwMode="auto">
          <a:xfrm>
            <a:off x="391886" y="-1"/>
            <a:ext cx="3463289" cy="1028700"/>
          </a:xfrm>
          <a:prstGeom prst="rect">
            <a:avLst/>
          </a:prstGeom>
          <a:noFill/>
          <a:extLst>
            <a:ext uri="{909E8E84-426E-40DD-AFC4-6F175D3DCCD1}">
              <a14:hiddenFill xmlns:a14="http://schemas.microsoft.com/office/drawing/2010/main">
                <a:solidFill>
                  <a:srgbClr val="FFFFFF"/>
                </a:solidFill>
              </a14:hiddenFill>
            </a:ext>
          </a:extLst>
        </p:spPr>
      </p:pic>
      <p:pic>
        <p:nvPicPr>
          <p:cNvPr id="22" name="图片 2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993086" y="-39914"/>
            <a:ext cx="1113116" cy="1113116"/>
          </a:xfrm>
          <a:prstGeom prst="rect">
            <a:avLst/>
          </a:prstGeom>
        </p:spPr>
      </p:pic>
      <p:pic>
        <p:nvPicPr>
          <p:cNvPr id="23" name="图片 2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895063" y="-19958"/>
            <a:ext cx="1484186" cy="1068614"/>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Rectangle 6"/>
          <p:cNvSpPr/>
          <p:nvPr userDrawn="1"/>
        </p:nvSpPr>
        <p:spPr>
          <a:xfrm>
            <a:off x="11582401" y="381000"/>
            <a:ext cx="609600" cy="6477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8" name="Rectangle 7"/>
          <p:cNvSpPr/>
          <p:nvPr userDrawn="1"/>
        </p:nvSpPr>
        <p:spPr>
          <a:xfrm>
            <a:off x="11582400" y="0"/>
            <a:ext cx="612648" cy="6126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dirty="0"/>
          </a:p>
        </p:txBody>
      </p:sp>
      <p:sp>
        <p:nvSpPr>
          <p:cNvPr id="10" name="Picture Placeholder 28"/>
          <p:cNvSpPr>
            <a:spLocks noGrp="1"/>
          </p:cNvSpPr>
          <p:nvPr>
            <p:ph type="pic" sz="quarter" idx="10"/>
          </p:nvPr>
        </p:nvSpPr>
        <p:spPr>
          <a:xfrm>
            <a:off x="0" y="0"/>
            <a:ext cx="3352800" cy="6858000"/>
          </a:xfrm>
        </p:spPr>
        <p:txBody>
          <a:bodyPr/>
          <a:lstStyle/>
          <a:p>
            <a:endParaRPr lang="en-MY"/>
          </a:p>
        </p:txBody>
      </p:sp>
      <p:sp>
        <p:nvSpPr>
          <p:cNvPr id="11" name="标题 1"/>
          <p:cNvSpPr>
            <a:spLocks noGrp="1"/>
          </p:cNvSpPr>
          <p:nvPr>
            <p:ph type="ctrTitle"/>
          </p:nvPr>
        </p:nvSpPr>
        <p:spPr>
          <a:xfrm>
            <a:off x="3944679" y="0"/>
            <a:ext cx="7575809" cy="1028700"/>
          </a:xfrm>
        </p:spPr>
        <p:txBody>
          <a:bodyPr lIns="0" anchor="b" anchorCtr="0">
            <a:normAutofit/>
          </a:bodyPr>
          <a:lstStyle>
            <a:lvl1pPr algn="l">
              <a:defRPr sz="4000">
                <a:solidFill>
                  <a:schemeClr val="tx1"/>
                </a:solidFill>
              </a:defRPr>
            </a:lvl1pPr>
          </a:lstStyle>
          <a:p>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alphaModFix amt="80000"/>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21266"/>
            <a:ext cx="12192000" cy="6879266"/>
          </a:xfrm>
          <a:prstGeom prst="rect">
            <a:avLst/>
          </a:prstGeom>
        </p:spPr>
      </p:pic>
      <p:sp>
        <p:nvSpPr>
          <p:cNvPr id="5" name="Rectangle 4"/>
          <p:cNvSpPr/>
          <p:nvPr userDrawn="1"/>
        </p:nvSpPr>
        <p:spPr>
          <a:xfrm>
            <a:off x="11582401" y="381000"/>
            <a:ext cx="609600" cy="6477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6" name="Rectangle 5"/>
          <p:cNvSpPr/>
          <p:nvPr userDrawn="1"/>
        </p:nvSpPr>
        <p:spPr>
          <a:xfrm>
            <a:off x="11582401" y="0"/>
            <a:ext cx="609600" cy="6126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nvGrpSpPr>
          <p:cNvPr id="2" name="组合 1"/>
          <p:cNvGrpSpPr/>
          <p:nvPr userDrawn="1"/>
        </p:nvGrpSpPr>
        <p:grpSpPr>
          <a:xfrm>
            <a:off x="4541217" y="1516136"/>
            <a:ext cx="3109566" cy="911046"/>
            <a:chOff x="4541217" y="1516136"/>
            <a:chExt cx="3109566" cy="911046"/>
          </a:xfrm>
        </p:grpSpPr>
        <p:sp>
          <p:nvSpPr>
            <p:cNvPr id="8" name="Rectangle 7"/>
            <p:cNvSpPr/>
            <p:nvPr/>
          </p:nvSpPr>
          <p:spPr>
            <a:xfrm>
              <a:off x="4541217" y="1516136"/>
              <a:ext cx="3109566" cy="651569"/>
            </a:xfrm>
            <a:prstGeom prst="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800" b="1" dirty="0">
                <a:solidFill>
                  <a:schemeClr val="accent1"/>
                </a:solidFill>
                <a:latin typeface="+mj-lt"/>
              </a:endParaRPr>
            </a:p>
          </p:txBody>
        </p:sp>
        <p:sp>
          <p:nvSpPr>
            <p:cNvPr id="9" name="Right Triangle 8"/>
            <p:cNvSpPr/>
            <p:nvPr/>
          </p:nvSpPr>
          <p:spPr>
            <a:xfrm rot="18900000">
              <a:off x="5913103" y="2056199"/>
              <a:ext cx="365794" cy="370983"/>
            </a:xfrm>
            <a:prstGeom prst="rtTriangle">
              <a:avLst/>
            </a:prstGeom>
            <a:solidFill>
              <a:schemeClr val="accent2"/>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
        <p:nvSpPr>
          <p:cNvPr id="20" name="标题 1"/>
          <p:cNvSpPr>
            <a:spLocks noGrp="1"/>
          </p:cNvSpPr>
          <p:nvPr userDrawn="1">
            <p:ph type="title" hasCustomPrompt="1"/>
          </p:nvPr>
        </p:nvSpPr>
        <p:spPr>
          <a:xfrm>
            <a:off x="3078333" y="2721935"/>
            <a:ext cx="6039972" cy="1435395"/>
          </a:xfrm>
        </p:spPr>
        <p:txBody>
          <a:bodyPr anchor="ctr" anchorCtr="1">
            <a:normAutofit/>
          </a:bodyPr>
          <a:lstStyle>
            <a:lvl1pPr>
              <a:defRPr sz="2800" b="1">
                <a:solidFill>
                  <a:schemeClr val="tx1"/>
                </a:solidFill>
              </a:defRPr>
            </a:lvl1pPr>
          </a:lstStyle>
          <a:p>
            <a:r>
              <a:rPr lang="zh-CN" altLang="en-US" dirty="0"/>
              <a:t>单击此处添加幻灯片章节标题</a:t>
            </a:r>
            <a:endParaRPr lang="zh-CN" altLang="en-US" dirty="0"/>
          </a:p>
        </p:txBody>
      </p:sp>
      <p:sp>
        <p:nvSpPr>
          <p:cNvPr id="21" name="文本占位符 2"/>
          <p:cNvSpPr>
            <a:spLocks noGrp="1"/>
          </p:cNvSpPr>
          <p:nvPr userDrawn="1">
            <p:ph type="body" idx="1"/>
          </p:nvPr>
        </p:nvSpPr>
        <p:spPr>
          <a:xfrm>
            <a:off x="3078333" y="4327286"/>
            <a:ext cx="6039972" cy="443643"/>
          </a:xfrm>
          <a:solidFill>
            <a:srgbClr val="002060"/>
          </a:solidFill>
          <a:ln>
            <a:solidFill>
              <a:srgbClr val="002060"/>
            </a:solidFill>
          </a:ln>
        </p:spPr>
        <p:txBody>
          <a:bodyPr anchor="ctr" anchorCtr="1">
            <a:normAutofit/>
          </a:bodyPr>
          <a:lstStyle>
            <a:lvl1pPr marL="0" indent="0" algn="ctr">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alphaModFix amt="80000"/>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21266"/>
            <a:ext cx="11649807" cy="6879266"/>
          </a:xfrm>
          <a:prstGeom prst="rect">
            <a:avLst/>
          </a:prstGeom>
        </p:spPr>
      </p:pic>
      <p:sp>
        <p:nvSpPr>
          <p:cNvPr id="5" name="Rectangle 4"/>
          <p:cNvSpPr/>
          <p:nvPr userDrawn="1"/>
        </p:nvSpPr>
        <p:spPr>
          <a:xfrm>
            <a:off x="11582401" y="381000"/>
            <a:ext cx="609600" cy="6477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6" name="Rectangle 5"/>
          <p:cNvSpPr/>
          <p:nvPr userDrawn="1"/>
        </p:nvSpPr>
        <p:spPr>
          <a:xfrm>
            <a:off x="11582401" y="0"/>
            <a:ext cx="609600" cy="6126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nvGrpSpPr>
          <p:cNvPr id="2" name="组合 1"/>
          <p:cNvGrpSpPr/>
          <p:nvPr userDrawn="1"/>
        </p:nvGrpSpPr>
        <p:grpSpPr>
          <a:xfrm>
            <a:off x="4541217" y="1516136"/>
            <a:ext cx="3109566" cy="911046"/>
            <a:chOff x="4541217" y="1516136"/>
            <a:chExt cx="3109566" cy="911046"/>
          </a:xfrm>
        </p:grpSpPr>
        <p:sp>
          <p:nvSpPr>
            <p:cNvPr id="8" name="Rectangle 7"/>
            <p:cNvSpPr/>
            <p:nvPr/>
          </p:nvSpPr>
          <p:spPr>
            <a:xfrm>
              <a:off x="4541217" y="1516136"/>
              <a:ext cx="3109566" cy="651569"/>
            </a:xfrm>
            <a:prstGeom prst="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800" b="1" dirty="0">
                <a:solidFill>
                  <a:schemeClr val="accent1"/>
                </a:solidFill>
                <a:latin typeface="+mj-lt"/>
              </a:endParaRPr>
            </a:p>
          </p:txBody>
        </p:sp>
        <p:sp>
          <p:nvSpPr>
            <p:cNvPr id="9" name="Right Triangle 8"/>
            <p:cNvSpPr/>
            <p:nvPr/>
          </p:nvSpPr>
          <p:spPr>
            <a:xfrm rot="18900000">
              <a:off x="5913103" y="2056199"/>
              <a:ext cx="365794" cy="370983"/>
            </a:xfrm>
            <a:prstGeom prst="rtTriangle">
              <a:avLst/>
            </a:prstGeom>
            <a:solidFill>
              <a:schemeClr val="accent2"/>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
        <p:nvSpPr>
          <p:cNvPr id="20" name="标题 1"/>
          <p:cNvSpPr>
            <a:spLocks noGrp="1"/>
          </p:cNvSpPr>
          <p:nvPr userDrawn="1">
            <p:ph type="title" hasCustomPrompt="1"/>
          </p:nvPr>
        </p:nvSpPr>
        <p:spPr>
          <a:xfrm>
            <a:off x="3078333" y="2721935"/>
            <a:ext cx="6039972" cy="1435395"/>
          </a:xfrm>
        </p:spPr>
        <p:txBody>
          <a:bodyPr anchor="ctr" anchorCtr="1">
            <a:normAutofit/>
          </a:bodyPr>
          <a:lstStyle>
            <a:lvl1pPr>
              <a:defRPr sz="2800" b="1">
                <a:solidFill>
                  <a:schemeClr val="tx1"/>
                </a:solidFill>
              </a:defRPr>
            </a:lvl1pPr>
          </a:lstStyle>
          <a:p>
            <a:r>
              <a:rPr lang="zh-CN" altLang="en-US" dirty="0"/>
              <a:t>单击此处添加幻灯片章节标题</a:t>
            </a:r>
            <a:endParaRPr lang="zh-CN" altLang="en-US" dirty="0"/>
          </a:p>
        </p:txBody>
      </p:sp>
      <p:sp>
        <p:nvSpPr>
          <p:cNvPr id="21" name="文本占位符 2"/>
          <p:cNvSpPr>
            <a:spLocks noGrp="1"/>
          </p:cNvSpPr>
          <p:nvPr userDrawn="1">
            <p:ph type="body" idx="1"/>
          </p:nvPr>
        </p:nvSpPr>
        <p:spPr>
          <a:xfrm>
            <a:off x="3078333" y="4327286"/>
            <a:ext cx="6039972" cy="443643"/>
          </a:xfrm>
          <a:solidFill>
            <a:srgbClr val="002060"/>
          </a:solidFill>
          <a:ln>
            <a:solidFill>
              <a:srgbClr val="002060"/>
            </a:solidFill>
          </a:ln>
        </p:spPr>
        <p:txBody>
          <a:bodyPr anchor="ctr" anchorCtr="1">
            <a:normAutofit/>
          </a:bodyPr>
          <a:lstStyle>
            <a:lvl1pPr marL="0" indent="0" algn="ctr">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alphaModFix amt="80000"/>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1609756" cy="6858000"/>
          </a:xfrm>
          <a:prstGeom prst="rect">
            <a:avLst/>
          </a:prstGeom>
        </p:spPr>
      </p:pic>
      <p:sp>
        <p:nvSpPr>
          <p:cNvPr id="5" name="Rectangle 4"/>
          <p:cNvSpPr/>
          <p:nvPr userDrawn="1"/>
        </p:nvSpPr>
        <p:spPr>
          <a:xfrm>
            <a:off x="11582401" y="381000"/>
            <a:ext cx="609600" cy="6477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6" name="Rectangle 5"/>
          <p:cNvSpPr/>
          <p:nvPr userDrawn="1"/>
        </p:nvSpPr>
        <p:spPr>
          <a:xfrm>
            <a:off x="11582401" y="0"/>
            <a:ext cx="609600" cy="6126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nvGrpSpPr>
          <p:cNvPr id="2" name="组合 1"/>
          <p:cNvGrpSpPr/>
          <p:nvPr userDrawn="1"/>
        </p:nvGrpSpPr>
        <p:grpSpPr>
          <a:xfrm>
            <a:off x="4541217" y="1516136"/>
            <a:ext cx="3109566" cy="911046"/>
            <a:chOff x="4541217" y="1516136"/>
            <a:chExt cx="3109566" cy="911046"/>
          </a:xfrm>
        </p:grpSpPr>
        <p:sp>
          <p:nvSpPr>
            <p:cNvPr id="8" name="Rectangle 7"/>
            <p:cNvSpPr/>
            <p:nvPr/>
          </p:nvSpPr>
          <p:spPr>
            <a:xfrm>
              <a:off x="4541217" y="1516136"/>
              <a:ext cx="3109566" cy="651569"/>
            </a:xfrm>
            <a:prstGeom prst="rect">
              <a:avLst/>
            </a:prstGeom>
            <a:no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800" b="1" dirty="0">
                <a:solidFill>
                  <a:schemeClr val="accent1"/>
                </a:solidFill>
                <a:latin typeface="+mj-lt"/>
              </a:endParaRPr>
            </a:p>
          </p:txBody>
        </p:sp>
        <p:sp>
          <p:nvSpPr>
            <p:cNvPr id="9" name="Right Triangle 8"/>
            <p:cNvSpPr/>
            <p:nvPr/>
          </p:nvSpPr>
          <p:spPr>
            <a:xfrm rot="18900000">
              <a:off x="5913103" y="2056199"/>
              <a:ext cx="365794" cy="370983"/>
            </a:xfrm>
            <a:prstGeom prst="rtTriangle">
              <a:avLst/>
            </a:prstGeom>
            <a:solidFill>
              <a:schemeClr val="accent2"/>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
        <p:nvSpPr>
          <p:cNvPr id="20" name="标题 1"/>
          <p:cNvSpPr>
            <a:spLocks noGrp="1"/>
          </p:cNvSpPr>
          <p:nvPr userDrawn="1">
            <p:ph type="title" hasCustomPrompt="1"/>
          </p:nvPr>
        </p:nvSpPr>
        <p:spPr>
          <a:xfrm>
            <a:off x="3078333" y="2721935"/>
            <a:ext cx="6039972" cy="1435395"/>
          </a:xfrm>
        </p:spPr>
        <p:txBody>
          <a:bodyPr anchor="ctr" anchorCtr="1">
            <a:normAutofit/>
          </a:bodyPr>
          <a:lstStyle>
            <a:lvl1pPr>
              <a:defRPr sz="2800" b="1">
                <a:solidFill>
                  <a:schemeClr val="tx1"/>
                </a:solidFill>
              </a:defRPr>
            </a:lvl1pPr>
          </a:lstStyle>
          <a:p>
            <a:r>
              <a:rPr lang="zh-CN" altLang="en-US" dirty="0"/>
              <a:t>单击此处添加幻灯片章节标题</a:t>
            </a:r>
            <a:endParaRPr lang="zh-CN" altLang="en-US" dirty="0"/>
          </a:p>
        </p:txBody>
      </p:sp>
      <p:sp>
        <p:nvSpPr>
          <p:cNvPr id="21" name="文本占位符 2"/>
          <p:cNvSpPr>
            <a:spLocks noGrp="1"/>
          </p:cNvSpPr>
          <p:nvPr userDrawn="1">
            <p:ph type="body" idx="1"/>
          </p:nvPr>
        </p:nvSpPr>
        <p:spPr>
          <a:xfrm>
            <a:off x="3078333" y="4327286"/>
            <a:ext cx="6039972" cy="443643"/>
          </a:xfrm>
          <a:solidFill>
            <a:srgbClr val="002060"/>
          </a:solidFill>
        </p:spPr>
        <p:txBody>
          <a:bodyPr anchor="ctr" anchorCtr="1">
            <a:normAutofit/>
          </a:bodyPr>
          <a:lstStyle>
            <a:lvl1pPr marL="0" indent="0" algn="ctr">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alphaModFix amt="80000"/>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0" y="0"/>
            <a:ext cx="11582401" cy="6858000"/>
          </a:xfrm>
          <a:prstGeom prst="rect">
            <a:avLst/>
          </a:prstGeom>
        </p:spPr>
      </p:pic>
      <p:sp>
        <p:nvSpPr>
          <p:cNvPr id="5" name="Rectangle 4"/>
          <p:cNvSpPr/>
          <p:nvPr userDrawn="1"/>
        </p:nvSpPr>
        <p:spPr>
          <a:xfrm>
            <a:off x="11582401" y="381000"/>
            <a:ext cx="609600" cy="6477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6" name="Rectangle 5"/>
          <p:cNvSpPr/>
          <p:nvPr userDrawn="1"/>
        </p:nvSpPr>
        <p:spPr>
          <a:xfrm>
            <a:off x="11582401" y="0"/>
            <a:ext cx="609600" cy="6126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nvGrpSpPr>
          <p:cNvPr id="2" name="组合 1"/>
          <p:cNvGrpSpPr/>
          <p:nvPr userDrawn="1"/>
        </p:nvGrpSpPr>
        <p:grpSpPr>
          <a:xfrm>
            <a:off x="4541217" y="1516136"/>
            <a:ext cx="3109566" cy="911046"/>
            <a:chOff x="4541217" y="1516136"/>
            <a:chExt cx="3109566" cy="911046"/>
          </a:xfrm>
          <a:noFill/>
        </p:grpSpPr>
        <p:sp>
          <p:nvSpPr>
            <p:cNvPr id="8" name="Rectangle 7"/>
            <p:cNvSpPr/>
            <p:nvPr/>
          </p:nvSpPr>
          <p:spPr>
            <a:xfrm>
              <a:off x="4541217" y="1516136"/>
              <a:ext cx="3109566" cy="651569"/>
            </a:xfrm>
            <a:prstGeom prst="rect">
              <a:avLst/>
            </a:prstGeom>
            <a:grp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800" b="1" dirty="0">
                <a:solidFill>
                  <a:schemeClr val="accent1"/>
                </a:solidFill>
                <a:latin typeface="+mj-lt"/>
              </a:endParaRPr>
            </a:p>
          </p:txBody>
        </p:sp>
        <p:sp>
          <p:nvSpPr>
            <p:cNvPr id="9" name="Right Triangle 8"/>
            <p:cNvSpPr/>
            <p:nvPr/>
          </p:nvSpPr>
          <p:spPr>
            <a:xfrm rot="18900000">
              <a:off x="5913103" y="2056199"/>
              <a:ext cx="365794" cy="370983"/>
            </a:xfrm>
            <a:prstGeom prst="rtTriangle">
              <a:avLst/>
            </a:prstGeom>
            <a:grp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grpSp>
      <p:sp>
        <p:nvSpPr>
          <p:cNvPr id="20" name="标题 1"/>
          <p:cNvSpPr>
            <a:spLocks noGrp="1"/>
          </p:cNvSpPr>
          <p:nvPr userDrawn="1">
            <p:ph type="title" hasCustomPrompt="1"/>
          </p:nvPr>
        </p:nvSpPr>
        <p:spPr>
          <a:xfrm>
            <a:off x="3078333" y="2721935"/>
            <a:ext cx="6039972" cy="1435395"/>
          </a:xfrm>
        </p:spPr>
        <p:txBody>
          <a:bodyPr anchor="ctr" anchorCtr="1">
            <a:normAutofit/>
          </a:bodyPr>
          <a:lstStyle>
            <a:lvl1pPr>
              <a:defRPr sz="2800" b="1">
                <a:solidFill>
                  <a:schemeClr val="tx1"/>
                </a:solidFill>
              </a:defRPr>
            </a:lvl1pPr>
          </a:lstStyle>
          <a:p>
            <a:r>
              <a:rPr lang="zh-CN" altLang="en-US" dirty="0"/>
              <a:t>单击此处添加幻灯片章节标题</a:t>
            </a:r>
            <a:endParaRPr lang="zh-CN" altLang="en-US" dirty="0"/>
          </a:p>
        </p:txBody>
      </p:sp>
      <p:sp>
        <p:nvSpPr>
          <p:cNvPr id="21" name="文本占位符 2"/>
          <p:cNvSpPr>
            <a:spLocks noGrp="1"/>
          </p:cNvSpPr>
          <p:nvPr userDrawn="1">
            <p:ph type="body" idx="1"/>
          </p:nvPr>
        </p:nvSpPr>
        <p:spPr>
          <a:xfrm>
            <a:off x="3078333" y="4327286"/>
            <a:ext cx="6039972" cy="443643"/>
          </a:xfrm>
          <a:solidFill>
            <a:srgbClr val="002060"/>
          </a:solidFill>
        </p:spPr>
        <p:txBody>
          <a:bodyPr anchor="ctr" anchorCtr="1">
            <a:normAutofit/>
          </a:bodyPr>
          <a:lstStyle>
            <a:lvl1pPr marL="0" indent="0" algn="ctr">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grpSp>
        <p:nvGrpSpPr>
          <p:cNvPr id="9" name="Group 8"/>
          <p:cNvGrpSpPr/>
          <p:nvPr userDrawn="1"/>
        </p:nvGrpSpPr>
        <p:grpSpPr>
          <a:xfrm>
            <a:off x="0" y="6248400"/>
            <a:ext cx="12192000" cy="609600"/>
            <a:chOff x="0" y="6248400"/>
            <a:chExt cx="12192000" cy="609600"/>
          </a:xfrm>
          <a:solidFill>
            <a:srgbClr val="002060"/>
          </a:solidFill>
        </p:grpSpPr>
        <p:sp>
          <p:nvSpPr>
            <p:cNvPr id="10" name="Rectangle 9"/>
            <p:cNvSpPr/>
            <p:nvPr/>
          </p:nvSpPr>
          <p:spPr>
            <a:xfrm>
              <a:off x="0" y="6248400"/>
              <a:ext cx="12192000" cy="609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dirty="0"/>
            </a:p>
          </p:txBody>
        </p:sp>
        <p:sp>
          <p:nvSpPr>
            <p:cNvPr id="13" name="Rectangle 12"/>
            <p:cNvSpPr/>
            <p:nvPr userDrawn="1"/>
          </p:nvSpPr>
          <p:spPr>
            <a:xfrm>
              <a:off x="0" y="6248400"/>
              <a:ext cx="152400" cy="609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sp>
        <p:nvSpPr>
          <p:cNvPr id="2" name="标题 1"/>
          <p:cNvSpPr>
            <a:spLocks noGrp="1"/>
          </p:cNvSpPr>
          <p:nvPr>
            <p:ph type="title"/>
          </p:nvPr>
        </p:nvSpPr>
        <p:spPr>
          <a:xfrm>
            <a:off x="669924" y="0"/>
            <a:ext cx="10850563" cy="1028700"/>
          </a:xfrm>
        </p:spPr>
        <p:txBody>
          <a:bodyPr anchor="b" anchorCtr="0">
            <a:normAutofit/>
          </a:bodyPr>
          <a:lstStyle>
            <a:lvl1pPr>
              <a:defRPr sz="4000">
                <a:solidFill>
                  <a:srgbClr val="394479"/>
                </a:solidFill>
              </a:defRPr>
            </a:lvl1pPr>
          </a:lstStyle>
          <a:p>
            <a:r>
              <a:rPr lang="zh-CN" altLang="en-US" dirty="0"/>
              <a:t>单击此处编辑母版标题样式</a:t>
            </a:r>
            <a:endParaRPr lang="zh-CN" altLang="en-US" dirty="0"/>
          </a:p>
        </p:txBody>
      </p:sp>
      <p:sp>
        <p:nvSpPr>
          <p:cNvPr id="6" name="日期占位符 5"/>
          <p:cNvSpPr>
            <a:spLocks noGrp="1"/>
          </p:cNvSpPr>
          <p:nvPr>
            <p:ph type="dt" sz="half" idx="10"/>
          </p:nvPr>
        </p:nvSpPr>
        <p:spPr/>
        <p:txBody>
          <a:bodyPr/>
          <a:lstStyle/>
          <a:p>
            <a:endParaRPr lang="zh-CN" altLang="en-US"/>
          </a:p>
        </p:txBody>
      </p:sp>
      <p:sp>
        <p:nvSpPr>
          <p:cNvPr id="8" name="灯片编号占位符 7"/>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14" name="Group 13"/>
          <p:cNvGrpSpPr/>
          <p:nvPr userDrawn="1"/>
        </p:nvGrpSpPr>
        <p:grpSpPr>
          <a:xfrm>
            <a:off x="669925" y="1028700"/>
            <a:ext cx="10850563" cy="45719"/>
            <a:chOff x="0" y="990600"/>
            <a:chExt cx="12192001" cy="45719"/>
          </a:xfrm>
          <a:solidFill>
            <a:srgbClr val="C4251F"/>
          </a:solidFill>
        </p:grpSpPr>
        <p:sp>
          <p:nvSpPr>
            <p:cNvPr id="15" name="Rectangle 14"/>
            <p:cNvSpPr/>
            <p:nvPr/>
          </p:nvSpPr>
          <p:spPr>
            <a:xfrm>
              <a:off x="0" y="990600"/>
              <a:ext cx="11811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16" name="Rectangle 15"/>
            <p:cNvSpPr/>
            <p:nvPr/>
          </p:nvSpPr>
          <p:spPr>
            <a:xfrm>
              <a:off x="11623040" y="990600"/>
              <a:ext cx="568961"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4482" y="6206331"/>
            <a:ext cx="963524" cy="693737"/>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99426" y="6235700"/>
            <a:ext cx="622300" cy="622300"/>
          </a:xfrm>
          <a:prstGeom prst="rect">
            <a:avLst/>
          </a:prstGeom>
        </p:spPr>
      </p:pic>
      <p:pic>
        <p:nvPicPr>
          <p:cNvPr id="18" name="图片 1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02572" y="6176962"/>
            <a:ext cx="2438400" cy="752475"/>
          </a:xfrm>
          <a:prstGeom prst="rect">
            <a:avLst/>
          </a:prstGeom>
        </p:spPr>
      </p:pic>
      <p:sp>
        <p:nvSpPr>
          <p:cNvPr id="17" name="内容占位符 2"/>
          <p:cNvSpPr>
            <a:spLocks noGrp="1"/>
          </p:cNvSpPr>
          <p:nvPr>
            <p:ph idx="1"/>
          </p:nvPr>
        </p:nvSpPr>
        <p:spPr>
          <a:xfrm>
            <a:off x="669924" y="1123950"/>
            <a:ext cx="10850563" cy="5019675"/>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grpSp>
        <p:nvGrpSpPr>
          <p:cNvPr id="9" name="Group 8"/>
          <p:cNvGrpSpPr/>
          <p:nvPr userDrawn="1"/>
        </p:nvGrpSpPr>
        <p:grpSpPr>
          <a:xfrm>
            <a:off x="0" y="6248400"/>
            <a:ext cx="12192000" cy="609600"/>
            <a:chOff x="0" y="6248400"/>
            <a:chExt cx="12192000" cy="609600"/>
          </a:xfrm>
          <a:solidFill>
            <a:srgbClr val="002060"/>
          </a:solidFill>
        </p:grpSpPr>
        <p:sp>
          <p:nvSpPr>
            <p:cNvPr id="10" name="Rectangle 9"/>
            <p:cNvSpPr/>
            <p:nvPr/>
          </p:nvSpPr>
          <p:spPr>
            <a:xfrm>
              <a:off x="0" y="6248400"/>
              <a:ext cx="12192000" cy="609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dirty="0"/>
            </a:p>
          </p:txBody>
        </p:sp>
        <p:sp>
          <p:nvSpPr>
            <p:cNvPr id="13" name="Rectangle 12"/>
            <p:cNvSpPr/>
            <p:nvPr userDrawn="1"/>
          </p:nvSpPr>
          <p:spPr>
            <a:xfrm>
              <a:off x="0" y="6248400"/>
              <a:ext cx="152400" cy="609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sp>
        <p:nvSpPr>
          <p:cNvPr id="2" name="标题 1"/>
          <p:cNvSpPr>
            <a:spLocks noGrp="1"/>
          </p:cNvSpPr>
          <p:nvPr>
            <p:ph type="title"/>
          </p:nvPr>
        </p:nvSpPr>
        <p:spPr>
          <a:xfrm>
            <a:off x="669924" y="0"/>
            <a:ext cx="10850563" cy="1028700"/>
          </a:xfrm>
        </p:spPr>
        <p:txBody>
          <a:bodyPr anchor="b" anchorCtr="0">
            <a:normAutofit/>
          </a:bodyPr>
          <a:lstStyle>
            <a:lvl1pPr>
              <a:defRPr sz="4000">
                <a:solidFill>
                  <a:srgbClr val="394479"/>
                </a:solidFill>
              </a:defRPr>
            </a:lvl1pPr>
          </a:lstStyle>
          <a:p>
            <a:r>
              <a:rPr lang="zh-CN" altLang="en-US" dirty="0"/>
              <a:t>单击此处编辑母版标题样式</a:t>
            </a:r>
            <a:endParaRPr lang="zh-CN" altLang="en-US" dirty="0"/>
          </a:p>
        </p:txBody>
      </p:sp>
      <p:sp>
        <p:nvSpPr>
          <p:cNvPr id="6" name="日期占位符 5"/>
          <p:cNvSpPr>
            <a:spLocks noGrp="1"/>
          </p:cNvSpPr>
          <p:nvPr>
            <p:ph type="dt" sz="half" idx="10"/>
          </p:nvPr>
        </p:nvSpPr>
        <p:spPr/>
        <p:txBody>
          <a:bodyPr/>
          <a:lstStyle/>
          <a:p>
            <a:endParaRPr lang="zh-CN" altLang="en-US"/>
          </a:p>
        </p:txBody>
      </p:sp>
      <p:sp>
        <p:nvSpPr>
          <p:cNvPr id="8" name="灯片编号占位符 7"/>
          <p:cNvSpPr>
            <a:spLocks noGrp="1"/>
          </p:cNvSpPr>
          <p:nvPr>
            <p:ph type="sldNum" sz="quarter" idx="12"/>
          </p:nvPr>
        </p:nvSpPr>
        <p:spPr/>
        <p:txBody>
          <a:bodyPr/>
          <a:lstStyle/>
          <a:p>
            <a:fld id="{5DD3DB80-B894-403A-B48E-6FDC1A72010E}" type="slidenum">
              <a:rPr lang="zh-CN" altLang="en-US" smtClean="0"/>
            </a:fld>
            <a:endParaRPr lang="zh-CN" altLang="en-US"/>
          </a:p>
        </p:txBody>
      </p:sp>
      <p:grpSp>
        <p:nvGrpSpPr>
          <p:cNvPr id="14" name="Group 13"/>
          <p:cNvGrpSpPr/>
          <p:nvPr userDrawn="1"/>
        </p:nvGrpSpPr>
        <p:grpSpPr>
          <a:xfrm>
            <a:off x="669925" y="1028700"/>
            <a:ext cx="10850563" cy="45719"/>
            <a:chOff x="0" y="990600"/>
            <a:chExt cx="12192001" cy="45719"/>
          </a:xfrm>
          <a:solidFill>
            <a:srgbClr val="C4251F"/>
          </a:solidFill>
        </p:grpSpPr>
        <p:sp>
          <p:nvSpPr>
            <p:cNvPr id="15" name="Rectangle 14"/>
            <p:cNvSpPr/>
            <p:nvPr/>
          </p:nvSpPr>
          <p:spPr>
            <a:xfrm>
              <a:off x="0" y="990600"/>
              <a:ext cx="11811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16" name="Rectangle 15"/>
            <p:cNvSpPr/>
            <p:nvPr/>
          </p:nvSpPr>
          <p:spPr>
            <a:xfrm>
              <a:off x="11623040" y="990600"/>
              <a:ext cx="568961"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4482" y="6206331"/>
            <a:ext cx="963524" cy="693737"/>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99426" y="6235700"/>
            <a:ext cx="622300" cy="622300"/>
          </a:xfrm>
          <a:prstGeom prst="rect">
            <a:avLst/>
          </a:prstGeom>
        </p:spPr>
      </p:pic>
      <p:pic>
        <p:nvPicPr>
          <p:cNvPr id="18" name="图片 1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02572" y="6176962"/>
            <a:ext cx="2438400" cy="752475"/>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alphaModFix amt="10000"/>
            <a:extLst>
              <a:ext uri="{28A0092B-C50C-407E-A947-70E740481C1C}">
                <a14:useLocalDpi xmlns:a14="http://schemas.microsoft.com/office/drawing/2010/main" val="0"/>
              </a:ext>
            </a:extLst>
          </a:blip>
          <a:stretch>
            <a:fillRect/>
          </a:stretch>
        </p:blipFill>
        <p:spPr>
          <a:xfrm>
            <a:off x="-1" y="-1"/>
            <a:ext cx="12192000" cy="6858001"/>
          </a:xfrm>
          <a:prstGeom prst="rect">
            <a:avLst/>
          </a:prstGeom>
        </p:spPr>
      </p:pic>
      <p:sp>
        <p:nvSpPr>
          <p:cNvPr id="13" name="标题 1"/>
          <p:cNvSpPr>
            <a:spLocks noGrp="1"/>
          </p:cNvSpPr>
          <p:nvPr>
            <p:ph type="ctrTitle" hasCustomPrompt="1"/>
          </p:nvPr>
        </p:nvSpPr>
        <p:spPr>
          <a:xfrm>
            <a:off x="669924" y="3456451"/>
            <a:ext cx="10850563" cy="869854"/>
          </a:xfrm>
        </p:spPr>
        <p:txBody>
          <a:bodyPr anchor="b">
            <a:normAutofit/>
          </a:bodyPr>
          <a:lstStyle>
            <a:lvl1pPr marL="0" indent="0" algn="ctr">
              <a:buFont typeface="Arial" panose="020B0604020202020204" pitchFamily="34" charset="0"/>
              <a:buNone/>
              <a:defRPr sz="3200">
                <a:solidFill>
                  <a:schemeClr val="tx1"/>
                </a:solidFill>
              </a:defRPr>
            </a:lvl1pPr>
          </a:lstStyle>
          <a:p>
            <a:r>
              <a:rPr lang="zh-CN" altLang="en-US" dirty="0"/>
              <a:t>结束语</a:t>
            </a:r>
            <a:endParaRPr lang="zh-CN" altLang="en-US" dirty="0"/>
          </a:p>
        </p:txBody>
      </p:sp>
      <p:sp>
        <p:nvSpPr>
          <p:cNvPr id="14" name="文本占位符 62"/>
          <p:cNvSpPr>
            <a:spLocks noGrp="1"/>
          </p:cNvSpPr>
          <p:nvPr>
            <p:ph type="body" sz="quarter" idx="17" hasCustomPrompt="1"/>
          </p:nvPr>
        </p:nvSpPr>
        <p:spPr>
          <a:xfrm>
            <a:off x="669924" y="4406734"/>
            <a:ext cx="10850563" cy="310871"/>
          </a:xfrm>
        </p:spPr>
        <p:txBody>
          <a:bodyPr vert="horz" lIns="91440" tIns="45720" rIns="91440" bIns="45720" rtlCol="0">
            <a:normAutofit/>
          </a:bodyPr>
          <a:lstStyle>
            <a:lvl1pPr marL="0" indent="0" algn="ctr">
              <a:buNone/>
              <a:defRPr lang="zh-CN" altLang="en-US" sz="1200" smtClean="0">
                <a:solidFill>
                  <a:schemeClr val="accent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zh-CN" altLang="en-US" dirty="0"/>
              <a:t>署名</a:t>
            </a:r>
            <a:endParaRPr lang="en-US" altLang="zh-CN" dirty="0"/>
          </a:p>
        </p:txBody>
      </p:sp>
      <p:sp>
        <p:nvSpPr>
          <p:cNvPr id="15" name="文本占位符 62"/>
          <p:cNvSpPr>
            <a:spLocks noGrp="1"/>
          </p:cNvSpPr>
          <p:nvPr>
            <p:ph type="body" sz="quarter" idx="18" hasCustomPrompt="1"/>
          </p:nvPr>
        </p:nvSpPr>
        <p:spPr>
          <a:xfrm>
            <a:off x="669924" y="4722368"/>
            <a:ext cx="10850563" cy="310871"/>
          </a:xfrm>
        </p:spPr>
        <p:txBody>
          <a:bodyPr vert="horz" lIns="91440" tIns="45720" rIns="91440" bIns="45720" rtlCol="0">
            <a:normAutofit/>
          </a:bodyPr>
          <a:lstStyle>
            <a:lvl1pPr marL="0" indent="0" algn="ctr">
              <a:buNone/>
              <a:defRPr lang="zh-CN" altLang="en-US" sz="12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zh-CN" altLang="en-US" dirty="0"/>
              <a:t>时间日期</a:t>
            </a:r>
            <a:endParaRPr lang="en-US" altLang="zh-CN" dirty="0"/>
          </a:p>
        </p:txBody>
      </p:sp>
      <p:grpSp>
        <p:nvGrpSpPr>
          <p:cNvPr id="6" name="Group 5"/>
          <p:cNvGrpSpPr/>
          <p:nvPr userDrawn="1"/>
        </p:nvGrpSpPr>
        <p:grpSpPr>
          <a:xfrm rot="5400000">
            <a:off x="10442716" y="202243"/>
            <a:ext cx="69568" cy="3429000"/>
            <a:chOff x="0" y="0"/>
            <a:chExt cx="381000" cy="3429000"/>
          </a:xfrm>
        </p:grpSpPr>
        <p:sp>
          <p:nvSpPr>
            <p:cNvPr id="7" name="Rectangle 6"/>
            <p:cNvSpPr/>
            <p:nvPr userDrawn="1"/>
          </p:nvSpPr>
          <p:spPr>
            <a:xfrm>
              <a:off x="0" y="0"/>
              <a:ext cx="381000" cy="3429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8" name="Rectangle 7"/>
            <p:cNvSpPr/>
            <p:nvPr userDrawn="1"/>
          </p:nvSpPr>
          <p:spPr>
            <a:xfrm>
              <a:off x="0" y="0"/>
              <a:ext cx="381000" cy="381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grpSp>
        <p:nvGrpSpPr>
          <p:cNvPr id="12" name="Group 11"/>
          <p:cNvGrpSpPr/>
          <p:nvPr userDrawn="1"/>
        </p:nvGrpSpPr>
        <p:grpSpPr>
          <a:xfrm rot="16200000">
            <a:off x="1679716" y="202243"/>
            <a:ext cx="69568" cy="3429000"/>
            <a:chOff x="0" y="0"/>
            <a:chExt cx="381000" cy="3429000"/>
          </a:xfrm>
        </p:grpSpPr>
        <p:sp>
          <p:nvSpPr>
            <p:cNvPr id="16" name="Rectangle 15"/>
            <p:cNvSpPr/>
            <p:nvPr userDrawn="1"/>
          </p:nvSpPr>
          <p:spPr>
            <a:xfrm>
              <a:off x="0" y="0"/>
              <a:ext cx="381000" cy="3429000"/>
            </a:xfrm>
            <a:prstGeom prst="rect">
              <a:avLst/>
            </a:prstGeom>
            <a:solidFill>
              <a:srgbClr val="002060"/>
            </a:solidFill>
            <a:ln>
              <a:solidFill>
                <a:srgbClr val="006C3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sp>
          <p:nvSpPr>
            <p:cNvPr id="17" name="Rectangle 16"/>
            <p:cNvSpPr/>
            <p:nvPr userDrawn="1"/>
          </p:nvSpPr>
          <p:spPr>
            <a:xfrm>
              <a:off x="0" y="0"/>
              <a:ext cx="381000" cy="381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MY"/>
            </a:p>
          </p:txBody>
        </p:sp>
      </p:gr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90465" y="1123950"/>
            <a:ext cx="1553273" cy="1553273"/>
          </a:xfrm>
          <a:prstGeom prst="rect">
            <a:avLst/>
          </a:prstGeom>
        </p:spPr>
      </p:pic>
      <p:pic>
        <p:nvPicPr>
          <p:cNvPr id="18" name="图片 1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768591" y="1140104"/>
            <a:ext cx="2157323" cy="1553273"/>
          </a:xfrm>
          <a:prstGeom prst="rect">
            <a:avLst/>
          </a:prstGeom>
        </p:spPr>
      </p:pic>
      <p:pic>
        <p:nvPicPr>
          <p:cNvPr id="20" name="图片 19"/>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340996" y="1077943"/>
            <a:ext cx="1677597" cy="1677597"/>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58E2C0D-3978-4D00-BE11-3FF38497FCC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7F69DF-D574-4037-B6A5-58CCD724C69D}"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2" Type="http://schemas.openxmlformats.org/officeDocument/2006/relationships/theme" Target="../theme/theme2.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defTabSz="914400">
              <a:defRPr lang="zh-CN" altLang="en-US" sz="3200" dirty="0">
                <a:sym typeface="+mn-ea"/>
              </a:defRPr>
            </a:lvl1pPr>
          </a:lstStyle>
          <a:p>
            <a:pPr lvl="0"/>
            <a:r>
              <a:rPr dirty="0">
                <a:sym typeface="+mn-ea"/>
              </a:rPr>
              <a:t>单击此处编辑母版标题样式</a:t>
            </a:r>
            <a:endParaRPr dirty="0">
              <a:sym typeface="+mn-ea"/>
            </a:endParaRPr>
          </a:p>
        </p:txBody>
      </p:sp>
      <p:sp>
        <p:nvSpPr>
          <p:cNvPr id="9" name="文本占位符 8"/>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单击此处编辑母版文本样式</a:t>
            </a:r>
            <a:endParaRPr lang="zh-CN" altLang="en-US" dirty="0"/>
          </a:p>
          <a:p>
            <a:pPr lvl="0"/>
            <a:r>
              <a:rPr lang="zh-CN" altLang="en-US" dirty="0">
                <a:sym typeface="+mn-ea"/>
              </a:rPr>
              <a:t>单击此处编辑母版文本样式</a:t>
            </a:r>
            <a:endParaRPr lang="zh-CN" altLang="en-US" dirty="0"/>
          </a:p>
          <a:p>
            <a:pPr lvl="0"/>
            <a:r>
              <a:rPr lang="zh-CN" altLang="en-US" dirty="0">
                <a:sym typeface="+mn-ea"/>
              </a:rPr>
              <a:t>单击此处编辑母版文本样式</a:t>
            </a:r>
            <a:endParaRPr lang="zh-CN" altLang="en-US" dirty="0"/>
          </a:p>
          <a:p>
            <a:pPr lvl="0"/>
            <a:r>
              <a:rPr lang="zh-CN" altLang="en-US" dirty="0">
                <a:sym typeface="+mn-ea"/>
              </a:rPr>
              <a:t>单击此处编辑母版文本样式</a:t>
            </a:r>
            <a:endParaRPr lang="zh-CN" altLang="en-US" dirty="0"/>
          </a:p>
          <a:p>
            <a:pPr lvl="0"/>
            <a:r>
              <a:rPr lang="zh-CN" altLang="en-US" dirty="0">
                <a:sym typeface="+mn-ea"/>
              </a:rPr>
              <a:t>单击此处编辑母版文本样式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b="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5401732" y="6235700"/>
            <a:ext cx="1388536" cy="206381"/>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669924" y="6235700"/>
            <a:ext cx="4140201" cy="20638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nvPr>
        </p:nvSpPr>
        <p:spPr>
          <a:xfrm>
            <a:off x="8610599" y="6235700"/>
            <a:ext cx="2909888" cy="206381"/>
          </a:xfrm>
          <a:prstGeom prst="rect">
            <a:avLst/>
          </a:prstGeom>
        </p:spPr>
        <p:txBody>
          <a:bodyPr vert="horz" lIns="91440" tIns="45720" rIns="91440" bIns="45720" rtlCol="0" anchor="ctr"/>
          <a:lstStyle>
            <a:lvl1pPr algn="r">
              <a:defRPr sz="1000">
                <a:solidFill>
                  <a:schemeClr val="tx1">
                    <a:tint val="75000"/>
                  </a:schemeClr>
                </a:solidFill>
              </a:defRPr>
            </a:lvl1pPr>
          </a:lstStyle>
          <a:p>
            <a:fld id="{5DD3DB80-B894-403A-B48E-6FDC1A72010E}" type="slidenum">
              <a:rPr lang="zh-CN" altLang="en-US" smtClean="0"/>
            </a:fld>
            <a:endParaRPr lang="zh-CN" altLang="en-US"/>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6.xml"/><Relationship Id="rId1" Type="http://schemas.openxmlformats.org/officeDocument/2006/relationships/image" Target="../media/image16.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6.xml"/><Relationship Id="rId1" Type="http://schemas.openxmlformats.org/officeDocument/2006/relationships/image" Target="../media/image22.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3.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25.jpeg"/><Relationship Id="rId1" Type="http://schemas.openxmlformats.org/officeDocument/2006/relationships/image" Target="../media/image24.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6.xml"/><Relationship Id="rId1" Type="http://schemas.openxmlformats.org/officeDocument/2006/relationships/image" Target="../media/image26.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6.xml"/><Relationship Id="rId1" Type="http://schemas.openxmlformats.org/officeDocument/2006/relationships/image" Target="../media/image27.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ctrTitle"/>
          </p:nvPr>
        </p:nvSpPr>
        <p:spPr>
          <a:xfrm>
            <a:off x="0" y="2248351"/>
            <a:ext cx="12192000" cy="894080"/>
          </a:xfrm>
        </p:spPr>
        <p:txBody>
          <a:bodyPr>
            <a:noAutofit/>
          </a:bodyPr>
          <a:lstStyle/>
          <a:p>
            <a:r>
              <a:rPr lang="zh-CN" altLang="en-US" sz="3200" dirty="0">
                <a:solidFill>
                  <a:schemeClr val="tx1">
                    <a:lumMod val="75000"/>
                    <a:lumOff val="25000"/>
                  </a:schemeClr>
                </a:solidFill>
                <a:latin typeface="华光中圆_CNKI" panose="02000500000000000000" pitchFamily="2" charset="-122"/>
                <a:ea typeface="华光中圆_CNKI" panose="02000500000000000000" pitchFamily="2" charset="-122"/>
              </a:rPr>
              <a:t>网络空间安全竞赛体验课</a:t>
            </a:r>
            <a:endParaRPr lang="zh-CN" altLang="en-US" sz="2800" dirty="0">
              <a:latin typeface="华光中圆_CNKI" panose="02000500000000000000" pitchFamily="2" charset="-122"/>
              <a:ea typeface="华光中圆_CNKI" panose="02000500000000000000"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1.1</a:t>
            </a:r>
            <a:r>
              <a:rPr lang="zh-CN" altLang="en-US" sz="2800" dirty="0">
                <a:latin typeface="+mn-ea"/>
                <a:ea typeface="+mn-ea"/>
              </a:rPr>
              <a:t> </a:t>
            </a:r>
            <a:r>
              <a:rPr lang="en-US" altLang="zh-CN" sz="2800" dirty="0">
                <a:latin typeface="+mn-ea"/>
                <a:ea typeface="+mn-ea"/>
              </a:rPr>
              <a:t>PHP</a:t>
            </a:r>
            <a:r>
              <a:rPr lang="zh-CN" altLang="en-US" sz="2800" dirty="0">
                <a:latin typeface="+mn-ea"/>
                <a:ea typeface="+mn-ea"/>
              </a:rPr>
              <a:t>简介</a:t>
            </a:r>
            <a:endParaRPr lang="zh-CN" altLang="en-US" sz="2800" dirty="0">
              <a:latin typeface="+mn-ea"/>
              <a:ea typeface="+mn-ea"/>
            </a:endParaRPr>
          </a:p>
        </p:txBody>
      </p:sp>
      <p:sp>
        <p:nvSpPr>
          <p:cNvPr id="6" name="文本框 5"/>
          <p:cNvSpPr txBox="1"/>
          <p:nvPr/>
        </p:nvSpPr>
        <p:spPr>
          <a:xfrm>
            <a:off x="547687" y="1779866"/>
            <a:ext cx="5440079" cy="1955215"/>
          </a:xfrm>
          <a:prstGeom prst="rect">
            <a:avLst/>
          </a:prstGeom>
          <a:noFill/>
        </p:spPr>
        <p:txBody>
          <a:bodyPr wrap="none" rtlCol="0">
            <a:spAutoFit/>
          </a:bodyPr>
          <a:lstStyle/>
          <a:p>
            <a:pPr marL="342900" lvl="0" indent="-342900">
              <a:lnSpc>
                <a:spcPct val="150000"/>
              </a:lnSpc>
              <a:buFont typeface="Wingdings" panose="05000000000000000000" pitchFamily="2" charset="2"/>
              <a:buChar char="Ø"/>
            </a:pPr>
            <a:r>
              <a:rPr kumimoji="1" lang="zh-CN" altLang="en-US" sz="2800" dirty="0">
                <a:latin typeface="+mn-ea"/>
              </a:rPr>
              <a:t>什么是</a:t>
            </a:r>
            <a:r>
              <a:rPr kumimoji="1" lang="en-US" altLang="zh-CN" sz="2800" dirty="0">
                <a:latin typeface="+mn-ea"/>
              </a:rPr>
              <a:t>PHP</a:t>
            </a:r>
            <a:endParaRPr kumimoji="1" lang="en-US" altLang="zh-CN" sz="2800" dirty="0">
              <a:latin typeface="+mn-ea"/>
            </a:endParaRPr>
          </a:p>
          <a:p>
            <a:pPr marL="342900" lvl="0" indent="-342900">
              <a:lnSpc>
                <a:spcPct val="150000"/>
              </a:lnSpc>
              <a:buFont typeface="Wingdings" panose="05000000000000000000" pitchFamily="2" charset="2"/>
              <a:buChar char="Ø"/>
            </a:pPr>
            <a:r>
              <a:rPr kumimoji="1" lang="en-US" altLang="zh-CN" sz="2800" dirty="0">
                <a:latin typeface="+mn-ea"/>
              </a:rPr>
              <a:t>PHP</a:t>
            </a:r>
            <a:r>
              <a:rPr kumimoji="1" lang="zh-CN" altLang="en-US" sz="2800" dirty="0">
                <a:latin typeface="+mn-ea"/>
              </a:rPr>
              <a:t>与</a:t>
            </a:r>
            <a:r>
              <a:rPr kumimoji="1" lang="en-US" altLang="zh-CN" sz="2800" dirty="0">
                <a:latin typeface="+mn-ea"/>
              </a:rPr>
              <a:t>C/C++/Java</a:t>
            </a:r>
            <a:r>
              <a:rPr kumimoji="1" lang="zh-CN" altLang="en-US" sz="2800" dirty="0">
                <a:latin typeface="+mn-ea"/>
              </a:rPr>
              <a:t>有什么区别</a:t>
            </a:r>
            <a:endParaRPr kumimoji="1" lang="en-US" altLang="zh-CN" sz="2800" dirty="0">
              <a:latin typeface="+mn-ea"/>
            </a:endParaRPr>
          </a:p>
          <a:p>
            <a:pPr marL="342900" lvl="0" indent="-342900">
              <a:lnSpc>
                <a:spcPct val="150000"/>
              </a:lnSpc>
              <a:buFont typeface="Wingdings" panose="05000000000000000000" pitchFamily="2" charset="2"/>
              <a:buChar char="Ø"/>
            </a:pPr>
            <a:r>
              <a:rPr kumimoji="1" lang="en-US" altLang="zh-CN" sz="2800" dirty="0">
                <a:latin typeface="+mn-ea"/>
              </a:rPr>
              <a:t>PHP</a:t>
            </a:r>
            <a:r>
              <a:rPr kumimoji="1" lang="zh-CN" altLang="en-US" sz="2800" dirty="0">
                <a:latin typeface="+mn-ea"/>
              </a:rPr>
              <a:t>的基础语法</a:t>
            </a:r>
            <a:endParaRPr kumimoji="1" lang="en-US" altLang="zh-CN" sz="2800" dirty="0">
              <a:latin typeface="+mn-ea"/>
            </a:endParaRPr>
          </a:p>
        </p:txBody>
      </p:sp>
      <p:sp>
        <p:nvSpPr>
          <p:cNvPr id="36" name="文本框 35"/>
          <p:cNvSpPr txBox="1"/>
          <p:nvPr/>
        </p:nvSpPr>
        <p:spPr>
          <a:xfrm>
            <a:off x="10373329" y="5811720"/>
            <a:ext cx="1805609" cy="369332"/>
          </a:xfrm>
          <a:prstGeom prst="rect">
            <a:avLst/>
          </a:prstGeom>
          <a:noFill/>
        </p:spPr>
        <p:txBody>
          <a:bodyPr wrap="square" rtlCol="0">
            <a:spAutoFit/>
          </a:bodyPr>
          <a:lstStyle/>
          <a:p>
            <a:pPr algn="ctr"/>
            <a:r>
              <a:rPr lang="en-US" altLang="zh-CN" dirty="0"/>
              <a:t>4</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1.2</a:t>
            </a:r>
            <a:r>
              <a:rPr lang="zh-CN" altLang="en-US" sz="2800" dirty="0">
                <a:latin typeface="+mn-ea"/>
                <a:ea typeface="+mn-ea"/>
              </a:rPr>
              <a:t> 什么是</a:t>
            </a:r>
            <a:r>
              <a:rPr lang="en-US" altLang="zh-CN" sz="2800" dirty="0">
                <a:latin typeface="+mn-ea"/>
                <a:ea typeface="+mn-ea"/>
              </a:rPr>
              <a:t>PHP</a:t>
            </a:r>
            <a:endParaRPr lang="zh-CN" altLang="en-US" sz="2800" dirty="0">
              <a:latin typeface="+mn-ea"/>
              <a:ea typeface="+mn-ea"/>
            </a:endParaRPr>
          </a:p>
        </p:txBody>
      </p:sp>
      <p:sp>
        <p:nvSpPr>
          <p:cNvPr id="3" name="内容占位符 2"/>
          <p:cNvSpPr txBox="1"/>
          <p:nvPr/>
        </p:nvSpPr>
        <p:spPr>
          <a:xfrm>
            <a:off x="904313" y="1115045"/>
            <a:ext cx="9313477" cy="1611377"/>
          </a:xfrm>
          <a:prstGeom prst="rect">
            <a:avLst/>
          </a:prstGeom>
        </p:spPr>
        <p:txBody>
          <a:bodyPr/>
          <a:lst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Font typeface="Arial" panose="020B0604020202020204" pitchFamily="34" charset="0"/>
              <a:buChar char="•"/>
            </a:pP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marL="0" indent="0">
              <a:buNone/>
            </a:pPr>
            <a:r>
              <a:rPr lang="en-US" altLang="zh-CN" dirty="0"/>
              <a:t>PHP</a:t>
            </a:r>
            <a:r>
              <a:rPr lang="zh-CN" altLang="en-US" dirty="0"/>
              <a:t>（</a:t>
            </a:r>
            <a:r>
              <a:rPr lang="en-US" altLang="zh-CN" dirty="0"/>
              <a:t>Hypertext Preprocessor</a:t>
            </a:r>
            <a:r>
              <a:rPr lang="zh-CN" altLang="en-US" dirty="0"/>
              <a:t>）</a:t>
            </a:r>
            <a:r>
              <a:rPr lang="en-US" altLang="zh-CN" dirty="0"/>
              <a:t>,</a:t>
            </a:r>
            <a:r>
              <a:rPr lang="zh-CN" altLang="en-US" dirty="0"/>
              <a:t>是在服务器端执行的脚本语言</a:t>
            </a:r>
            <a:endParaRPr lang="zh-CN" altLang="en-US" dirty="0"/>
          </a:p>
        </p:txBody>
      </p:sp>
      <p:sp>
        <p:nvSpPr>
          <p:cNvPr id="6" name="文本框 5"/>
          <p:cNvSpPr txBox="1"/>
          <p:nvPr/>
        </p:nvSpPr>
        <p:spPr>
          <a:xfrm>
            <a:off x="10386391" y="5967427"/>
            <a:ext cx="1805609" cy="369332"/>
          </a:xfrm>
          <a:prstGeom prst="rect">
            <a:avLst/>
          </a:prstGeom>
          <a:noFill/>
        </p:spPr>
        <p:txBody>
          <a:bodyPr wrap="square" rtlCol="0">
            <a:spAutoFit/>
          </a:bodyPr>
          <a:lstStyle/>
          <a:p>
            <a:pPr algn="ctr"/>
            <a:r>
              <a:rPr lang="en-US" altLang="zh-CN" dirty="0"/>
              <a:t>5</a:t>
            </a:r>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80285" y="2392673"/>
            <a:ext cx="6934835" cy="318896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1.3</a:t>
            </a:r>
            <a:r>
              <a:rPr lang="zh-CN" altLang="en-US" sz="2800" dirty="0">
                <a:latin typeface="+mn-ea"/>
                <a:ea typeface="+mn-ea"/>
              </a:rPr>
              <a:t> </a:t>
            </a:r>
            <a:r>
              <a:rPr kumimoji="1" lang="en-US" altLang="zh-CN" sz="2800" dirty="0">
                <a:latin typeface="+mn-ea"/>
              </a:rPr>
              <a:t>PHP</a:t>
            </a:r>
            <a:r>
              <a:rPr kumimoji="1" lang="zh-CN" altLang="en-US" sz="2800" dirty="0">
                <a:latin typeface="+mn-ea"/>
              </a:rPr>
              <a:t>与</a:t>
            </a:r>
            <a:r>
              <a:rPr kumimoji="1" lang="en-US" altLang="zh-CN" sz="2800" dirty="0">
                <a:latin typeface="+mn-ea"/>
              </a:rPr>
              <a:t>C/C++</a:t>
            </a:r>
            <a:r>
              <a:rPr kumimoji="1" lang="zh-CN" altLang="en-US" sz="2800" dirty="0">
                <a:latin typeface="+mn-ea"/>
              </a:rPr>
              <a:t>有什么区别</a:t>
            </a:r>
            <a:endParaRPr kumimoji="1" lang="en-US" altLang="zh-CN" sz="2800" dirty="0">
              <a:latin typeface="+mn-ea"/>
            </a:endParaRPr>
          </a:p>
        </p:txBody>
      </p:sp>
      <p:sp>
        <p:nvSpPr>
          <p:cNvPr id="5" name="文本框 4"/>
          <p:cNvSpPr txBox="1"/>
          <p:nvPr/>
        </p:nvSpPr>
        <p:spPr>
          <a:xfrm>
            <a:off x="10386391" y="5967427"/>
            <a:ext cx="1805609" cy="369332"/>
          </a:xfrm>
          <a:prstGeom prst="rect">
            <a:avLst/>
          </a:prstGeom>
          <a:noFill/>
        </p:spPr>
        <p:txBody>
          <a:bodyPr wrap="square" rtlCol="0">
            <a:spAutoFit/>
          </a:bodyPr>
          <a:lstStyle/>
          <a:p>
            <a:pPr algn="ctr"/>
            <a:r>
              <a:rPr lang="en-US" altLang="zh-CN" dirty="0"/>
              <a:t>6</a:t>
            </a:r>
            <a:endParaRPr lang="zh-CN" altLang="en-US"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47064" y="1574034"/>
            <a:ext cx="2133785" cy="868755"/>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81894" y="1391139"/>
            <a:ext cx="1257409" cy="1234547"/>
          </a:xfrm>
          <a:prstGeom prst="rect">
            <a:avLst/>
          </a:prstGeom>
        </p:spPr>
      </p:pic>
      <p:sp>
        <p:nvSpPr>
          <p:cNvPr id="17" name="矩形 16"/>
          <p:cNvSpPr/>
          <p:nvPr/>
        </p:nvSpPr>
        <p:spPr>
          <a:xfrm>
            <a:off x="611189" y="2988123"/>
            <a:ext cx="4907868" cy="2677656"/>
          </a:xfrm>
          <a:prstGeom prst="rect">
            <a:avLst/>
          </a:prstGeom>
        </p:spPr>
        <p:txBody>
          <a:bodyPr wrap="square">
            <a:spAutoFit/>
          </a:bodyPr>
          <a:lstStyle/>
          <a:p>
            <a:pPr marL="457200" indent="-457200">
              <a:buFontTx/>
              <a:buChar char="-"/>
            </a:pPr>
            <a:r>
              <a:rPr lang="zh-CN" altLang="en-US" sz="2800" dirty="0"/>
              <a:t>在执行需要编译器辅助        即使翻译成“</a:t>
            </a:r>
            <a:r>
              <a:rPr lang="en-US" altLang="zh-CN" sz="2800" dirty="0"/>
              <a:t>OPCODE</a:t>
            </a:r>
            <a:r>
              <a:rPr lang="zh-CN" altLang="en-US" sz="2800" dirty="0"/>
              <a:t>”</a:t>
            </a:r>
            <a:endParaRPr lang="en-US" altLang="zh-CN" sz="2800" dirty="0"/>
          </a:p>
          <a:p>
            <a:pPr marL="457200" indent="-457200">
              <a:buFontTx/>
              <a:buChar char="-"/>
            </a:pPr>
            <a:r>
              <a:rPr lang="zh-CN" altLang="en-US" sz="2800" dirty="0"/>
              <a:t>更改代码后直接执行即可</a:t>
            </a:r>
            <a:endParaRPr lang="en-US" altLang="zh-CN" sz="2800" dirty="0"/>
          </a:p>
          <a:p>
            <a:pPr marL="457200" indent="-457200">
              <a:buFontTx/>
              <a:buChar char="-"/>
            </a:pPr>
            <a:r>
              <a:rPr lang="zh-CN" altLang="en-US" sz="2800" dirty="0"/>
              <a:t>无法脱离解释器执行</a:t>
            </a:r>
            <a:r>
              <a:rPr lang="en-US" altLang="zh-CN" sz="2800" dirty="0"/>
              <a:t>php</a:t>
            </a:r>
            <a:r>
              <a:rPr lang="zh-CN" altLang="en-US" sz="2800" dirty="0"/>
              <a:t>代码</a:t>
            </a:r>
            <a:endParaRPr lang="en-US" altLang="zh-CN" sz="2800" dirty="0"/>
          </a:p>
          <a:p>
            <a:pPr marL="457200" indent="-457200">
              <a:buFontTx/>
              <a:buChar char="-"/>
            </a:pPr>
            <a:endParaRPr lang="zh-CN" altLang="en-US" sz="2800" dirty="0"/>
          </a:p>
        </p:txBody>
      </p:sp>
      <p:pic>
        <p:nvPicPr>
          <p:cNvPr id="21" name="图片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6641" y="1391139"/>
            <a:ext cx="198969" cy="4576288"/>
          </a:xfrm>
          <a:prstGeom prst="rect">
            <a:avLst/>
          </a:prstGeom>
        </p:spPr>
      </p:pic>
      <p:sp>
        <p:nvSpPr>
          <p:cNvPr id="22" name="文本框 21"/>
          <p:cNvSpPr txBox="1"/>
          <p:nvPr/>
        </p:nvSpPr>
        <p:spPr>
          <a:xfrm>
            <a:off x="6397622" y="2988123"/>
            <a:ext cx="4754791" cy="2246769"/>
          </a:xfrm>
          <a:prstGeom prst="rect">
            <a:avLst/>
          </a:prstGeom>
          <a:noFill/>
        </p:spPr>
        <p:txBody>
          <a:bodyPr wrap="square" rtlCol="0">
            <a:spAutoFit/>
          </a:bodyPr>
          <a:lstStyle/>
          <a:p>
            <a:pPr marL="457200" indent="-457200">
              <a:buFontTx/>
              <a:buChar char="-"/>
            </a:pPr>
            <a:r>
              <a:rPr lang="zh-CN" altLang="en-US" sz="2800" dirty="0">
                <a:latin typeface="+mj-lt"/>
              </a:rPr>
              <a:t>需要先编译代码成可执行文件再执行</a:t>
            </a:r>
            <a:endParaRPr lang="en-US" altLang="zh-CN" sz="2800" dirty="0">
              <a:latin typeface="+mj-lt"/>
            </a:endParaRPr>
          </a:p>
          <a:p>
            <a:pPr marL="457200" indent="-457200">
              <a:buFontTx/>
              <a:buChar char="-"/>
            </a:pPr>
            <a:r>
              <a:rPr lang="zh-CN" altLang="en-US" sz="2800" dirty="0">
                <a:latin typeface="+mj-lt"/>
              </a:rPr>
              <a:t>编译后如果需要更改代码需要重新编译运行</a:t>
            </a:r>
            <a:endParaRPr lang="en-US" altLang="zh-CN" sz="2800" dirty="0">
              <a:latin typeface="+mj-lt"/>
            </a:endParaRPr>
          </a:p>
          <a:p>
            <a:pPr marL="457200" indent="-457200">
              <a:buFontTx/>
              <a:buChar char="-"/>
            </a:pPr>
            <a:r>
              <a:rPr lang="zh-CN" altLang="en-US" sz="2800" dirty="0">
                <a:latin typeface="+mj-lt"/>
              </a:rPr>
              <a:t>编译后可脱离编译器运行</a:t>
            </a:r>
            <a:endParaRPr lang="zh-CN" altLang="en-US" sz="2800"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1.4</a:t>
            </a:r>
            <a:r>
              <a:rPr lang="zh-CN" altLang="en-US" sz="2800" dirty="0">
                <a:latin typeface="+mn-ea"/>
                <a:ea typeface="+mn-ea"/>
              </a:rPr>
              <a:t> </a:t>
            </a:r>
            <a:r>
              <a:rPr kumimoji="1" lang="en-US" altLang="zh-CN" sz="2800" dirty="0">
                <a:latin typeface="+mn-ea"/>
              </a:rPr>
              <a:t>PHP</a:t>
            </a:r>
            <a:r>
              <a:rPr kumimoji="1" lang="zh-CN" altLang="en-US" sz="2800" dirty="0">
                <a:latin typeface="+mn-ea"/>
              </a:rPr>
              <a:t>的基础语法</a:t>
            </a:r>
            <a:endParaRPr kumimoji="1" lang="en-US" altLang="zh-CN" sz="2800" dirty="0">
              <a:latin typeface="+mn-ea"/>
            </a:endParaRPr>
          </a:p>
        </p:txBody>
      </p:sp>
      <p:sp>
        <p:nvSpPr>
          <p:cNvPr id="6" name="文本框 5"/>
          <p:cNvSpPr txBox="1"/>
          <p:nvPr/>
        </p:nvSpPr>
        <p:spPr>
          <a:xfrm>
            <a:off x="10386391" y="5967427"/>
            <a:ext cx="1805609" cy="369332"/>
          </a:xfrm>
          <a:prstGeom prst="rect">
            <a:avLst/>
          </a:prstGeom>
          <a:noFill/>
        </p:spPr>
        <p:txBody>
          <a:bodyPr wrap="square" rtlCol="0">
            <a:spAutoFit/>
          </a:bodyPr>
          <a:lstStyle/>
          <a:p>
            <a:pPr algn="ctr"/>
            <a:r>
              <a:rPr lang="en-US" altLang="zh-CN" dirty="0"/>
              <a:t>7</a:t>
            </a:r>
            <a:endParaRPr lang="zh-CN" altLang="en-US" dirty="0"/>
          </a:p>
        </p:txBody>
      </p:sp>
      <p:sp>
        <p:nvSpPr>
          <p:cNvPr id="2" name="矩形 1"/>
          <p:cNvSpPr/>
          <p:nvPr/>
        </p:nvSpPr>
        <p:spPr>
          <a:xfrm>
            <a:off x="829857" y="2764595"/>
            <a:ext cx="2702505" cy="1200329"/>
          </a:xfrm>
          <a:prstGeom prst="rect">
            <a:avLst/>
          </a:prstGeom>
        </p:spPr>
        <p:txBody>
          <a:bodyPr wrap="square">
            <a:spAutoFit/>
          </a:bodyPr>
          <a:lstStyle/>
          <a:p>
            <a:r>
              <a:rPr lang="zh-CN" altLang="en-US" dirty="0"/>
              <a:t>最简单的</a:t>
            </a:r>
            <a:r>
              <a:rPr lang="en-US" altLang="zh-CN" dirty="0"/>
              <a:t>PHP</a:t>
            </a:r>
            <a:r>
              <a:rPr lang="zh-CN" altLang="en-US" dirty="0"/>
              <a:t>文件</a:t>
            </a:r>
            <a:endParaRPr lang="en-US" altLang="zh-CN" dirty="0"/>
          </a:p>
          <a:p>
            <a:r>
              <a:rPr lang="en-US" altLang="zh-CN" dirty="0"/>
              <a:t>&lt;?php</a:t>
            </a:r>
            <a:endParaRPr lang="en-US" altLang="zh-CN" dirty="0"/>
          </a:p>
          <a:p>
            <a:r>
              <a:rPr lang="en-US" altLang="zh-CN" dirty="0"/>
              <a:t>echo “hello world”;</a:t>
            </a:r>
            <a:endParaRPr lang="en-US" altLang="zh-CN" dirty="0"/>
          </a:p>
          <a:p>
            <a:r>
              <a:rPr lang="en-US" altLang="zh-CN" dirty="0"/>
              <a:t>?&gt;</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58936" y="1748926"/>
            <a:ext cx="6355631" cy="4115157"/>
          </a:xfrm>
          <a:prstGeom prst="rect">
            <a:avLst/>
          </a:prstGeom>
        </p:spPr>
      </p:pic>
      <p:sp>
        <p:nvSpPr>
          <p:cNvPr id="7" name="矩形 6"/>
          <p:cNvSpPr/>
          <p:nvPr/>
        </p:nvSpPr>
        <p:spPr>
          <a:xfrm>
            <a:off x="829858" y="1573482"/>
            <a:ext cx="2702505" cy="646331"/>
          </a:xfrm>
          <a:prstGeom prst="rect">
            <a:avLst/>
          </a:prstGeom>
        </p:spPr>
        <p:txBody>
          <a:bodyPr wrap="square">
            <a:spAutoFit/>
          </a:bodyPr>
          <a:lstStyle/>
          <a:p>
            <a:r>
              <a:rPr lang="en-US" altLang="zh-CN" dirty="0"/>
              <a:t>echo</a:t>
            </a:r>
            <a:r>
              <a:rPr lang="zh-CN" altLang="en-US" dirty="0"/>
              <a:t>与</a:t>
            </a:r>
            <a:r>
              <a:rPr lang="en-US" altLang="zh-CN" dirty="0"/>
              <a:t>print</a:t>
            </a:r>
            <a:r>
              <a:rPr lang="zh-CN" altLang="en-US" dirty="0"/>
              <a:t>都可以输出，但</a:t>
            </a:r>
            <a:r>
              <a:rPr lang="en-US" altLang="zh-CN" dirty="0"/>
              <a:t>echo</a:t>
            </a:r>
            <a:r>
              <a:rPr lang="zh-CN" altLang="en-US" dirty="0"/>
              <a:t>输出的速度更快。</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9"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1.4</a:t>
            </a:r>
            <a:r>
              <a:rPr lang="zh-CN" altLang="en-US" sz="2800" dirty="0">
                <a:latin typeface="+mn-ea"/>
                <a:ea typeface="+mn-ea"/>
              </a:rPr>
              <a:t> </a:t>
            </a:r>
            <a:r>
              <a:rPr kumimoji="1" lang="en-US" altLang="zh-CN" sz="2800" dirty="0">
                <a:latin typeface="+mn-ea"/>
              </a:rPr>
              <a:t>PHP</a:t>
            </a:r>
            <a:r>
              <a:rPr kumimoji="1" lang="zh-CN" altLang="en-US" sz="2800" dirty="0">
                <a:latin typeface="+mn-ea"/>
              </a:rPr>
              <a:t>的基础语法</a:t>
            </a:r>
            <a:r>
              <a:rPr kumimoji="1" lang="en-US" altLang="zh-CN" sz="2800" dirty="0">
                <a:latin typeface="+mn-ea"/>
              </a:rPr>
              <a:t>——</a:t>
            </a:r>
            <a:r>
              <a:rPr kumimoji="1" lang="zh-CN" altLang="en-US" sz="2800" dirty="0">
                <a:latin typeface="+mn-ea"/>
              </a:rPr>
              <a:t>变量定义</a:t>
            </a:r>
            <a:endParaRPr lang="zh-CN" altLang="en-US" sz="2800" dirty="0">
              <a:latin typeface="+mn-ea"/>
              <a:ea typeface="+mn-ea"/>
            </a:endParaRPr>
          </a:p>
        </p:txBody>
      </p:sp>
      <p:sp>
        <p:nvSpPr>
          <p:cNvPr id="6" name="文本框 5"/>
          <p:cNvSpPr txBox="1"/>
          <p:nvPr/>
        </p:nvSpPr>
        <p:spPr>
          <a:xfrm>
            <a:off x="10386391" y="5967427"/>
            <a:ext cx="1805609" cy="369332"/>
          </a:xfrm>
          <a:prstGeom prst="rect">
            <a:avLst/>
          </a:prstGeom>
          <a:noFill/>
        </p:spPr>
        <p:txBody>
          <a:bodyPr wrap="square" rtlCol="0">
            <a:spAutoFit/>
          </a:bodyPr>
          <a:lstStyle/>
          <a:p>
            <a:pPr algn="ctr"/>
            <a:r>
              <a:rPr lang="en-US" altLang="zh-CN" dirty="0"/>
              <a:t>8</a:t>
            </a:r>
            <a:endParaRPr lang="zh-CN" altLang="en-US" dirty="0"/>
          </a:p>
        </p:txBody>
      </p:sp>
      <p:sp>
        <p:nvSpPr>
          <p:cNvPr id="2" name="文本框 1"/>
          <p:cNvSpPr txBox="1"/>
          <p:nvPr/>
        </p:nvSpPr>
        <p:spPr>
          <a:xfrm>
            <a:off x="729841" y="1429069"/>
            <a:ext cx="10016455" cy="4030980"/>
          </a:xfrm>
          <a:prstGeom prst="rect">
            <a:avLst/>
          </a:prstGeom>
          <a:noFill/>
        </p:spPr>
        <p:txBody>
          <a:bodyPr wrap="square" rtlCol="0">
            <a:spAutoFit/>
          </a:bodyPr>
          <a:lstStyle/>
          <a:p>
            <a:r>
              <a:rPr lang="zh-CN" altLang="en-US" sz="3200" dirty="0"/>
              <a:t>变量命名的规则：</a:t>
            </a:r>
            <a:endParaRPr lang="en-US" altLang="zh-CN" sz="3200" dirty="0"/>
          </a:p>
          <a:p>
            <a:endParaRPr lang="zh-CN" altLang="en-US" sz="3200" dirty="0"/>
          </a:p>
          <a:p>
            <a:r>
              <a:rPr lang="en-US" altLang="zh-CN" sz="3200" dirty="0"/>
              <a:t>- </a:t>
            </a:r>
            <a:r>
              <a:rPr lang="zh-CN" altLang="en-US" sz="3200" dirty="0"/>
              <a:t>变量必须以符号 </a:t>
            </a:r>
            <a:r>
              <a:rPr lang="en-US" altLang="zh-CN" sz="3200" dirty="0">
                <a:solidFill>
                  <a:srgbClr val="FF0000"/>
                </a:solidFill>
              </a:rPr>
              <a:t>$</a:t>
            </a:r>
            <a:r>
              <a:rPr lang="en-US" altLang="zh-CN" sz="3200" dirty="0"/>
              <a:t> </a:t>
            </a:r>
            <a:r>
              <a:rPr lang="zh-CN" altLang="en-US" sz="3200" dirty="0"/>
              <a:t>开头，后面接变量名称</a:t>
            </a:r>
            <a:r>
              <a:rPr lang="en-US" altLang="zh-CN" sz="3200" dirty="0"/>
              <a:t>;</a:t>
            </a:r>
            <a:endParaRPr lang="en-US" altLang="zh-CN" sz="3200" dirty="0"/>
          </a:p>
          <a:p>
            <a:r>
              <a:rPr lang="en-US" altLang="zh-CN" sz="3200" dirty="0"/>
              <a:t>- </a:t>
            </a:r>
            <a:r>
              <a:rPr lang="zh-CN" altLang="en-US" sz="3200" dirty="0"/>
              <a:t>变量名称必须以</a:t>
            </a:r>
            <a:r>
              <a:rPr lang="zh-CN" altLang="en-US" sz="3200" dirty="0">
                <a:solidFill>
                  <a:srgbClr val="FF0000"/>
                </a:solidFill>
              </a:rPr>
              <a:t>字母</a:t>
            </a:r>
            <a:r>
              <a:rPr lang="zh-CN" altLang="en-US" sz="3200" dirty="0"/>
              <a:t>或者</a:t>
            </a:r>
            <a:r>
              <a:rPr lang="zh-CN" altLang="en-US" sz="3200" dirty="0">
                <a:solidFill>
                  <a:srgbClr val="FF0000"/>
                </a:solidFill>
              </a:rPr>
              <a:t>下划线</a:t>
            </a:r>
            <a:r>
              <a:rPr lang="zh-CN" altLang="en-US" sz="3200" dirty="0"/>
              <a:t>开头</a:t>
            </a:r>
            <a:r>
              <a:rPr lang="en-US" altLang="zh-CN" sz="3200" dirty="0"/>
              <a:t>;</a:t>
            </a:r>
            <a:endParaRPr lang="en-US" altLang="zh-CN" sz="3200" dirty="0"/>
          </a:p>
          <a:p>
            <a:r>
              <a:rPr lang="en-US" altLang="zh-CN" sz="3200" dirty="0"/>
              <a:t>- </a:t>
            </a:r>
            <a:r>
              <a:rPr lang="zh-CN" altLang="en-US" sz="3200" dirty="0"/>
              <a:t>变量名称只能包含</a:t>
            </a:r>
            <a:r>
              <a:rPr lang="zh-CN" altLang="en-US" sz="3200" dirty="0">
                <a:solidFill>
                  <a:srgbClr val="FF0000"/>
                </a:solidFill>
              </a:rPr>
              <a:t>字母、数字、下划线</a:t>
            </a:r>
            <a:r>
              <a:rPr lang="en-US" altLang="zh-CN" sz="3200" dirty="0"/>
              <a:t>(A-Z,a-z,0-9,_);</a:t>
            </a:r>
            <a:endParaRPr lang="en-US" altLang="zh-CN" sz="3200" dirty="0"/>
          </a:p>
          <a:p>
            <a:r>
              <a:rPr lang="en-US" altLang="zh-CN" sz="3200" dirty="0"/>
              <a:t>- </a:t>
            </a:r>
            <a:r>
              <a:rPr lang="zh-CN" altLang="en-US" sz="3200" dirty="0"/>
              <a:t>变量名不能有空格</a:t>
            </a:r>
            <a:endParaRPr lang="zh-CN" altLang="en-US" sz="3200" dirty="0"/>
          </a:p>
          <a:p>
            <a:r>
              <a:rPr lang="en-US" altLang="zh-CN" sz="3200" dirty="0"/>
              <a:t>- </a:t>
            </a:r>
            <a:r>
              <a:rPr lang="zh-CN" altLang="en-US" sz="3200" dirty="0"/>
              <a:t>变量名是区分大小写的 </a:t>
            </a:r>
            <a:r>
              <a:rPr lang="en-US" altLang="zh-CN" sz="3200" dirty="0"/>
              <a:t>($x </a:t>
            </a:r>
            <a:r>
              <a:rPr lang="zh-CN" altLang="en-US" sz="3200" dirty="0"/>
              <a:t>与 </a:t>
            </a:r>
            <a:r>
              <a:rPr lang="en-US" altLang="zh-CN" sz="3200" dirty="0"/>
              <a:t>$X </a:t>
            </a:r>
            <a:r>
              <a:rPr lang="zh-CN" altLang="en-US" sz="3200" dirty="0"/>
              <a:t>是不一样的两个变量</a:t>
            </a:r>
            <a:r>
              <a:rPr lang="en-US" altLang="zh-CN" sz="3200" dirty="0"/>
              <a:t>)</a:t>
            </a:r>
            <a:endParaRPr lang="en-US" altLang="zh-CN"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1.4</a:t>
            </a:r>
            <a:r>
              <a:rPr lang="zh-CN" altLang="en-US" sz="2800" dirty="0">
                <a:latin typeface="+mn-ea"/>
                <a:ea typeface="+mn-ea"/>
              </a:rPr>
              <a:t> </a:t>
            </a:r>
            <a:r>
              <a:rPr kumimoji="1" lang="en-US" altLang="zh-CN" sz="2800" dirty="0">
                <a:latin typeface="+mn-ea"/>
              </a:rPr>
              <a:t>PHP</a:t>
            </a:r>
            <a:r>
              <a:rPr kumimoji="1" lang="zh-CN" altLang="en-US" sz="2800" dirty="0">
                <a:latin typeface="+mn-ea"/>
              </a:rPr>
              <a:t>的基础语法</a:t>
            </a:r>
            <a:r>
              <a:rPr kumimoji="1" lang="en-US" altLang="zh-CN" sz="2800" dirty="0">
                <a:latin typeface="+mn-ea"/>
              </a:rPr>
              <a:t>——</a:t>
            </a:r>
            <a:r>
              <a:rPr kumimoji="1" lang="zh-CN" altLang="en-US" sz="2800" dirty="0">
                <a:latin typeface="+mn-ea"/>
              </a:rPr>
              <a:t>变量定义</a:t>
            </a:r>
            <a:endParaRPr lang="zh-CN" altLang="en-US" sz="2800" dirty="0">
              <a:latin typeface="+mn-ea"/>
              <a:ea typeface="+mn-ea"/>
            </a:endParaRPr>
          </a:p>
        </p:txBody>
      </p:sp>
      <p:sp>
        <p:nvSpPr>
          <p:cNvPr id="6" name="文本框 5"/>
          <p:cNvSpPr txBox="1"/>
          <p:nvPr/>
        </p:nvSpPr>
        <p:spPr>
          <a:xfrm>
            <a:off x="10386391" y="5967427"/>
            <a:ext cx="1805609" cy="369332"/>
          </a:xfrm>
          <a:prstGeom prst="rect">
            <a:avLst/>
          </a:prstGeom>
          <a:noFill/>
        </p:spPr>
        <p:txBody>
          <a:bodyPr wrap="square" rtlCol="0">
            <a:spAutoFit/>
          </a:bodyPr>
          <a:lstStyle/>
          <a:p>
            <a:pPr algn="ctr"/>
            <a:r>
              <a:rPr lang="en-US" altLang="zh-CN" dirty="0"/>
              <a:t>9</a:t>
            </a:r>
            <a:endParaRPr lang="zh-CN" altLang="en-US" dirty="0"/>
          </a:p>
        </p:txBody>
      </p:sp>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86783" y="1168552"/>
            <a:ext cx="9418434" cy="498354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9"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1.4</a:t>
            </a:r>
            <a:r>
              <a:rPr lang="zh-CN" altLang="en-US" sz="2800" dirty="0">
                <a:latin typeface="+mn-ea"/>
                <a:ea typeface="+mn-ea"/>
              </a:rPr>
              <a:t> </a:t>
            </a:r>
            <a:r>
              <a:rPr kumimoji="1" lang="en-US" altLang="zh-CN" sz="2800" dirty="0">
                <a:latin typeface="+mn-ea"/>
              </a:rPr>
              <a:t>PHP</a:t>
            </a:r>
            <a:r>
              <a:rPr kumimoji="1" lang="zh-CN" altLang="en-US" sz="2800" dirty="0">
                <a:latin typeface="+mn-ea"/>
              </a:rPr>
              <a:t>的基础语法</a:t>
            </a:r>
            <a:r>
              <a:rPr kumimoji="1" lang="en-US" altLang="zh-CN" sz="2800" dirty="0">
                <a:latin typeface="+mn-ea"/>
              </a:rPr>
              <a:t>——</a:t>
            </a:r>
            <a:r>
              <a:rPr kumimoji="1" lang="zh-CN" altLang="en-US" sz="2800" dirty="0">
                <a:latin typeface="+mn-ea"/>
              </a:rPr>
              <a:t>函数定义</a:t>
            </a:r>
            <a:endParaRPr lang="zh-CN" altLang="en-US" sz="2800" dirty="0">
              <a:latin typeface="+mn-ea"/>
              <a:ea typeface="+mn-ea"/>
            </a:endParaRPr>
          </a:p>
        </p:txBody>
      </p:sp>
      <p:sp>
        <p:nvSpPr>
          <p:cNvPr id="10" name="文本框 9"/>
          <p:cNvSpPr txBox="1"/>
          <p:nvPr/>
        </p:nvSpPr>
        <p:spPr>
          <a:xfrm>
            <a:off x="10386391" y="5967427"/>
            <a:ext cx="1805609" cy="369332"/>
          </a:xfrm>
          <a:prstGeom prst="rect">
            <a:avLst/>
          </a:prstGeom>
          <a:noFill/>
        </p:spPr>
        <p:txBody>
          <a:bodyPr wrap="square" rtlCol="0">
            <a:spAutoFit/>
          </a:bodyPr>
          <a:lstStyle/>
          <a:p>
            <a:pPr algn="ctr"/>
            <a:r>
              <a:rPr lang="en-US" altLang="zh-CN" dirty="0"/>
              <a:t>10</a:t>
            </a:r>
            <a:endParaRPr lang="zh-CN" altLang="en-US" dirty="0"/>
          </a:p>
        </p:txBody>
      </p:sp>
      <p:sp>
        <p:nvSpPr>
          <p:cNvPr id="5" name="文本框 4"/>
          <p:cNvSpPr txBox="1"/>
          <p:nvPr/>
        </p:nvSpPr>
        <p:spPr>
          <a:xfrm>
            <a:off x="1272740" y="2049554"/>
            <a:ext cx="10016455" cy="2062103"/>
          </a:xfrm>
          <a:prstGeom prst="rect">
            <a:avLst/>
          </a:prstGeom>
          <a:noFill/>
        </p:spPr>
        <p:txBody>
          <a:bodyPr wrap="square" rtlCol="0">
            <a:spAutoFit/>
          </a:bodyPr>
          <a:lstStyle/>
          <a:p>
            <a:r>
              <a:rPr lang="en-US" altLang="zh-CN" sz="3200" dirty="0"/>
              <a:t>function </a:t>
            </a:r>
            <a:r>
              <a:rPr lang="zh-CN" altLang="en-US" sz="3200" dirty="0"/>
              <a:t>函数名称</a:t>
            </a:r>
            <a:r>
              <a:rPr lang="en-US" altLang="zh-CN" sz="3200" dirty="0"/>
              <a:t>(</a:t>
            </a:r>
            <a:r>
              <a:rPr lang="zh-CN" altLang="en-US" sz="3200" dirty="0"/>
              <a:t>参数</a:t>
            </a:r>
            <a:r>
              <a:rPr lang="en-US" altLang="zh-CN" sz="3200" dirty="0"/>
              <a:t>1</a:t>
            </a:r>
            <a:r>
              <a:rPr lang="zh-CN" altLang="en-US" sz="3200" dirty="0"/>
              <a:t>，参数</a:t>
            </a:r>
            <a:r>
              <a:rPr lang="en-US" altLang="zh-CN" sz="3200" dirty="0"/>
              <a:t>2</a:t>
            </a:r>
            <a:r>
              <a:rPr lang="zh-CN" altLang="en-US" sz="3200" dirty="0"/>
              <a:t>，</a:t>
            </a:r>
            <a:r>
              <a:rPr lang="en-US" altLang="zh-CN" sz="3200" dirty="0"/>
              <a:t>…)</a:t>
            </a:r>
            <a:endParaRPr lang="en-US" altLang="zh-CN" sz="3200" dirty="0"/>
          </a:p>
          <a:p>
            <a:r>
              <a:rPr lang="en-US" altLang="zh-CN" sz="3200" dirty="0"/>
              <a:t>{</a:t>
            </a:r>
            <a:endParaRPr lang="en-US" altLang="zh-CN" sz="3200" dirty="0"/>
          </a:p>
          <a:p>
            <a:r>
              <a:rPr lang="en-US" altLang="zh-CN" sz="3200" dirty="0"/>
              <a:t>//</a:t>
            </a:r>
            <a:r>
              <a:rPr lang="zh-CN" altLang="en-US" sz="3200" dirty="0"/>
              <a:t>代码</a:t>
            </a:r>
            <a:endParaRPr lang="en-US" altLang="zh-CN" sz="3200" dirty="0"/>
          </a:p>
          <a:p>
            <a:r>
              <a:rPr lang="en-US" altLang="zh-CN" sz="3200" dirty="0"/>
              <a:t>}</a:t>
            </a:r>
            <a:endParaRPr lang="en-US" altLang="zh-CN"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9"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1.4</a:t>
            </a:r>
            <a:r>
              <a:rPr lang="zh-CN" altLang="en-US" sz="2800" dirty="0">
                <a:latin typeface="+mn-ea"/>
                <a:ea typeface="+mn-ea"/>
              </a:rPr>
              <a:t> </a:t>
            </a:r>
            <a:r>
              <a:rPr kumimoji="1" lang="en-US" altLang="zh-CN" sz="2800" dirty="0">
                <a:latin typeface="+mn-ea"/>
              </a:rPr>
              <a:t>PHP</a:t>
            </a:r>
            <a:r>
              <a:rPr kumimoji="1" lang="zh-CN" altLang="en-US" sz="2800" dirty="0">
                <a:latin typeface="+mn-ea"/>
              </a:rPr>
              <a:t>的基础语法</a:t>
            </a:r>
            <a:r>
              <a:rPr kumimoji="1" lang="en-US" altLang="zh-CN" sz="2800" dirty="0">
                <a:latin typeface="+mn-ea"/>
              </a:rPr>
              <a:t>——</a:t>
            </a:r>
            <a:r>
              <a:rPr kumimoji="1" lang="zh-CN" altLang="en-US" sz="2800" dirty="0">
                <a:latin typeface="+mn-ea"/>
              </a:rPr>
              <a:t>对象定义</a:t>
            </a:r>
            <a:endParaRPr lang="zh-CN" altLang="en-US" sz="2800" dirty="0">
              <a:latin typeface="+mn-ea"/>
              <a:ea typeface="+mn-ea"/>
            </a:endParaRPr>
          </a:p>
        </p:txBody>
      </p:sp>
      <p:sp>
        <p:nvSpPr>
          <p:cNvPr id="10" name="文本框 9"/>
          <p:cNvSpPr txBox="1"/>
          <p:nvPr/>
        </p:nvSpPr>
        <p:spPr>
          <a:xfrm>
            <a:off x="10386391" y="5967427"/>
            <a:ext cx="1805609" cy="369332"/>
          </a:xfrm>
          <a:prstGeom prst="rect">
            <a:avLst/>
          </a:prstGeom>
          <a:noFill/>
        </p:spPr>
        <p:txBody>
          <a:bodyPr wrap="square" rtlCol="0">
            <a:spAutoFit/>
          </a:bodyPr>
          <a:lstStyle/>
          <a:p>
            <a:pPr algn="ctr"/>
            <a:r>
              <a:rPr lang="en-US" altLang="zh-CN" dirty="0"/>
              <a:t>10</a:t>
            </a:r>
            <a:endParaRPr lang="zh-CN" altLang="en-US" dirty="0"/>
          </a:p>
        </p:txBody>
      </p:sp>
      <p:sp>
        <p:nvSpPr>
          <p:cNvPr id="5" name="文本框 4"/>
          <p:cNvSpPr txBox="1"/>
          <p:nvPr/>
        </p:nvSpPr>
        <p:spPr>
          <a:xfrm>
            <a:off x="1272740" y="2049554"/>
            <a:ext cx="10016455" cy="3539430"/>
          </a:xfrm>
          <a:prstGeom prst="rect">
            <a:avLst/>
          </a:prstGeom>
          <a:noFill/>
        </p:spPr>
        <p:txBody>
          <a:bodyPr wrap="square" rtlCol="0">
            <a:spAutoFit/>
          </a:bodyPr>
          <a:lstStyle/>
          <a:p>
            <a:r>
              <a:rPr lang="zh-CN" altLang="en-US" sz="3200" dirty="0"/>
              <a:t>对象：用于定义一类事物</a:t>
            </a:r>
            <a:endParaRPr lang="zh-CN" altLang="en-US" sz="3200" dirty="0"/>
          </a:p>
          <a:p>
            <a:r>
              <a:rPr lang="en-US" altLang="zh-CN" sz="3200" dirty="0"/>
              <a:t>class Car</a:t>
            </a:r>
            <a:endParaRPr lang="en-US" altLang="zh-CN" sz="3200" dirty="0"/>
          </a:p>
          <a:p>
            <a:r>
              <a:rPr lang="en-US" altLang="zh-CN" sz="3200" dirty="0"/>
              <a:t>{</a:t>
            </a:r>
            <a:endParaRPr lang="en-US" altLang="zh-CN" sz="3200" dirty="0"/>
          </a:p>
          <a:p>
            <a:r>
              <a:rPr lang="en-US" altLang="zh-CN" sz="3200" dirty="0"/>
              <a:t>	var $brand;</a:t>
            </a:r>
            <a:endParaRPr lang="en-US" altLang="zh-CN" sz="3200" dirty="0"/>
          </a:p>
          <a:p>
            <a:r>
              <a:rPr lang="en-US" altLang="zh-CN" sz="3200" dirty="0"/>
              <a:t>}</a:t>
            </a:r>
            <a:endParaRPr lang="en-US" altLang="zh-CN" sz="3200" dirty="0"/>
          </a:p>
          <a:p>
            <a:r>
              <a:rPr lang="en-US" altLang="zh-CN" sz="3200" dirty="0"/>
              <a:t>$</a:t>
            </a:r>
            <a:r>
              <a:rPr lang="en-US" altLang="zh-CN" sz="3200" dirty="0" err="1"/>
              <a:t>benz</a:t>
            </a:r>
            <a:r>
              <a:rPr lang="en-US" altLang="zh-CN" sz="3200" dirty="0"/>
              <a:t> = new Car();</a:t>
            </a:r>
            <a:endParaRPr lang="en-US" altLang="zh-CN" sz="3200" dirty="0"/>
          </a:p>
          <a:p>
            <a:r>
              <a:rPr lang="en-US" altLang="zh-CN" sz="3200" dirty="0"/>
              <a:t>$</a:t>
            </a:r>
            <a:r>
              <a:rPr lang="en-US" altLang="zh-CN" sz="3200" dirty="0" err="1"/>
              <a:t>benz</a:t>
            </a:r>
            <a:r>
              <a:rPr lang="en-US" altLang="zh-CN" sz="3200" dirty="0"/>
              <a:t>-&gt;brand = ‘</a:t>
            </a:r>
            <a:r>
              <a:rPr lang="zh-CN" altLang="en-US" sz="3200" dirty="0"/>
              <a:t>奔驰’</a:t>
            </a:r>
            <a:r>
              <a:rPr lang="en-US" altLang="zh-CN" sz="3200" dirty="0"/>
              <a:t>;</a:t>
            </a:r>
            <a:endParaRPr lang="en-US" altLang="zh-CN"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9"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1.4</a:t>
            </a:r>
            <a:r>
              <a:rPr lang="zh-CN" altLang="en-US" sz="2800" dirty="0">
                <a:latin typeface="+mn-ea"/>
                <a:ea typeface="+mn-ea"/>
              </a:rPr>
              <a:t> </a:t>
            </a:r>
            <a:r>
              <a:rPr kumimoji="1" lang="en-US" altLang="zh-CN" sz="2800" dirty="0">
                <a:latin typeface="+mn-ea"/>
              </a:rPr>
              <a:t>PHP</a:t>
            </a:r>
            <a:r>
              <a:rPr kumimoji="1" lang="zh-CN" altLang="en-US" sz="2800" dirty="0">
                <a:latin typeface="+mn-ea"/>
              </a:rPr>
              <a:t>的基础语法</a:t>
            </a:r>
            <a:r>
              <a:rPr kumimoji="1" lang="en-US" altLang="zh-CN" sz="2800" dirty="0">
                <a:latin typeface="+mn-ea"/>
              </a:rPr>
              <a:t>——</a:t>
            </a:r>
            <a:r>
              <a:rPr kumimoji="1" lang="zh-CN" altLang="en-US" sz="2800" dirty="0">
                <a:latin typeface="+mn-ea"/>
              </a:rPr>
              <a:t>流程控制</a:t>
            </a:r>
            <a:endParaRPr lang="zh-CN" altLang="en-US" sz="2800" dirty="0">
              <a:latin typeface="+mn-ea"/>
              <a:ea typeface="+mn-ea"/>
            </a:endParaRPr>
          </a:p>
        </p:txBody>
      </p:sp>
      <p:sp>
        <p:nvSpPr>
          <p:cNvPr id="10" name="文本框 9"/>
          <p:cNvSpPr txBox="1"/>
          <p:nvPr/>
        </p:nvSpPr>
        <p:spPr>
          <a:xfrm>
            <a:off x="10386391" y="5967427"/>
            <a:ext cx="1805609" cy="369332"/>
          </a:xfrm>
          <a:prstGeom prst="rect">
            <a:avLst/>
          </a:prstGeom>
          <a:noFill/>
        </p:spPr>
        <p:txBody>
          <a:bodyPr wrap="square" rtlCol="0">
            <a:spAutoFit/>
          </a:bodyPr>
          <a:lstStyle/>
          <a:p>
            <a:pPr algn="ctr"/>
            <a:r>
              <a:rPr lang="en-US" altLang="zh-CN" dirty="0"/>
              <a:t>10</a:t>
            </a:r>
            <a:endParaRPr lang="zh-CN" altLang="en-US" dirty="0"/>
          </a:p>
        </p:txBody>
      </p:sp>
      <p:sp>
        <p:nvSpPr>
          <p:cNvPr id="5" name="文本框 4"/>
          <p:cNvSpPr txBox="1"/>
          <p:nvPr/>
        </p:nvSpPr>
        <p:spPr>
          <a:xfrm>
            <a:off x="668583" y="1616263"/>
            <a:ext cx="10016455" cy="4031873"/>
          </a:xfrm>
          <a:prstGeom prst="rect">
            <a:avLst/>
          </a:prstGeom>
          <a:noFill/>
        </p:spPr>
        <p:txBody>
          <a:bodyPr wrap="square" rtlCol="0">
            <a:spAutoFit/>
          </a:bodyPr>
          <a:lstStyle/>
          <a:p>
            <a:r>
              <a:rPr lang="en-US" altLang="zh-CN" sz="3200" dirty="0"/>
              <a:t>if…else</a:t>
            </a:r>
            <a:endParaRPr lang="en-US" altLang="zh-CN" sz="3200" dirty="0"/>
          </a:p>
          <a:p>
            <a:r>
              <a:rPr lang="en-US" altLang="zh-CN" sz="3200" dirty="0"/>
              <a:t>if</a:t>
            </a:r>
            <a:endParaRPr lang="en-US" altLang="zh-CN" sz="3200" dirty="0"/>
          </a:p>
          <a:p>
            <a:r>
              <a:rPr lang="en-US" altLang="zh-CN" sz="3200" dirty="0"/>
              <a:t>if…elseif…else</a:t>
            </a:r>
            <a:endParaRPr lang="en-US" altLang="zh-CN" sz="3200" dirty="0"/>
          </a:p>
          <a:p>
            <a:r>
              <a:rPr lang="en-US" altLang="zh-CN" sz="3200" dirty="0"/>
              <a:t>switch</a:t>
            </a:r>
            <a:endParaRPr lang="en-US" altLang="zh-CN" sz="3200" dirty="0"/>
          </a:p>
          <a:p>
            <a:r>
              <a:rPr lang="en-US" altLang="zh-CN" sz="3200" dirty="0"/>
              <a:t>while</a:t>
            </a:r>
            <a:endParaRPr lang="en-US" altLang="zh-CN" sz="3200" dirty="0"/>
          </a:p>
          <a:p>
            <a:r>
              <a:rPr lang="en-US" altLang="zh-CN" sz="3200" dirty="0"/>
              <a:t>for</a:t>
            </a:r>
            <a:endParaRPr lang="en-US" altLang="zh-CN" sz="3200" dirty="0"/>
          </a:p>
          <a:p>
            <a:r>
              <a:rPr lang="en-US" altLang="zh-CN" sz="3200" dirty="0"/>
              <a:t>do…while</a:t>
            </a:r>
            <a:endParaRPr lang="en-US" altLang="zh-CN" sz="3200" dirty="0"/>
          </a:p>
          <a:p>
            <a:r>
              <a:rPr lang="en-US" altLang="zh-CN" sz="3200" dirty="0"/>
              <a:t>foreach</a:t>
            </a:r>
            <a:endParaRPr lang="en-US" altLang="zh-CN"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9"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1.4</a:t>
            </a:r>
            <a:r>
              <a:rPr lang="zh-CN" altLang="en-US" sz="2800" dirty="0">
                <a:latin typeface="+mn-ea"/>
                <a:ea typeface="+mn-ea"/>
              </a:rPr>
              <a:t> </a:t>
            </a:r>
            <a:r>
              <a:rPr kumimoji="1" lang="en-US" altLang="zh-CN" sz="2800" dirty="0">
                <a:latin typeface="+mn-ea"/>
              </a:rPr>
              <a:t>PHP</a:t>
            </a:r>
            <a:r>
              <a:rPr kumimoji="1" lang="zh-CN" altLang="en-US" sz="2800" dirty="0">
                <a:latin typeface="+mn-ea"/>
              </a:rPr>
              <a:t>的基础语法</a:t>
            </a:r>
            <a:r>
              <a:rPr kumimoji="1" lang="en-US" altLang="zh-CN" sz="2800" dirty="0">
                <a:latin typeface="+mn-ea"/>
              </a:rPr>
              <a:t>——foreach</a:t>
            </a:r>
            <a:endParaRPr lang="zh-CN" altLang="en-US" sz="2800" dirty="0">
              <a:latin typeface="+mn-ea"/>
              <a:ea typeface="+mn-ea"/>
            </a:endParaRPr>
          </a:p>
        </p:txBody>
      </p:sp>
      <p:sp>
        <p:nvSpPr>
          <p:cNvPr id="10" name="文本框 9"/>
          <p:cNvSpPr txBox="1"/>
          <p:nvPr/>
        </p:nvSpPr>
        <p:spPr>
          <a:xfrm>
            <a:off x="10386391" y="5967427"/>
            <a:ext cx="1805609" cy="369332"/>
          </a:xfrm>
          <a:prstGeom prst="rect">
            <a:avLst/>
          </a:prstGeom>
          <a:noFill/>
        </p:spPr>
        <p:txBody>
          <a:bodyPr wrap="square" rtlCol="0">
            <a:spAutoFit/>
          </a:bodyPr>
          <a:lstStyle/>
          <a:p>
            <a:pPr algn="ctr"/>
            <a:r>
              <a:rPr lang="en-US" altLang="zh-CN" dirty="0"/>
              <a:t>10</a:t>
            </a:r>
            <a:endParaRPr lang="zh-CN" altLang="en-US" dirty="0"/>
          </a:p>
        </p:txBody>
      </p:sp>
      <p:sp>
        <p:nvSpPr>
          <p:cNvPr id="5" name="文本框 4"/>
          <p:cNvSpPr txBox="1"/>
          <p:nvPr/>
        </p:nvSpPr>
        <p:spPr>
          <a:xfrm>
            <a:off x="685361" y="1166842"/>
            <a:ext cx="10016455" cy="4955203"/>
          </a:xfrm>
          <a:prstGeom prst="rect">
            <a:avLst/>
          </a:prstGeom>
          <a:noFill/>
        </p:spPr>
        <p:txBody>
          <a:bodyPr wrap="square" rtlCol="0">
            <a:spAutoFit/>
          </a:bodyPr>
          <a:lstStyle/>
          <a:p>
            <a:r>
              <a:rPr lang="en-US" altLang="zh-CN" sz="3200" dirty="0"/>
              <a:t>foreach ($array as $value)</a:t>
            </a:r>
            <a:endParaRPr lang="en-US" altLang="zh-CN" sz="3200" dirty="0"/>
          </a:p>
          <a:p>
            <a:r>
              <a:rPr lang="zh-CN" altLang="en-US" sz="3200" dirty="0">
                <a:solidFill>
                  <a:srgbClr val="FF0000"/>
                </a:solidFill>
              </a:rPr>
              <a:t>当前数组元素的值就会被赋值给 </a:t>
            </a:r>
            <a:r>
              <a:rPr lang="en-US" altLang="zh-CN" sz="3200" dirty="0">
                <a:solidFill>
                  <a:srgbClr val="FF0000"/>
                </a:solidFill>
              </a:rPr>
              <a:t>$value </a:t>
            </a:r>
            <a:r>
              <a:rPr lang="zh-CN" altLang="en-US" sz="3200" dirty="0">
                <a:solidFill>
                  <a:srgbClr val="FF0000"/>
                </a:solidFill>
              </a:rPr>
              <a:t>变量</a:t>
            </a:r>
            <a:endParaRPr lang="en-US" altLang="zh-CN" sz="3200" dirty="0">
              <a:solidFill>
                <a:srgbClr val="FF0000"/>
              </a:solidFill>
            </a:endParaRPr>
          </a:p>
          <a:p>
            <a:r>
              <a:rPr lang="en-US" altLang="zh-CN" sz="3200" dirty="0"/>
              <a:t>{</a:t>
            </a:r>
            <a:endParaRPr lang="en-US" altLang="zh-CN" sz="3200" dirty="0"/>
          </a:p>
          <a:p>
            <a:r>
              <a:rPr lang="en-US" altLang="zh-CN" sz="3200" dirty="0"/>
              <a:t>    </a:t>
            </a:r>
            <a:r>
              <a:rPr lang="zh-CN" altLang="en-US" sz="3200" dirty="0"/>
              <a:t>要执行代码</a:t>
            </a:r>
            <a:r>
              <a:rPr lang="en-US" altLang="zh-CN" sz="3200" dirty="0"/>
              <a:t>;</a:t>
            </a:r>
            <a:endParaRPr lang="en-US" altLang="zh-CN" sz="3200" dirty="0"/>
          </a:p>
          <a:p>
            <a:r>
              <a:rPr lang="en-US" altLang="zh-CN" sz="3200" dirty="0"/>
              <a:t>}</a:t>
            </a:r>
            <a:endParaRPr lang="en-US" altLang="zh-CN" sz="3200" dirty="0"/>
          </a:p>
          <a:p>
            <a:r>
              <a:rPr lang="en-US" altLang="zh-CN" sz="3200" dirty="0"/>
              <a:t>foreach ($array as $key =&gt; $value)</a:t>
            </a:r>
            <a:endParaRPr lang="en-US" altLang="zh-CN" sz="3200" dirty="0"/>
          </a:p>
          <a:p>
            <a:r>
              <a:rPr lang="zh-CN" altLang="en-US" sz="2800" dirty="0">
                <a:solidFill>
                  <a:srgbClr val="FF0000"/>
                </a:solidFill>
              </a:rPr>
              <a:t>当前数组元素的键与值就都会被赋值给 </a:t>
            </a:r>
            <a:r>
              <a:rPr lang="en-US" altLang="zh-CN" sz="2800" dirty="0">
                <a:solidFill>
                  <a:srgbClr val="FF0000"/>
                </a:solidFill>
              </a:rPr>
              <a:t>$key </a:t>
            </a:r>
            <a:r>
              <a:rPr lang="zh-CN" altLang="en-US" sz="2800" dirty="0">
                <a:solidFill>
                  <a:srgbClr val="FF0000"/>
                </a:solidFill>
              </a:rPr>
              <a:t>和 </a:t>
            </a:r>
            <a:r>
              <a:rPr lang="en-US" altLang="zh-CN" sz="2800" dirty="0">
                <a:solidFill>
                  <a:srgbClr val="FF0000"/>
                </a:solidFill>
              </a:rPr>
              <a:t>$value </a:t>
            </a:r>
            <a:r>
              <a:rPr lang="zh-CN" altLang="en-US" sz="2800" dirty="0">
                <a:solidFill>
                  <a:srgbClr val="FF0000"/>
                </a:solidFill>
              </a:rPr>
              <a:t>变量</a:t>
            </a:r>
            <a:endParaRPr lang="en-US" altLang="zh-CN" sz="2800" dirty="0">
              <a:solidFill>
                <a:srgbClr val="FF0000"/>
              </a:solidFill>
            </a:endParaRPr>
          </a:p>
          <a:p>
            <a:r>
              <a:rPr lang="en-US" altLang="zh-CN" sz="3200" dirty="0"/>
              <a:t>{</a:t>
            </a:r>
            <a:endParaRPr lang="en-US" altLang="zh-CN" sz="3200" dirty="0"/>
          </a:p>
          <a:p>
            <a:r>
              <a:rPr lang="en-US" altLang="zh-CN" sz="3200" dirty="0"/>
              <a:t>    </a:t>
            </a:r>
            <a:r>
              <a:rPr lang="zh-CN" altLang="en-US" sz="3200" dirty="0"/>
              <a:t>要执行代码</a:t>
            </a:r>
            <a:r>
              <a:rPr lang="en-US" altLang="zh-CN" sz="3200" dirty="0"/>
              <a:t>;</a:t>
            </a:r>
            <a:endParaRPr lang="en-US" altLang="zh-CN" sz="3200" dirty="0"/>
          </a:p>
          <a:p>
            <a:r>
              <a:rPr lang="en-US" altLang="zh-CN" sz="3200" dirty="0"/>
              <a:t>}</a:t>
            </a:r>
            <a:endParaRPr lang="en-US" altLang="zh-CN"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11"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rPr>
              <a:t>1.4</a:t>
            </a:r>
            <a:r>
              <a:rPr lang="zh-CN" altLang="en-US" sz="2800" dirty="0">
                <a:latin typeface="+mn-ea"/>
              </a:rPr>
              <a:t> </a:t>
            </a:r>
            <a:r>
              <a:rPr kumimoji="1" lang="en-US" altLang="zh-CN" sz="2800" dirty="0">
                <a:latin typeface="+mn-ea"/>
              </a:rPr>
              <a:t>PHP</a:t>
            </a:r>
            <a:r>
              <a:rPr kumimoji="1" lang="zh-CN" altLang="en-US" sz="2800" dirty="0">
                <a:latin typeface="+mn-ea"/>
              </a:rPr>
              <a:t>的基础语法</a:t>
            </a:r>
            <a:r>
              <a:rPr kumimoji="1" lang="en-US" altLang="zh-CN" sz="2800" dirty="0">
                <a:latin typeface="+mn-ea"/>
              </a:rPr>
              <a:t>——</a:t>
            </a:r>
            <a:r>
              <a:rPr lang="en-US" altLang="zh-CN" sz="2800" b="0" dirty="0"/>
              <a:t>$_GET</a:t>
            </a:r>
            <a:r>
              <a:rPr lang="zh-CN" altLang="en-US" sz="2800" b="0" dirty="0"/>
              <a:t>与</a:t>
            </a:r>
            <a:r>
              <a:rPr lang="en-US" altLang="zh-CN" sz="2800" b="0" dirty="0"/>
              <a:t>$_POST</a:t>
            </a:r>
            <a:endParaRPr lang="zh-CN" altLang="en-US" sz="2800" dirty="0">
              <a:latin typeface="+mn-ea"/>
            </a:endParaRPr>
          </a:p>
        </p:txBody>
      </p:sp>
      <p:sp>
        <p:nvSpPr>
          <p:cNvPr id="9" name="文本框 8"/>
          <p:cNvSpPr txBox="1"/>
          <p:nvPr/>
        </p:nvSpPr>
        <p:spPr>
          <a:xfrm>
            <a:off x="10386391" y="5967427"/>
            <a:ext cx="1805609" cy="369332"/>
          </a:xfrm>
          <a:prstGeom prst="rect">
            <a:avLst/>
          </a:prstGeom>
          <a:noFill/>
        </p:spPr>
        <p:txBody>
          <a:bodyPr wrap="square" rtlCol="0">
            <a:spAutoFit/>
          </a:bodyPr>
          <a:lstStyle/>
          <a:p>
            <a:pPr algn="ctr"/>
            <a:r>
              <a:rPr lang="en-US" altLang="zh-CN" dirty="0"/>
              <a:t>11</a:t>
            </a:r>
            <a:endParaRPr lang="zh-CN" altLang="en-US" dirty="0"/>
          </a:p>
        </p:txBody>
      </p:sp>
      <p:sp>
        <p:nvSpPr>
          <p:cNvPr id="10" name="文本框 9"/>
          <p:cNvSpPr txBox="1"/>
          <p:nvPr/>
        </p:nvSpPr>
        <p:spPr>
          <a:xfrm>
            <a:off x="1272740" y="1412740"/>
            <a:ext cx="10016455" cy="584775"/>
          </a:xfrm>
          <a:prstGeom prst="rect">
            <a:avLst/>
          </a:prstGeom>
          <a:noFill/>
        </p:spPr>
        <p:txBody>
          <a:bodyPr wrap="square" rtlCol="0">
            <a:spAutoFit/>
          </a:bodyPr>
          <a:lstStyle/>
          <a:p>
            <a:r>
              <a:rPr lang="en-US" altLang="zh-CN" sz="3200" dirty="0"/>
              <a:t>GET</a:t>
            </a:r>
            <a:r>
              <a:rPr lang="zh-CN" altLang="en-US" sz="3200" dirty="0"/>
              <a:t>与</a:t>
            </a:r>
            <a:r>
              <a:rPr lang="en-US" altLang="zh-CN" sz="3200" dirty="0"/>
              <a:t>POST</a:t>
            </a:r>
            <a:r>
              <a:rPr lang="zh-CN" altLang="en-US" sz="3200" dirty="0"/>
              <a:t>是</a:t>
            </a:r>
            <a:r>
              <a:rPr lang="en-US" altLang="zh-CN" sz="3200" dirty="0"/>
              <a:t>HTTP</a:t>
            </a:r>
            <a:r>
              <a:rPr lang="zh-CN" altLang="en-US" sz="3200" dirty="0"/>
              <a:t>协议中的两种发送请求的方法</a:t>
            </a:r>
            <a:endParaRPr lang="en-US" altLang="zh-CN" sz="3200" dirty="0"/>
          </a:p>
        </p:txBody>
      </p:sp>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717301" y="1997515"/>
            <a:ext cx="121979" cy="3969912"/>
          </a:xfrm>
          <a:prstGeom prst="rect">
            <a:avLst/>
          </a:prstGeom>
        </p:spPr>
      </p:pic>
      <p:sp>
        <p:nvSpPr>
          <p:cNvPr id="16" name="文本框 15"/>
          <p:cNvSpPr txBox="1"/>
          <p:nvPr/>
        </p:nvSpPr>
        <p:spPr>
          <a:xfrm>
            <a:off x="1170190" y="2398272"/>
            <a:ext cx="4357109" cy="3046988"/>
          </a:xfrm>
          <a:prstGeom prst="rect">
            <a:avLst/>
          </a:prstGeom>
          <a:noFill/>
        </p:spPr>
        <p:txBody>
          <a:bodyPr wrap="square" rtlCol="0">
            <a:spAutoFit/>
          </a:bodyPr>
          <a:lstStyle/>
          <a:p>
            <a:r>
              <a:rPr lang="en-US" altLang="zh-CN" sz="3200" dirty="0"/>
              <a:t>GET</a:t>
            </a:r>
            <a:r>
              <a:rPr lang="zh-CN" altLang="en-US" sz="3200" dirty="0"/>
              <a:t>：</a:t>
            </a:r>
            <a:endParaRPr lang="en-US" altLang="zh-CN" sz="3200" dirty="0"/>
          </a:p>
          <a:p>
            <a:r>
              <a:rPr lang="en-US" altLang="zh-CN" sz="3200" dirty="0"/>
              <a:t>1.</a:t>
            </a:r>
            <a:r>
              <a:rPr lang="zh-CN" altLang="en-US" sz="3200" dirty="0"/>
              <a:t>对任何人都是可见的</a:t>
            </a:r>
            <a:endParaRPr lang="en-US" altLang="zh-CN" sz="3200" dirty="0"/>
          </a:p>
          <a:p>
            <a:r>
              <a:rPr lang="en-US" altLang="zh-CN" sz="3200" dirty="0"/>
              <a:t>2.</a:t>
            </a:r>
            <a:r>
              <a:rPr lang="zh-CN" altLang="en-US" sz="3200" dirty="0"/>
              <a:t>发送信息的大小存在限制</a:t>
            </a:r>
            <a:endParaRPr lang="en-US" altLang="zh-CN" sz="3200" dirty="0"/>
          </a:p>
          <a:p>
            <a:r>
              <a:rPr lang="en-US" altLang="zh-CN" sz="3200" dirty="0"/>
              <a:t>3.</a:t>
            </a:r>
            <a:r>
              <a:rPr lang="zh-CN" altLang="en-US" sz="3200" dirty="0"/>
              <a:t>只能发送</a:t>
            </a:r>
            <a:r>
              <a:rPr lang="en-US" altLang="zh-CN" sz="3200" dirty="0"/>
              <a:t>ASCII</a:t>
            </a:r>
            <a:r>
              <a:rPr lang="zh-CN" altLang="en-US" sz="3200" dirty="0"/>
              <a:t>字符</a:t>
            </a:r>
            <a:endParaRPr lang="en-US" altLang="zh-CN" sz="3200" dirty="0"/>
          </a:p>
          <a:p>
            <a:r>
              <a:rPr lang="en-US" altLang="zh-CN" sz="3200" dirty="0"/>
              <a:t>4.</a:t>
            </a:r>
            <a:r>
              <a:rPr lang="zh-CN" altLang="en-US" sz="3200" dirty="0"/>
              <a:t>用于搜索排序和筛选</a:t>
            </a:r>
            <a:endParaRPr lang="en-US" altLang="zh-CN" sz="3200" dirty="0"/>
          </a:p>
        </p:txBody>
      </p:sp>
      <p:sp>
        <p:nvSpPr>
          <p:cNvPr id="17" name="文本框 16"/>
          <p:cNvSpPr txBox="1"/>
          <p:nvPr/>
        </p:nvSpPr>
        <p:spPr>
          <a:xfrm>
            <a:off x="6280967" y="2398272"/>
            <a:ext cx="4357109" cy="3046988"/>
          </a:xfrm>
          <a:prstGeom prst="rect">
            <a:avLst/>
          </a:prstGeom>
          <a:noFill/>
        </p:spPr>
        <p:txBody>
          <a:bodyPr wrap="square" rtlCol="0">
            <a:spAutoFit/>
          </a:bodyPr>
          <a:lstStyle/>
          <a:p>
            <a:r>
              <a:rPr lang="en-US" altLang="zh-CN" sz="3200" dirty="0"/>
              <a:t>POST</a:t>
            </a:r>
            <a:r>
              <a:rPr lang="zh-CN" altLang="en-US" sz="3200" dirty="0"/>
              <a:t>：</a:t>
            </a:r>
            <a:endParaRPr lang="en-US" altLang="zh-CN" sz="3200" dirty="0"/>
          </a:p>
          <a:p>
            <a:r>
              <a:rPr lang="en-US" altLang="zh-CN" sz="3200" dirty="0"/>
              <a:t>1.</a:t>
            </a:r>
            <a:r>
              <a:rPr lang="zh-CN" altLang="en-US" sz="3200" dirty="0"/>
              <a:t>对其他人是不可见的</a:t>
            </a:r>
            <a:r>
              <a:rPr lang="en-US" altLang="zh-CN" sz="3200" dirty="0"/>
              <a:t>2.</a:t>
            </a:r>
            <a:r>
              <a:rPr lang="zh-CN" altLang="en-US" sz="3200" dirty="0"/>
              <a:t>发送信息的大小不限</a:t>
            </a:r>
            <a:endParaRPr lang="en-US" altLang="zh-CN" sz="3200" dirty="0"/>
          </a:p>
          <a:p>
            <a:endParaRPr lang="en-US" altLang="zh-CN" sz="3200" dirty="0"/>
          </a:p>
          <a:p>
            <a:r>
              <a:rPr lang="en-US" altLang="zh-CN" sz="3200" dirty="0"/>
              <a:t>3.</a:t>
            </a:r>
            <a:r>
              <a:rPr lang="zh-CN" altLang="en-US" sz="3200" dirty="0"/>
              <a:t>能发送的字符不限</a:t>
            </a:r>
            <a:endParaRPr lang="en-US" altLang="zh-CN" sz="3200" dirty="0"/>
          </a:p>
          <a:p>
            <a:r>
              <a:rPr lang="en-US" altLang="zh-CN" sz="3200" dirty="0"/>
              <a:t>4.</a:t>
            </a:r>
            <a:r>
              <a:rPr lang="zh-CN" altLang="en-US" sz="3200" dirty="0"/>
              <a:t>用于修改和写入数据</a:t>
            </a:r>
            <a:endParaRPr lang="en-US" altLang="zh-CN"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1.5</a:t>
            </a:r>
            <a:r>
              <a:rPr lang="zh-CN" altLang="en-US" sz="2800" dirty="0"/>
              <a:t>弱类型比较</a:t>
            </a:r>
            <a:endParaRPr lang="zh-CN" altLang="en-US" sz="2800" dirty="0">
              <a:latin typeface="+mn-ea"/>
              <a:ea typeface="+mn-ea"/>
            </a:endParaRPr>
          </a:p>
        </p:txBody>
      </p:sp>
      <p:sp>
        <p:nvSpPr>
          <p:cNvPr id="6" name="文本框 5"/>
          <p:cNvSpPr txBox="1"/>
          <p:nvPr/>
        </p:nvSpPr>
        <p:spPr>
          <a:xfrm>
            <a:off x="10386391" y="5967427"/>
            <a:ext cx="1805609" cy="369332"/>
          </a:xfrm>
          <a:prstGeom prst="rect">
            <a:avLst/>
          </a:prstGeom>
          <a:noFill/>
        </p:spPr>
        <p:txBody>
          <a:bodyPr wrap="square" rtlCol="0">
            <a:spAutoFit/>
          </a:bodyPr>
          <a:lstStyle/>
          <a:p>
            <a:pPr algn="ctr"/>
            <a:r>
              <a:rPr lang="en-US" altLang="zh-CN" dirty="0"/>
              <a:t>13</a:t>
            </a:r>
            <a:endParaRPr lang="zh-CN" altLang="en-US" dirty="0"/>
          </a:p>
        </p:txBody>
      </p:sp>
      <p:sp>
        <p:nvSpPr>
          <p:cNvPr id="7" name="文本框 6"/>
          <p:cNvSpPr txBox="1"/>
          <p:nvPr/>
        </p:nvSpPr>
        <p:spPr>
          <a:xfrm>
            <a:off x="666850" y="1416760"/>
            <a:ext cx="10188504" cy="1077218"/>
          </a:xfrm>
          <a:prstGeom prst="rect">
            <a:avLst/>
          </a:prstGeom>
          <a:noFill/>
        </p:spPr>
        <p:txBody>
          <a:bodyPr wrap="square" rtlCol="0">
            <a:spAutoFit/>
          </a:bodyPr>
          <a:lstStyle/>
          <a:p>
            <a:r>
              <a:rPr lang="zh-CN" altLang="en-US" sz="3200" dirty="0"/>
              <a:t>松散比较：“</a:t>
            </a:r>
            <a:r>
              <a:rPr lang="en-US" altLang="zh-CN" sz="3200" dirty="0"/>
              <a:t>==</a:t>
            </a:r>
            <a:r>
              <a:rPr lang="zh-CN" altLang="en-US" sz="3200" dirty="0"/>
              <a:t>“只比较数值不比较类型</a:t>
            </a:r>
            <a:endParaRPr lang="en-US" altLang="zh-CN" sz="3200" dirty="0"/>
          </a:p>
          <a:p>
            <a:r>
              <a:rPr lang="zh-CN" altLang="en-US" sz="3200" dirty="0"/>
              <a:t>严格比较：“</a:t>
            </a:r>
            <a:r>
              <a:rPr lang="en-US" altLang="zh-CN" sz="3200" dirty="0"/>
              <a:t>===</a:t>
            </a:r>
            <a:r>
              <a:rPr lang="zh-CN" altLang="en-US" sz="3200" dirty="0"/>
              <a:t>”比较数值的同时也比较类型</a:t>
            </a:r>
            <a:endParaRPr lang="en-US" altLang="zh-CN" sz="3200" dirty="0"/>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6850" y="2573209"/>
            <a:ext cx="4084674" cy="331498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11"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1.6</a:t>
            </a:r>
            <a:r>
              <a:rPr lang="zh-CN" altLang="en-US" sz="2800" dirty="0">
                <a:latin typeface="+mn-ea"/>
                <a:ea typeface="+mn-ea"/>
              </a:rPr>
              <a:t> </a:t>
            </a:r>
            <a:r>
              <a:rPr lang="en-US" altLang="zh-CN" sz="2800" dirty="0">
                <a:latin typeface="+mn-ea"/>
                <a:ea typeface="+mn-ea"/>
              </a:rPr>
              <a:t>md5</a:t>
            </a:r>
            <a:r>
              <a:rPr lang="zh-CN" altLang="en-US" sz="2800" dirty="0">
                <a:latin typeface="+mn-ea"/>
                <a:ea typeface="+mn-ea"/>
              </a:rPr>
              <a:t>碰撞</a:t>
            </a:r>
            <a:endParaRPr lang="zh-CN" altLang="en-US" sz="2800" dirty="0">
              <a:latin typeface="+mn-ea"/>
              <a:ea typeface="+mn-ea"/>
            </a:endParaRPr>
          </a:p>
        </p:txBody>
      </p:sp>
      <p:sp>
        <p:nvSpPr>
          <p:cNvPr id="9" name="文本框 8"/>
          <p:cNvSpPr txBox="1"/>
          <p:nvPr/>
        </p:nvSpPr>
        <p:spPr>
          <a:xfrm>
            <a:off x="10386391" y="5967427"/>
            <a:ext cx="1805609" cy="369332"/>
          </a:xfrm>
          <a:prstGeom prst="rect">
            <a:avLst/>
          </a:prstGeom>
          <a:noFill/>
        </p:spPr>
        <p:txBody>
          <a:bodyPr wrap="square" rtlCol="0">
            <a:spAutoFit/>
          </a:bodyPr>
          <a:lstStyle/>
          <a:p>
            <a:pPr algn="ctr"/>
            <a:r>
              <a:rPr lang="en-US" altLang="zh-CN" dirty="0"/>
              <a:t>12</a:t>
            </a:r>
            <a:endParaRPr lang="zh-CN" altLang="en-US" dirty="0"/>
          </a:p>
        </p:txBody>
      </p:sp>
      <p:sp>
        <p:nvSpPr>
          <p:cNvPr id="10" name="文本框 9"/>
          <p:cNvSpPr txBox="1"/>
          <p:nvPr/>
        </p:nvSpPr>
        <p:spPr>
          <a:xfrm>
            <a:off x="666850" y="1416760"/>
            <a:ext cx="10188504" cy="1077218"/>
          </a:xfrm>
          <a:prstGeom prst="rect">
            <a:avLst/>
          </a:prstGeom>
          <a:noFill/>
        </p:spPr>
        <p:txBody>
          <a:bodyPr wrap="square" rtlCol="0">
            <a:spAutoFit/>
          </a:bodyPr>
          <a:lstStyle/>
          <a:p>
            <a:r>
              <a:rPr lang="en-US" altLang="zh-CN" sz="3200" dirty="0"/>
              <a:t>Md5:</a:t>
            </a:r>
            <a:r>
              <a:rPr lang="zh-CN" altLang="en-US" sz="3200" dirty="0"/>
              <a:t>信息摘要算法，将任意长度通过计算得到</a:t>
            </a:r>
            <a:r>
              <a:rPr lang="en-US" altLang="zh-CN" sz="3200" dirty="0"/>
              <a:t>32</a:t>
            </a:r>
            <a:r>
              <a:rPr lang="zh-CN" altLang="en-US" sz="3200" dirty="0"/>
              <a:t>位</a:t>
            </a:r>
            <a:r>
              <a:rPr lang="en-US" altLang="zh-CN" sz="3200" dirty="0"/>
              <a:t>16</a:t>
            </a:r>
            <a:r>
              <a:rPr lang="zh-CN" altLang="en-US" sz="3200" dirty="0"/>
              <a:t>进制数字的序列。</a:t>
            </a:r>
            <a:endParaRPr lang="en-US" altLang="zh-CN" sz="3200"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7295" y="2614875"/>
            <a:ext cx="11887525" cy="107721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11"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1.6</a:t>
            </a:r>
            <a:r>
              <a:rPr lang="zh-CN" altLang="en-US" sz="2800" dirty="0">
                <a:latin typeface="+mn-ea"/>
                <a:ea typeface="+mn-ea"/>
              </a:rPr>
              <a:t> </a:t>
            </a:r>
            <a:r>
              <a:rPr lang="en-US" altLang="zh-CN" sz="2800" dirty="0">
                <a:latin typeface="+mn-ea"/>
                <a:ea typeface="+mn-ea"/>
              </a:rPr>
              <a:t>md5</a:t>
            </a:r>
            <a:r>
              <a:rPr lang="zh-CN" altLang="en-US" sz="2800" dirty="0">
                <a:latin typeface="+mn-ea"/>
                <a:ea typeface="+mn-ea"/>
              </a:rPr>
              <a:t>碰撞</a:t>
            </a:r>
            <a:endParaRPr lang="zh-CN" altLang="en-US" sz="2800" dirty="0">
              <a:latin typeface="+mn-ea"/>
              <a:ea typeface="+mn-ea"/>
            </a:endParaRPr>
          </a:p>
        </p:txBody>
      </p:sp>
      <p:sp>
        <p:nvSpPr>
          <p:cNvPr id="9" name="文本框 8"/>
          <p:cNvSpPr txBox="1"/>
          <p:nvPr/>
        </p:nvSpPr>
        <p:spPr>
          <a:xfrm>
            <a:off x="10386391" y="5967427"/>
            <a:ext cx="1805609" cy="369332"/>
          </a:xfrm>
          <a:prstGeom prst="rect">
            <a:avLst/>
          </a:prstGeom>
          <a:noFill/>
        </p:spPr>
        <p:txBody>
          <a:bodyPr wrap="square" rtlCol="0">
            <a:spAutoFit/>
          </a:bodyPr>
          <a:lstStyle/>
          <a:p>
            <a:pPr algn="ctr"/>
            <a:r>
              <a:rPr lang="en-US" altLang="zh-CN" dirty="0"/>
              <a:t>12</a:t>
            </a:r>
            <a:endParaRPr lang="zh-CN" altLang="en-US" dirty="0"/>
          </a:p>
        </p:txBody>
      </p:sp>
      <p:sp>
        <p:nvSpPr>
          <p:cNvPr id="10" name="文本框 9"/>
          <p:cNvSpPr txBox="1"/>
          <p:nvPr/>
        </p:nvSpPr>
        <p:spPr>
          <a:xfrm>
            <a:off x="666850" y="1416760"/>
            <a:ext cx="10188504" cy="3539430"/>
          </a:xfrm>
          <a:prstGeom prst="rect">
            <a:avLst/>
          </a:prstGeom>
          <a:noFill/>
        </p:spPr>
        <p:txBody>
          <a:bodyPr wrap="square" rtlCol="0">
            <a:spAutoFit/>
          </a:bodyPr>
          <a:lstStyle/>
          <a:p>
            <a:r>
              <a:rPr lang="en-US" altLang="zh-CN" sz="3200" dirty="0"/>
              <a:t>php</a:t>
            </a:r>
            <a:r>
              <a:rPr lang="zh-CN" altLang="en-US" sz="3200" dirty="0"/>
              <a:t>中的</a:t>
            </a:r>
            <a:r>
              <a:rPr lang="en-US" altLang="zh-CN" sz="3200" dirty="0"/>
              <a:t>md5</a:t>
            </a:r>
            <a:r>
              <a:rPr lang="zh-CN" altLang="en-US" sz="3200" dirty="0"/>
              <a:t>碰撞：</a:t>
            </a:r>
            <a:endParaRPr lang="en-US" altLang="zh-CN" sz="3200" dirty="0"/>
          </a:p>
          <a:p>
            <a:r>
              <a:rPr lang="zh-CN" altLang="en-US" sz="3200" dirty="0"/>
              <a:t>（</a:t>
            </a:r>
            <a:r>
              <a:rPr lang="en-US" altLang="zh-CN" sz="3200" dirty="0"/>
              <a:t>1</a:t>
            </a:r>
            <a:r>
              <a:rPr lang="zh-CN" altLang="en-US" sz="3200" dirty="0"/>
              <a:t>）</a:t>
            </a:r>
            <a:r>
              <a:rPr lang="en-US" altLang="zh-CN" sz="3200" dirty="0"/>
              <a:t>0^n</a:t>
            </a:r>
            <a:endParaRPr lang="en-US" altLang="zh-CN" sz="3200" dirty="0"/>
          </a:p>
          <a:p>
            <a:r>
              <a:rPr lang="en-US" altLang="zh-CN" sz="3200" dirty="0"/>
              <a:t>	</a:t>
            </a:r>
            <a:endParaRPr lang="en-US" altLang="zh-CN" sz="3200" dirty="0"/>
          </a:p>
          <a:p>
            <a:r>
              <a:rPr lang="en-US" altLang="zh-CN" sz="3200" dirty="0"/>
              <a:t>	</a:t>
            </a:r>
            <a:endParaRPr lang="en-US" altLang="zh-CN" sz="3200" dirty="0"/>
          </a:p>
          <a:p>
            <a:endParaRPr lang="en-US" altLang="zh-CN" sz="3200" dirty="0"/>
          </a:p>
          <a:p>
            <a:r>
              <a:rPr lang="zh-CN" altLang="en-US" sz="3200" dirty="0"/>
              <a:t>（</a:t>
            </a:r>
            <a:r>
              <a:rPr lang="en-US" altLang="zh-CN" sz="3200" dirty="0"/>
              <a:t>2</a:t>
            </a:r>
            <a:r>
              <a:rPr lang="zh-CN" altLang="en-US" sz="3200" dirty="0"/>
              <a:t>）数组</a:t>
            </a:r>
            <a:endParaRPr lang="en-US" altLang="zh-CN" sz="3200" dirty="0"/>
          </a:p>
          <a:p>
            <a:r>
              <a:rPr lang="en-US" altLang="zh-CN" sz="3200" dirty="0"/>
              <a:t>	</a:t>
            </a:r>
            <a:endParaRPr lang="en-US" altLang="zh-CN" sz="3200"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61133" y="2552064"/>
            <a:ext cx="9293472" cy="1028700"/>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133" y="4440053"/>
            <a:ext cx="4991533" cy="159271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1.7</a:t>
            </a:r>
            <a:r>
              <a:rPr lang="zh-CN" altLang="en-US" sz="2800" dirty="0">
                <a:latin typeface="+mn-ea"/>
                <a:ea typeface="+mn-ea"/>
              </a:rPr>
              <a:t> </a:t>
            </a:r>
            <a:r>
              <a:rPr lang="en-US" altLang="zh-CN" sz="2800" dirty="0"/>
              <a:t>php</a:t>
            </a:r>
            <a:r>
              <a:rPr lang="zh-CN" altLang="en-US" sz="2800" dirty="0"/>
              <a:t>中常见的函数及绕过姿势</a:t>
            </a:r>
            <a:endParaRPr lang="zh-CN" altLang="en-US" sz="2800" dirty="0">
              <a:latin typeface="+mn-ea"/>
              <a:ea typeface="+mn-ea"/>
            </a:endParaRPr>
          </a:p>
        </p:txBody>
      </p:sp>
      <p:sp>
        <p:nvSpPr>
          <p:cNvPr id="9" name="文本框 8"/>
          <p:cNvSpPr txBox="1"/>
          <p:nvPr/>
        </p:nvSpPr>
        <p:spPr>
          <a:xfrm>
            <a:off x="10386391" y="5967427"/>
            <a:ext cx="1805609" cy="369332"/>
          </a:xfrm>
          <a:prstGeom prst="rect">
            <a:avLst/>
          </a:prstGeom>
          <a:noFill/>
        </p:spPr>
        <p:txBody>
          <a:bodyPr wrap="square" rtlCol="0">
            <a:spAutoFit/>
          </a:bodyPr>
          <a:lstStyle/>
          <a:p>
            <a:pPr algn="ctr"/>
            <a:r>
              <a:rPr lang="en-US" altLang="zh-CN" dirty="0"/>
              <a:t>15</a:t>
            </a:r>
            <a:endParaRPr lang="zh-CN" altLang="en-US" dirty="0"/>
          </a:p>
        </p:txBody>
      </p:sp>
      <p:sp>
        <p:nvSpPr>
          <p:cNvPr id="10" name="文本框 9"/>
          <p:cNvSpPr txBox="1"/>
          <p:nvPr/>
        </p:nvSpPr>
        <p:spPr>
          <a:xfrm>
            <a:off x="547687" y="1296973"/>
            <a:ext cx="10188504" cy="5509200"/>
          </a:xfrm>
          <a:prstGeom prst="rect">
            <a:avLst/>
          </a:prstGeom>
          <a:noFill/>
        </p:spPr>
        <p:txBody>
          <a:bodyPr wrap="square" rtlCol="0">
            <a:spAutoFit/>
          </a:bodyPr>
          <a:lstStyle/>
          <a:p>
            <a:r>
              <a:rPr lang="en-US" altLang="zh-CN" sz="3200" dirty="0" err="1"/>
              <a:t>is_numeric</a:t>
            </a:r>
            <a:r>
              <a:rPr lang="en-US" altLang="zh-CN" sz="3200" dirty="0"/>
              <a:t>()</a:t>
            </a:r>
            <a:r>
              <a:rPr lang="zh-CN" altLang="en-US" sz="3200" dirty="0"/>
              <a:t>：用于检测变量是否为数字或数字字符串，如果是数字和数字字符串则返回</a:t>
            </a:r>
            <a:r>
              <a:rPr lang="en-US" altLang="zh-CN" sz="3200" dirty="0"/>
              <a:t>TRUE</a:t>
            </a:r>
            <a:r>
              <a:rPr lang="zh-CN" altLang="en-US" sz="3200" dirty="0"/>
              <a:t>，否则返回</a:t>
            </a:r>
            <a:r>
              <a:rPr lang="en-US" altLang="zh-CN" sz="3200" dirty="0"/>
              <a:t>FALSE</a:t>
            </a:r>
            <a:r>
              <a:rPr lang="zh-CN" altLang="en-US" sz="3200" dirty="0"/>
              <a:t>。</a:t>
            </a:r>
            <a:endParaRPr lang="en-US" altLang="zh-CN" sz="3200" dirty="0"/>
          </a:p>
          <a:p>
            <a:r>
              <a:rPr lang="zh-CN" altLang="en-US" sz="3200" dirty="0"/>
              <a:t>绕过手段：</a:t>
            </a:r>
            <a:endParaRPr lang="en-US" altLang="zh-CN" sz="3200" dirty="0"/>
          </a:p>
          <a:p>
            <a:r>
              <a:rPr lang="zh-CN" altLang="en-US" sz="3200" dirty="0"/>
              <a:t>（</a:t>
            </a:r>
            <a:r>
              <a:rPr lang="en-US" altLang="zh-CN" sz="3200" dirty="0"/>
              <a:t>1</a:t>
            </a:r>
            <a:r>
              <a:rPr lang="zh-CN" altLang="en-US" sz="3200" dirty="0"/>
              <a:t>）数字</a:t>
            </a:r>
            <a:r>
              <a:rPr lang="en-US" altLang="zh-CN" sz="3200" dirty="0"/>
              <a:t>+</a:t>
            </a:r>
            <a:r>
              <a:rPr lang="zh-CN" altLang="en-US" sz="3200" dirty="0"/>
              <a:t>字符绕过</a:t>
            </a:r>
            <a:endParaRPr lang="en-US" altLang="zh-CN" sz="3200" dirty="0"/>
          </a:p>
          <a:p>
            <a:endParaRPr lang="en-US" altLang="zh-CN" sz="3200" dirty="0"/>
          </a:p>
          <a:p>
            <a:r>
              <a:rPr lang="zh-CN" altLang="en-US" sz="3200" dirty="0"/>
              <a:t>（</a:t>
            </a:r>
            <a:r>
              <a:rPr lang="en-US" altLang="zh-CN" sz="3200" dirty="0"/>
              <a:t>2</a:t>
            </a:r>
            <a:r>
              <a:rPr lang="zh-CN" altLang="en-US" sz="3200" dirty="0"/>
              <a:t>）空格</a:t>
            </a:r>
            <a:r>
              <a:rPr lang="en-US" altLang="zh-CN" sz="3200" dirty="0"/>
              <a:t>%20</a:t>
            </a:r>
            <a:r>
              <a:rPr lang="zh-CN" altLang="en-US" sz="3200" dirty="0"/>
              <a:t>，空字符</a:t>
            </a:r>
            <a:r>
              <a:rPr lang="en-US" altLang="zh-CN" sz="3200" dirty="0"/>
              <a:t>%00</a:t>
            </a:r>
            <a:r>
              <a:rPr lang="zh-CN" altLang="en-US" sz="3200" dirty="0"/>
              <a:t>绕过</a:t>
            </a:r>
            <a:endParaRPr lang="en-US" altLang="zh-CN" sz="3200" dirty="0"/>
          </a:p>
          <a:p>
            <a:endParaRPr lang="en-US" altLang="zh-CN" sz="3200" dirty="0"/>
          </a:p>
          <a:p>
            <a:endParaRPr lang="en-US" altLang="zh-CN" sz="3200" dirty="0"/>
          </a:p>
          <a:p>
            <a:endParaRPr lang="en-US" altLang="zh-CN" sz="3200" dirty="0"/>
          </a:p>
          <a:p>
            <a:endParaRPr lang="en-US" altLang="zh-CN" sz="3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1.7</a:t>
            </a:r>
            <a:r>
              <a:rPr lang="zh-CN" altLang="en-US" sz="2800" dirty="0">
                <a:latin typeface="+mn-ea"/>
                <a:ea typeface="+mn-ea"/>
              </a:rPr>
              <a:t> </a:t>
            </a:r>
            <a:r>
              <a:rPr lang="en-US" altLang="zh-CN" sz="2800" dirty="0"/>
              <a:t>php</a:t>
            </a:r>
            <a:r>
              <a:rPr lang="zh-CN" altLang="en-US" sz="2800" dirty="0"/>
              <a:t>中常见的函数及绕过姿势</a:t>
            </a:r>
            <a:endParaRPr lang="zh-CN" altLang="en-US" sz="2800" dirty="0">
              <a:latin typeface="+mn-ea"/>
              <a:ea typeface="+mn-ea"/>
            </a:endParaRPr>
          </a:p>
        </p:txBody>
      </p:sp>
      <p:sp>
        <p:nvSpPr>
          <p:cNvPr id="9" name="文本框 8"/>
          <p:cNvSpPr txBox="1"/>
          <p:nvPr/>
        </p:nvSpPr>
        <p:spPr>
          <a:xfrm>
            <a:off x="10386391" y="5967427"/>
            <a:ext cx="1805609" cy="369332"/>
          </a:xfrm>
          <a:prstGeom prst="rect">
            <a:avLst/>
          </a:prstGeom>
          <a:noFill/>
        </p:spPr>
        <p:txBody>
          <a:bodyPr wrap="square" rtlCol="0">
            <a:spAutoFit/>
          </a:bodyPr>
          <a:lstStyle/>
          <a:p>
            <a:pPr algn="ctr"/>
            <a:r>
              <a:rPr lang="en-US" altLang="zh-CN" dirty="0"/>
              <a:t>15</a:t>
            </a:r>
            <a:endParaRPr lang="zh-CN" altLang="en-US" dirty="0"/>
          </a:p>
        </p:txBody>
      </p:sp>
      <p:sp>
        <p:nvSpPr>
          <p:cNvPr id="10" name="文本框 9"/>
          <p:cNvSpPr txBox="1"/>
          <p:nvPr/>
        </p:nvSpPr>
        <p:spPr>
          <a:xfrm>
            <a:off x="547686" y="1584661"/>
            <a:ext cx="10274111" cy="4524315"/>
          </a:xfrm>
          <a:prstGeom prst="rect">
            <a:avLst/>
          </a:prstGeom>
          <a:noFill/>
        </p:spPr>
        <p:txBody>
          <a:bodyPr wrap="square" rtlCol="0">
            <a:spAutoFit/>
          </a:bodyPr>
          <a:lstStyle/>
          <a:p>
            <a:r>
              <a:rPr lang="en-US" altLang="zh-CN" sz="3200" dirty="0" err="1"/>
              <a:t>preg_match</a:t>
            </a:r>
            <a:r>
              <a:rPr lang="en-US" altLang="zh-CN" sz="3200" dirty="0"/>
              <a:t>()</a:t>
            </a:r>
            <a:r>
              <a:rPr lang="zh-CN" altLang="en-US" sz="3200" dirty="0"/>
              <a:t>：将输入的字符串与要搜索的模式进行匹配。匹配成功返回</a:t>
            </a:r>
            <a:r>
              <a:rPr lang="en-US" altLang="zh-CN" sz="3200" dirty="0"/>
              <a:t>1</a:t>
            </a:r>
            <a:r>
              <a:rPr lang="zh-CN" altLang="en-US" sz="3200" dirty="0"/>
              <a:t>，失败返回</a:t>
            </a:r>
            <a:r>
              <a:rPr lang="en-US" altLang="zh-CN" sz="3200" dirty="0"/>
              <a:t>0</a:t>
            </a:r>
            <a:r>
              <a:rPr lang="zh-CN" altLang="en-US" sz="3200" dirty="0"/>
              <a:t>。</a:t>
            </a:r>
            <a:endParaRPr lang="en-US" altLang="zh-CN" sz="3200" dirty="0"/>
          </a:p>
          <a:p>
            <a:endParaRPr lang="en-US" altLang="zh-CN" sz="3200" dirty="0"/>
          </a:p>
          <a:p>
            <a:r>
              <a:rPr lang="zh-CN" altLang="en-US" sz="3200" dirty="0"/>
              <a:t>绕过方法：</a:t>
            </a:r>
            <a:endParaRPr lang="en-US" altLang="zh-CN" sz="3200" dirty="0"/>
          </a:p>
          <a:p>
            <a:r>
              <a:rPr lang="zh-CN" altLang="en-US" sz="3200" dirty="0"/>
              <a:t>（</a:t>
            </a:r>
            <a:r>
              <a:rPr lang="en-US" altLang="zh-CN" sz="3200" dirty="0"/>
              <a:t>1</a:t>
            </a:r>
            <a:r>
              <a:rPr lang="zh-CN" altLang="en-US" sz="3200" dirty="0"/>
              <a:t>）数组绕过</a:t>
            </a:r>
            <a:endParaRPr lang="en-US" altLang="zh-CN" sz="3200" dirty="0"/>
          </a:p>
          <a:p>
            <a:endParaRPr lang="en-US" altLang="zh-CN" sz="3200" dirty="0"/>
          </a:p>
          <a:p>
            <a:r>
              <a:rPr lang="zh-CN" altLang="en-US" sz="3200" dirty="0"/>
              <a:t>（</a:t>
            </a:r>
            <a:r>
              <a:rPr lang="en-US" altLang="zh-CN" sz="3200" dirty="0"/>
              <a:t>2</a:t>
            </a:r>
            <a:r>
              <a:rPr lang="zh-CN" altLang="en-US" sz="3200" dirty="0"/>
              <a:t>）换行符</a:t>
            </a:r>
            <a:r>
              <a:rPr lang="en-US" altLang="zh-CN" sz="3200" dirty="0"/>
              <a:t>%0a</a:t>
            </a:r>
            <a:r>
              <a:rPr lang="zh-CN" altLang="en-US" sz="3200" dirty="0"/>
              <a:t>绕过</a:t>
            </a:r>
            <a:endParaRPr lang="en-US" altLang="zh-CN" sz="3200" dirty="0"/>
          </a:p>
          <a:p>
            <a:endParaRPr lang="zh-CN" altLang="en-US" sz="3200" dirty="0"/>
          </a:p>
          <a:p>
            <a:endParaRPr lang="zh-CN" altLang="en-US"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1.7</a:t>
            </a:r>
            <a:r>
              <a:rPr lang="zh-CN" altLang="en-US" sz="2800" dirty="0">
                <a:latin typeface="+mn-ea"/>
                <a:ea typeface="+mn-ea"/>
              </a:rPr>
              <a:t> </a:t>
            </a:r>
            <a:r>
              <a:rPr lang="en-US" altLang="zh-CN" sz="2800" dirty="0"/>
              <a:t>php</a:t>
            </a:r>
            <a:r>
              <a:rPr lang="zh-CN" altLang="en-US" sz="2800" dirty="0"/>
              <a:t>中常见的函数及绕过姿势</a:t>
            </a:r>
            <a:endParaRPr lang="zh-CN" altLang="en-US" sz="2800" dirty="0">
              <a:latin typeface="+mn-ea"/>
              <a:ea typeface="+mn-ea"/>
            </a:endParaRPr>
          </a:p>
        </p:txBody>
      </p:sp>
      <p:sp>
        <p:nvSpPr>
          <p:cNvPr id="9" name="文本框 8"/>
          <p:cNvSpPr txBox="1"/>
          <p:nvPr/>
        </p:nvSpPr>
        <p:spPr>
          <a:xfrm>
            <a:off x="10386391" y="5967427"/>
            <a:ext cx="1805609" cy="369332"/>
          </a:xfrm>
          <a:prstGeom prst="rect">
            <a:avLst/>
          </a:prstGeom>
          <a:noFill/>
        </p:spPr>
        <p:txBody>
          <a:bodyPr wrap="square" rtlCol="0">
            <a:spAutoFit/>
          </a:bodyPr>
          <a:lstStyle/>
          <a:p>
            <a:pPr algn="ctr"/>
            <a:r>
              <a:rPr lang="en-US" altLang="zh-CN" dirty="0"/>
              <a:t>15</a:t>
            </a:r>
            <a:endParaRPr lang="zh-CN" altLang="en-US" dirty="0"/>
          </a:p>
        </p:txBody>
      </p:sp>
      <p:sp>
        <p:nvSpPr>
          <p:cNvPr id="10" name="文本框 9"/>
          <p:cNvSpPr txBox="1"/>
          <p:nvPr/>
        </p:nvSpPr>
        <p:spPr>
          <a:xfrm>
            <a:off x="757411" y="1506697"/>
            <a:ext cx="10188504" cy="1077218"/>
          </a:xfrm>
          <a:prstGeom prst="rect">
            <a:avLst/>
          </a:prstGeom>
          <a:noFill/>
        </p:spPr>
        <p:txBody>
          <a:bodyPr wrap="square" rtlCol="0">
            <a:spAutoFit/>
          </a:bodyPr>
          <a:lstStyle/>
          <a:p>
            <a:r>
              <a:rPr lang="en-US" altLang="zh-CN" sz="3200" dirty="0" err="1"/>
              <a:t>intval</a:t>
            </a:r>
            <a:r>
              <a:rPr lang="en-US" altLang="zh-CN" sz="3200" dirty="0"/>
              <a:t>(num,[base=10]):</a:t>
            </a:r>
            <a:r>
              <a:rPr lang="zh-CN" altLang="en-US" sz="3200" dirty="0"/>
              <a:t>用于获取变量的整数值，转换为十进制。成功时返回 </a:t>
            </a:r>
            <a:r>
              <a:rPr lang="en-US" altLang="zh-CN" sz="3200" dirty="0"/>
              <a:t>var </a:t>
            </a:r>
            <a:r>
              <a:rPr lang="zh-CN" altLang="en-US" sz="3200" dirty="0"/>
              <a:t>的 </a:t>
            </a:r>
            <a:r>
              <a:rPr lang="en-US" altLang="zh-CN" sz="3200" dirty="0"/>
              <a:t>integer </a:t>
            </a:r>
            <a:r>
              <a:rPr lang="zh-CN" altLang="en-US" sz="3200" dirty="0"/>
              <a:t>值，失败时返回 </a:t>
            </a:r>
            <a:r>
              <a:rPr lang="en-US" altLang="zh-CN" sz="3200" dirty="0"/>
              <a:t>0</a:t>
            </a:r>
            <a:r>
              <a:rPr lang="zh-CN" altLang="en-US" sz="3200" dirty="0"/>
              <a:t>。</a:t>
            </a:r>
            <a:endParaRPr lang="en-US" altLang="zh-CN" sz="3200"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7411" y="2882459"/>
            <a:ext cx="8970134" cy="246884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1.7</a:t>
            </a:r>
            <a:r>
              <a:rPr lang="zh-CN" altLang="en-US" sz="2800" dirty="0">
                <a:latin typeface="+mn-ea"/>
                <a:ea typeface="+mn-ea"/>
              </a:rPr>
              <a:t> </a:t>
            </a:r>
            <a:r>
              <a:rPr lang="en-US" altLang="zh-CN" sz="2800" dirty="0"/>
              <a:t>php</a:t>
            </a:r>
            <a:r>
              <a:rPr lang="zh-CN" altLang="en-US" sz="2800" dirty="0"/>
              <a:t>中常见的函数及绕过姿势</a:t>
            </a:r>
            <a:endParaRPr lang="zh-CN" altLang="en-US" sz="2800" dirty="0">
              <a:latin typeface="+mn-ea"/>
              <a:ea typeface="+mn-ea"/>
            </a:endParaRPr>
          </a:p>
        </p:txBody>
      </p:sp>
      <p:sp>
        <p:nvSpPr>
          <p:cNvPr id="9" name="文本框 8"/>
          <p:cNvSpPr txBox="1"/>
          <p:nvPr/>
        </p:nvSpPr>
        <p:spPr>
          <a:xfrm>
            <a:off x="10386391" y="5967427"/>
            <a:ext cx="1805609" cy="369332"/>
          </a:xfrm>
          <a:prstGeom prst="rect">
            <a:avLst/>
          </a:prstGeom>
          <a:noFill/>
        </p:spPr>
        <p:txBody>
          <a:bodyPr wrap="square" rtlCol="0">
            <a:spAutoFit/>
          </a:bodyPr>
          <a:lstStyle/>
          <a:p>
            <a:pPr algn="ctr"/>
            <a:r>
              <a:rPr lang="en-US" altLang="zh-CN" dirty="0"/>
              <a:t>15</a:t>
            </a:r>
            <a:endParaRPr lang="zh-CN" altLang="en-US" dirty="0"/>
          </a:p>
        </p:txBody>
      </p:sp>
      <p:sp>
        <p:nvSpPr>
          <p:cNvPr id="10" name="文本框 9"/>
          <p:cNvSpPr txBox="1"/>
          <p:nvPr/>
        </p:nvSpPr>
        <p:spPr>
          <a:xfrm>
            <a:off x="547687" y="1296973"/>
            <a:ext cx="10188504" cy="4031873"/>
          </a:xfrm>
          <a:prstGeom prst="rect">
            <a:avLst/>
          </a:prstGeom>
          <a:noFill/>
        </p:spPr>
        <p:txBody>
          <a:bodyPr wrap="square" rtlCol="0">
            <a:spAutoFit/>
          </a:bodyPr>
          <a:lstStyle/>
          <a:p>
            <a:r>
              <a:rPr lang="en-US" altLang="zh-CN" sz="3200" dirty="0" err="1"/>
              <a:t>strcmp</a:t>
            </a:r>
            <a:r>
              <a:rPr lang="en-US" altLang="zh-CN" sz="3200" dirty="0"/>
              <a:t>():</a:t>
            </a:r>
            <a:r>
              <a:rPr lang="zh-CN" altLang="en-US" sz="3200" dirty="0"/>
              <a:t>比较两个字符串（区分大小写）</a:t>
            </a:r>
            <a:endParaRPr lang="en-US" altLang="zh-CN" sz="3200" dirty="0"/>
          </a:p>
          <a:p>
            <a:r>
              <a:rPr lang="zh-CN" altLang="en-US" sz="3200" dirty="0"/>
              <a:t>如果</a:t>
            </a:r>
            <a:r>
              <a:rPr lang="en-US" altLang="zh-CN" sz="3200" dirty="0"/>
              <a:t>str1&lt;str2 </a:t>
            </a:r>
            <a:r>
              <a:rPr lang="zh-CN" altLang="en-US" sz="3200" dirty="0"/>
              <a:t>则返回</a:t>
            </a:r>
            <a:r>
              <a:rPr lang="en-US" altLang="zh-CN" sz="3200" dirty="0"/>
              <a:t>&lt;0 </a:t>
            </a:r>
            <a:r>
              <a:rPr lang="zh-CN" altLang="en-US" sz="3200" dirty="0"/>
              <a:t>如果</a:t>
            </a:r>
            <a:r>
              <a:rPr lang="en-US" altLang="zh-CN" sz="3200" dirty="0"/>
              <a:t>str1</a:t>
            </a:r>
            <a:r>
              <a:rPr lang="zh-CN" altLang="en-US" sz="3200" dirty="0"/>
              <a:t>大于</a:t>
            </a:r>
            <a:r>
              <a:rPr lang="en-US" altLang="zh-CN" sz="3200" dirty="0"/>
              <a:t>str2</a:t>
            </a:r>
            <a:r>
              <a:rPr lang="zh-CN" altLang="en-US" sz="3200" dirty="0"/>
              <a:t>返回</a:t>
            </a:r>
            <a:r>
              <a:rPr lang="en-US" altLang="zh-CN" sz="3200" dirty="0"/>
              <a:t>&gt;0 </a:t>
            </a:r>
            <a:r>
              <a:rPr lang="zh-CN" altLang="en-US" sz="3200" dirty="0"/>
              <a:t>如果两者相等 返回</a:t>
            </a:r>
            <a:r>
              <a:rPr lang="en-US" altLang="zh-CN" sz="3200" dirty="0"/>
              <a:t>0</a:t>
            </a:r>
            <a:endParaRPr lang="en-US" altLang="zh-CN" sz="3200" dirty="0"/>
          </a:p>
          <a:p>
            <a:endParaRPr lang="en-US" altLang="zh-CN" sz="3200" dirty="0"/>
          </a:p>
          <a:p>
            <a:r>
              <a:rPr lang="zh-CN" altLang="en-US" sz="3200" dirty="0"/>
              <a:t>绕过方式：数组绕过</a:t>
            </a:r>
            <a:endParaRPr lang="en-US" altLang="zh-CN" sz="3200" dirty="0"/>
          </a:p>
          <a:p>
            <a:endParaRPr lang="en-US" altLang="zh-CN" sz="3200" dirty="0"/>
          </a:p>
          <a:p>
            <a:endParaRPr lang="en-US" altLang="zh-CN" sz="3200" dirty="0"/>
          </a:p>
          <a:p>
            <a:endParaRPr lang="en-US" altLang="zh-CN"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1.7</a:t>
            </a:r>
            <a:r>
              <a:rPr lang="zh-CN" altLang="en-US" sz="2800" dirty="0">
                <a:latin typeface="+mn-ea"/>
                <a:ea typeface="+mn-ea"/>
              </a:rPr>
              <a:t> </a:t>
            </a:r>
            <a:r>
              <a:rPr lang="en-US" altLang="zh-CN" sz="2800" dirty="0"/>
              <a:t>php</a:t>
            </a:r>
            <a:r>
              <a:rPr lang="zh-CN" altLang="en-US" sz="2800" dirty="0"/>
              <a:t>中常见的函数及绕过姿势</a:t>
            </a:r>
            <a:endParaRPr lang="zh-CN" altLang="en-US" sz="2800" dirty="0">
              <a:latin typeface="+mn-ea"/>
              <a:ea typeface="+mn-ea"/>
            </a:endParaRPr>
          </a:p>
        </p:txBody>
      </p:sp>
      <p:sp>
        <p:nvSpPr>
          <p:cNvPr id="9" name="文本框 8"/>
          <p:cNvSpPr txBox="1"/>
          <p:nvPr/>
        </p:nvSpPr>
        <p:spPr>
          <a:xfrm>
            <a:off x="10386391" y="5967427"/>
            <a:ext cx="1805609" cy="369332"/>
          </a:xfrm>
          <a:prstGeom prst="rect">
            <a:avLst/>
          </a:prstGeom>
          <a:noFill/>
        </p:spPr>
        <p:txBody>
          <a:bodyPr wrap="square" rtlCol="0">
            <a:spAutoFit/>
          </a:bodyPr>
          <a:lstStyle/>
          <a:p>
            <a:pPr algn="ctr"/>
            <a:r>
              <a:rPr lang="en-US" altLang="zh-CN" dirty="0"/>
              <a:t>15</a:t>
            </a:r>
            <a:endParaRPr lang="zh-CN" altLang="en-US" dirty="0"/>
          </a:p>
        </p:txBody>
      </p:sp>
      <p:sp>
        <p:nvSpPr>
          <p:cNvPr id="10" name="文本框 9"/>
          <p:cNvSpPr txBox="1"/>
          <p:nvPr/>
        </p:nvSpPr>
        <p:spPr>
          <a:xfrm>
            <a:off x="547687" y="1296973"/>
            <a:ext cx="10188504" cy="2554545"/>
          </a:xfrm>
          <a:prstGeom prst="rect">
            <a:avLst/>
          </a:prstGeom>
          <a:noFill/>
        </p:spPr>
        <p:txBody>
          <a:bodyPr wrap="square" rtlCol="0">
            <a:spAutoFit/>
          </a:bodyPr>
          <a:lstStyle/>
          <a:p>
            <a:r>
              <a:rPr lang="en-US" altLang="zh-CN" sz="3200" dirty="0" err="1"/>
              <a:t>strpos</a:t>
            </a:r>
            <a:r>
              <a:rPr lang="en-US" altLang="zh-CN" sz="3200" dirty="0"/>
              <a:t>():</a:t>
            </a:r>
            <a:r>
              <a:rPr lang="zh-CN" altLang="en-US" sz="3200" dirty="0"/>
              <a:t>查找字符串在另一字符串中第一次出现的位置，失败时返回</a:t>
            </a:r>
            <a:r>
              <a:rPr lang="en-US" altLang="zh-CN" sz="3200" dirty="0"/>
              <a:t>False</a:t>
            </a:r>
            <a:r>
              <a:rPr lang="zh-CN" altLang="en-US" sz="3200" dirty="0"/>
              <a:t>。</a:t>
            </a:r>
            <a:endParaRPr lang="en-US" altLang="zh-CN" sz="3200" dirty="0"/>
          </a:p>
          <a:p>
            <a:endParaRPr lang="en-US" altLang="zh-CN" sz="3200" dirty="0"/>
          </a:p>
          <a:p>
            <a:r>
              <a:rPr lang="zh-CN" altLang="en-US" sz="3200" dirty="0"/>
              <a:t>绕过方式：数组绕过</a:t>
            </a:r>
            <a:endParaRPr lang="en-US" altLang="zh-CN" sz="3200" dirty="0"/>
          </a:p>
          <a:p>
            <a:endParaRPr lang="en-US" altLang="zh-CN" sz="3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1.8</a:t>
            </a:r>
            <a:r>
              <a:rPr lang="zh-CN" altLang="en-US" sz="2800" dirty="0"/>
              <a:t>变量覆盖 </a:t>
            </a:r>
            <a:endParaRPr lang="zh-CN" altLang="en-US" sz="2800" dirty="0">
              <a:latin typeface="+mn-ea"/>
              <a:ea typeface="+mn-ea"/>
            </a:endParaRPr>
          </a:p>
        </p:txBody>
      </p:sp>
      <p:sp>
        <p:nvSpPr>
          <p:cNvPr id="6" name="文本框 5"/>
          <p:cNvSpPr txBox="1"/>
          <p:nvPr/>
        </p:nvSpPr>
        <p:spPr>
          <a:xfrm>
            <a:off x="10386391" y="5967427"/>
            <a:ext cx="1805609" cy="369332"/>
          </a:xfrm>
          <a:prstGeom prst="rect">
            <a:avLst/>
          </a:prstGeom>
          <a:noFill/>
        </p:spPr>
        <p:txBody>
          <a:bodyPr wrap="square" rtlCol="0">
            <a:spAutoFit/>
          </a:bodyPr>
          <a:lstStyle/>
          <a:p>
            <a:pPr algn="ctr"/>
            <a:r>
              <a:rPr lang="en-US" altLang="zh-CN" dirty="0"/>
              <a:t>16</a:t>
            </a:r>
            <a:endParaRPr lang="zh-CN" altLang="en-US" dirty="0"/>
          </a:p>
        </p:txBody>
      </p:sp>
      <p:sp>
        <p:nvSpPr>
          <p:cNvPr id="11" name="文本框 10"/>
          <p:cNvSpPr txBox="1"/>
          <p:nvPr/>
        </p:nvSpPr>
        <p:spPr>
          <a:xfrm>
            <a:off x="547687" y="1296973"/>
            <a:ext cx="10188504" cy="1569660"/>
          </a:xfrm>
          <a:prstGeom prst="rect">
            <a:avLst/>
          </a:prstGeom>
          <a:noFill/>
        </p:spPr>
        <p:txBody>
          <a:bodyPr wrap="square" rtlCol="0">
            <a:spAutoFit/>
          </a:bodyPr>
          <a:lstStyle/>
          <a:p>
            <a:r>
              <a:rPr lang="zh-CN" altLang="en-US" sz="3200" dirty="0"/>
              <a:t>什么是变量覆盖：</a:t>
            </a:r>
            <a:endParaRPr lang="en-US" altLang="zh-CN" sz="3200" dirty="0"/>
          </a:p>
          <a:p>
            <a:r>
              <a:rPr lang="en-US" altLang="zh-CN" sz="3200" dirty="0"/>
              <a:t>	</a:t>
            </a:r>
            <a:r>
              <a:rPr lang="zh-CN" altLang="en-US" sz="3200" dirty="0"/>
              <a:t>变量覆盖指的是可以用我们的传参值代替程序原有的变量值</a:t>
            </a:r>
            <a:endParaRPr lang="en-US" altLang="zh-CN" sz="3200" dirty="0"/>
          </a:p>
        </p:txBody>
      </p:sp>
      <p:sp>
        <p:nvSpPr>
          <p:cNvPr id="12" name="文本框 11"/>
          <p:cNvSpPr txBox="1"/>
          <p:nvPr/>
        </p:nvSpPr>
        <p:spPr>
          <a:xfrm>
            <a:off x="625726" y="3344664"/>
            <a:ext cx="10188504" cy="2554545"/>
          </a:xfrm>
          <a:prstGeom prst="rect">
            <a:avLst/>
          </a:prstGeom>
          <a:noFill/>
        </p:spPr>
        <p:txBody>
          <a:bodyPr wrap="square" rtlCol="0">
            <a:spAutoFit/>
          </a:bodyPr>
          <a:lstStyle/>
          <a:p>
            <a:r>
              <a:rPr lang="zh-CN" altLang="en-US" sz="3200" dirty="0"/>
              <a:t>哪里存在变量覆盖：</a:t>
            </a:r>
            <a:endParaRPr lang="en-US" altLang="zh-CN" sz="3200" dirty="0"/>
          </a:p>
          <a:p>
            <a:r>
              <a:rPr lang="en-US" altLang="zh-CN" sz="3200" dirty="0"/>
              <a:t>	</a:t>
            </a:r>
            <a:r>
              <a:rPr lang="zh-CN" altLang="en-US" sz="3200" dirty="0"/>
              <a:t>经常导致变量覆盖漏洞场景有：</a:t>
            </a:r>
            <a:r>
              <a:rPr lang="en-US" altLang="zh-CN" sz="3200" dirty="0"/>
              <a:t>$$</a:t>
            </a:r>
            <a:r>
              <a:rPr lang="zh-CN" altLang="en-US" sz="3200" dirty="0"/>
              <a:t>，</a:t>
            </a:r>
            <a:r>
              <a:rPr lang="en-US" altLang="zh-CN" sz="3200" dirty="0"/>
              <a:t>extract()</a:t>
            </a:r>
            <a:r>
              <a:rPr lang="zh-CN" altLang="en-US" sz="3200" dirty="0"/>
              <a:t>函数，</a:t>
            </a:r>
            <a:r>
              <a:rPr lang="en-US" altLang="zh-CN" sz="3200" dirty="0" err="1"/>
              <a:t>parse_str</a:t>
            </a:r>
            <a:r>
              <a:rPr lang="en-US" altLang="zh-CN" sz="3200" dirty="0"/>
              <a:t>()</a:t>
            </a:r>
            <a:r>
              <a:rPr lang="zh-CN" altLang="en-US" sz="3200" dirty="0"/>
              <a:t>函数等</a:t>
            </a:r>
            <a:r>
              <a:rPr lang="en-US" altLang="zh-CN" sz="3200" dirty="0"/>
              <a:t>.</a:t>
            </a:r>
            <a:endParaRPr lang="en-US" altLang="zh-CN" sz="3200" dirty="0"/>
          </a:p>
          <a:p>
            <a:endParaRPr lang="en-US" altLang="zh-CN" sz="3200" dirty="0"/>
          </a:p>
          <a:p>
            <a:endParaRPr lang="en-US" altLang="zh-CN" sz="3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547687" y="0"/>
            <a:ext cx="10850563" cy="1028700"/>
          </a:xfrm>
          <a:prstGeom prst="rect">
            <a:avLst/>
          </a:prstGeom>
        </p:spPr>
        <p:txBody>
          <a:bodyPr vert="horz" lIns="91440" tIns="45720" rIns="91440" bIns="45720" rtlCol="0" anchor="b" anchorCtr="0">
            <a:normAutofit/>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2800" dirty="0">
                <a:latin typeface="+mn-ea"/>
                <a:ea typeface="+mn-ea"/>
              </a:rPr>
              <a:t>1.8</a:t>
            </a:r>
            <a:r>
              <a:rPr lang="zh-CN" altLang="en-US" sz="2800" dirty="0"/>
              <a:t>变量覆盖 </a:t>
            </a:r>
            <a:endParaRPr lang="zh-CN" altLang="en-US" sz="2800" dirty="0">
              <a:latin typeface="+mn-ea"/>
              <a:ea typeface="+mn-ea"/>
            </a:endParaRPr>
          </a:p>
        </p:txBody>
      </p:sp>
      <p:sp>
        <p:nvSpPr>
          <p:cNvPr id="6" name="文本框 5"/>
          <p:cNvSpPr txBox="1"/>
          <p:nvPr/>
        </p:nvSpPr>
        <p:spPr>
          <a:xfrm>
            <a:off x="10386391" y="5967427"/>
            <a:ext cx="1805609" cy="369332"/>
          </a:xfrm>
          <a:prstGeom prst="rect">
            <a:avLst/>
          </a:prstGeom>
          <a:noFill/>
        </p:spPr>
        <p:txBody>
          <a:bodyPr wrap="square" rtlCol="0">
            <a:spAutoFit/>
          </a:bodyPr>
          <a:lstStyle/>
          <a:p>
            <a:pPr algn="ctr"/>
            <a:r>
              <a:rPr lang="en-US" altLang="zh-CN" dirty="0"/>
              <a:t>16</a:t>
            </a:r>
            <a:endParaRPr lang="zh-CN" altLang="en-US" dirty="0"/>
          </a:p>
        </p:txBody>
      </p:sp>
      <p:sp>
        <p:nvSpPr>
          <p:cNvPr id="11" name="文本框 10"/>
          <p:cNvSpPr txBox="1"/>
          <p:nvPr/>
        </p:nvSpPr>
        <p:spPr>
          <a:xfrm>
            <a:off x="547687" y="1296973"/>
            <a:ext cx="10188504" cy="1569660"/>
          </a:xfrm>
          <a:prstGeom prst="rect">
            <a:avLst/>
          </a:prstGeom>
          <a:noFill/>
        </p:spPr>
        <p:txBody>
          <a:bodyPr wrap="square" rtlCol="0">
            <a:spAutoFit/>
          </a:bodyPr>
          <a:lstStyle/>
          <a:p>
            <a:r>
              <a:rPr lang="en-US" altLang="zh-CN" sz="3200" dirty="0"/>
              <a:t>$$</a:t>
            </a:r>
            <a:r>
              <a:rPr lang="zh-CN" altLang="en-US" sz="3200" dirty="0"/>
              <a:t>：表示的是一个可变变量获取了一个普通变量的值作为这个可变变量的变量名</a:t>
            </a:r>
            <a:endParaRPr lang="en-US" altLang="zh-CN" sz="3200" dirty="0"/>
          </a:p>
          <a:p>
            <a:r>
              <a:rPr lang="en-US" altLang="zh-CN" sz="3200" dirty="0"/>
              <a:t>	</a:t>
            </a:r>
            <a:endParaRPr lang="en-US" altLang="zh-CN" sz="3200"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95107" y="2531942"/>
            <a:ext cx="3770176" cy="377017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246324" y="3620022"/>
            <a:ext cx="5787024" cy="1087416"/>
          </a:xfrm>
          <a:prstGeom prst="rect">
            <a:avLst/>
          </a:prstGeom>
        </p:spPr>
        <p:txBody>
          <a:bodyPr vert="horz" lIns="91440" tIns="45720" rIns="91440" bIns="45720" rtlCol="0" anchor="b" anchorCtr="0">
            <a:normAutofit fontScale="92500" lnSpcReduction="10000"/>
          </a:bodyPr>
          <a:lstStyle>
            <a:lvl1pPr algn="l" defTabSz="914400" rtl="0" eaLnBrk="1" latinLnBrk="0" hangingPunct="1">
              <a:lnSpc>
                <a:spcPct val="90000"/>
              </a:lnSpc>
              <a:spcBef>
                <a:spcPct val="0"/>
              </a:spcBef>
              <a:buNone/>
              <a:defRPr sz="4000" b="1" kern="1200">
                <a:solidFill>
                  <a:srgbClr val="394479"/>
                </a:solidFill>
                <a:latin typeface="+mj-lt"/>
                <a:ea typeface="+mj-ea"/>
                <a:cs typeface="+mj-cs"/>
              </a:defRPr>
            </a:lvl1pPr>
          </a:lstStyle>
          <a:p>
            <a:r>
              <a:rPr lang="en-US" altLang="zh-CN" sz="8800" dirty="0">
                <a:latin typeface="+mn-ea"/>
                <a:ea typeface="+mn-ea"/>
              </a:rPr>
              <a:t>Thanks</a:t>
            </a:r>
            <a:endParaRPr lang="zh-CN" altLang="en-US" sz="8800" dirty="0">
              <a:latin typeface="+mn-ea"/>
              <a:ea typeface="+mn-ea"/>
            </a:endParaRPr>
          </a:p>
        </p:txBody>
      </p:sp>
    </p:spTree>
  </p:cSld>
  <p:clrMapOvr>
    <a:masterClrMapping/>
  </p:clrMapOvr>
</p:sld>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主题5">
  <a:themeElements>
    <a:clrScheme name="University of Malaya">
      <a:dk1>
        <a:srgbClr val="000000"/>
      </a:dk1>
      <a:lt1>
        <a:srgbClr val="FFFFFF"/>
      </a:lt1>
      <a:dk2>
        <a:srgbClr val="768395"/>
      </a:dk2>
      <a:lt2>
        <a:srgbClr val="F0F0F0"/>
      </a:lt2>
      <a:accent1>
        <a:srgbClr val="019844"/>
      </a:accent1>
      <a:accent2>
        <a:srgbClr val="E82209"/>
      </a:accent2>
      <a:accent3>
        <a:srgbClr val="FCC300"/>
      </a:accent3>
      <a:accent4>
        <a:srgbClr val="0B52A2"/>
      </a:accent4>
      <a:accent5>
        <a:srgbClr val="0D8ECC"/>
      </a:accent5>
      <a:accent6>
        <a:srgbClr val="ABDBDF"/>
      </a:accent6>
      <a:hlink>
        <a:srgbClr val="4472C4"/>
      </a:hlink>
      <a:folHlink>
        <a:srgbClr val="BFBFBF"/>
      </a:folHlink>
    </a:clrScheme>
    <a:fontScheme name="tdl3kz1d">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University of Malaya">
    <a:dk1>
      <a:srgbClr val="000000"/>
    </a:dk1>
    <a:lt1>
      <a:srgbClr val="FFFFFF"/>
    </a:lt1>
    <a:dk2>
      <a:srgbClr val="768395"/>
    </a:dk2>
    <a:lt2>
      <a:srgbClr val="F0F0F0"/>
    </a:lt2>
    <a:accent1>
      <a:srgbClr val="019844"/>
    </a:accent1>
    <a:accent2>
      <a:srgbClr val="E82209"/>
    </a:accent2>
    <a:accent3>
      <a:srgbClr val="FCC300"/>
    </a:accent3>
    <a:accent4>
      <a:srgbClr val="0B52A2"/>
    </a:accent4>
    <a:accent5>
      <a:srgbClr val="0D8ECC"/>
    </a:accent5>
    <a:accent6>
      <a:srgbClr val="ABDBDF"/>
    </a:accent6>
    <a:hlink>
      <a:srgbClr val="4472C4"/>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1763</Words>
  <Application>WPS 演示</Application>
  <PresentationFormat>宽屏</PresentationFormat>
  <Paragraphs>257</Paragraphs>
  <Slides>23</Slides>
  <Notes>12</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23</vt:i4>
      </vt:variant>
    </vt:vector>
  </HeadingPairs>
  <TitlesOfParts>
    <vt:vector size="38" baseType="lpstr">
      <vt:lpstr>Arial</vt:lpstr>
      <vt:lpstr>宋体</vt:lpstr>
      <vt:lpstr>Wingdings</vt:lpstr>
      <vt:lpstr>华光中圆_CNKI</vt:lpstr>
      <vt:lpstr>Times New Roman</vt:lpstr>
      <vt:lpstr>黑体</vt:lpstr>
      <vt:lpstr>微软雅黑</vt:lpstr>
      <vt:lpstr>Arial Unicode MS</vt:lpstr>
      <vt:lpstr>等线</vt:lpstr>
      <vt:lpstr>Calibri</vt:lpstr>
      <vt:lpstr>Wingdings</vt:lpstr>
      <vt:lpstr>华光中圆_CNKI</vt:lpstr>
      <vt:lpstr>Segoe Print</vt:lpstr>
      <vt:lpstr>webwppDefTheme</vt:lpstr>
      <vt:lpstr>主题5</vt:lpstr>
      <vt:lpstr>网络空间安全竞赛体验课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主标题</dc:title>
  <dc:creator>Hansen</dc:creator>
  <cp:lastModifiedBy>瑞通成物流-邹先生</cp:lastModifiedBy>
  <cp:revision>92</cp:revision>
  <dcterms:created xsi:type="dcterms:W3CDTF">2020-11-19T00:54:00Z</dcterms:created>
  <dcterms:modified xsi:type="dcterms:W3CDTF">2026-03-01T16:13:52Z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y fmtid="{D5CDD505-2E9C-101B-9397-08002B2CF9AE}" pid="3" name="KSOProductBuildVer">
    <vt:lpwstr>2052-12.1.0.25225</vt:lpwstr>
  </property>
  <property fmtid="{D5CDD505-2E9C-101B-9397-08002B2CF9AE}" pid="4" name="ICV">
    <vt:lpwstr>61BB32C791A0465F8FD19F2315ED5865_12</vt:lpwstr>
  </property>
</Properties>
</file>