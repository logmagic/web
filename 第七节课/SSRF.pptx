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7" r:id="rId3"/>
  </p:sldMasterIdLst>
  <p:notesMasterIdLst>
    <p:notesMasterId r:id="rId5"/>
  </p:notesMasterIdLst>
  <p:sldIdLst>
    <p:sldId id="256" r:id="rId4"/>
    <p:sldId id="613" r:id="rId6"/>
    <p:sldId id="641" r:id="rId7"/>
    <p:sldId id="662" r:id="rId8"/>
    <p:sldId id="663" r:id="rId9"/>
    <p:sldId id="664" r:id="rId10"/>
    <p:sldId id="665" r:id="rId11"/>
    <p:sldId id="758" r:id="rId12"/>
    <p:sldId id="669" r:id="rId13"/>
    <p:sldId id="666" r:id="rId14"/>
    <p:sldId id="670" r:id="rId15"/>
    <p:sldId id="671" r:id="rId16"/>
    <p:sldId id="754" r:id="rId17"/>
    <p:sldId id="756" r:id="rId18"/>
    <p:sldId id="755" r:id="rId19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7" userDrawn="1">
          <p15:clr>
            <a:srgbClr val="A4A3A4"/>
          </p15:clr>
        </p15:guide>
        <p15:guide id="2" pos="3839" userDrawn="1">
          <p15:clr>
            <a:srgbClr val="A4A3A4"/>
          </p15:clr>
        </p15:guide>
        <p15:guide id="3" pos="6791" userDrawn="1">
          <p15:clr>
            <a:srgbClr val="A4A3A4"/>
          </p15:clr>
        </p15:guide>
        <p15:guide id="4" pos="844" userDrawn="1">
          <p15:clr>
            <a:srgbClr val="A4A3A4"/>
          </p15:clr>
        </p15:guide>
        <p15:guide id="5" orient="horz" pos="648" userDrawn="1">
          <p15:clr>
            <a:srgbClr val="A4A3A4"/>
          </p15:clr>
        </p15:guide>
        <p15:guide id="6" orient="horz" pos="51" userDrawn="1">
          <p15:clr>
            <a:srgbClr val="A4A3A4"/>
          </p15:clr>
        </p15:guide>
        <p15:guide id="7" orient="horz" pos="3992" userDrawn="1">
          <p15:clr>
            <a:srgbClr val="A4A3A4"/>
          </p15:clr>
        </p15:guide>
        <p15:guide id="8" orient="horz" pos="314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华" initials="李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  <a:srgbClr val="1A4157"/>
    <a:srgbClr val="394479"/>
    <a:srgbClr val="D9D9D9"/>
    <a:srgbClr val="BC3649"/>
    <a:srgbClr val="557788"/>
    <a:srgbClr val="8CA3AE"/>
    <a:srgbClr val="416C69"/>
    <a:srgbClr val="006C30"/>
    <a:srgbClr val="ADB5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 autoAdjust="0"/>
    <p:restoredTop sz="93369" autoAdjust="0"/>
  </p:normalViewPr>
  <p:slideViewPr>
    <p:cSldViewPr snapToGrid="0" showGuides="1">
      <p:cViewPr varScale="1">
        <p:scale>
          <a:sx n="63" d="100"/>
          <a:sy n="63" d="100"/>
        </p:scale>
        <p:origin x="729" y="54"/>
      </p:cViewPr>
      <p:guideLst>
        <p:guide orient="horz" pos="1947"/>
        <p:guide pos="3839"/>
        <p:guide pos="6791"/>
        <p:guide pos="844"/>
        <p:guide orient="horz" pos="648"/>
        <p:guide orient="horz" pos="51"/>
        <p:guide orient="horz" pos="3992"/>
        <p:guide orient="horz" pos="31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8F2AF-B165-49ED-8D49-F91D3C9FFC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比赛的第三种模式是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混合模式（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Mix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这种模式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结合了解题模式与攻防模式的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赛制，比如参赛队伍通过解题可以获取一些初始分数，然后通过攻防对抗进行得分增减的零和游戏，最终以得分高低分出胜负。采用混合模式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赛制的例子有：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RuCTF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：由俄罗斯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Hackerdom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组织，解题模式资格赛面向全球参赛，它的决赛就是混合模式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Mix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/>
            </a:lvl1pPr>
          </a:lstStyle>
          <a:p>
            <a:r>
              <a:rPr>
                <a:sym typeface="+mn-ea"/>
              </a:rPr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1pPr>
            <a:lvl2pPr marL="457200" lvl="1" indent="0" defTabSz="914400">
              <a:buNone/>
              <a:tabLst>
                <a:tab pos="1609725" algn="l"/>
              </a:tabLst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2pPr>
            <a:lvl3pPr lvl="2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3pPr>
            <a:lvl4pPr lvl="3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4pPr>
            <a:lvl5pPr lvl="4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1"/>
            <a:ext cx="12192000" cy="6858000"/>
          </a:xfrm>
          <a:prstGeom prst="rect">
            <a:avLst/>
          </a:prstGeom>
        </p:spPr>
      </p:pic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673100" y="3870251"/>
            <a:ext cx="10845800" cy="468637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>
                <a:solidFill>
                  <a:srgbClr val="38447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673099" y="2920209"/>
            <a:ext cx="10845800" cy="894050"/>
          </a:xfrm>
        </p:spPr>
        <p:txBody>
          <a:bodyPr anchor="ctr" anchorCtr="1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4394880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4766355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81000" cy="3429000"/>
          </a:xfrm>
          <a:prstGeom prst="rect">
            <a:avLst/>
          </a:prstGeom>
          <a:solidFill>
            <a:srgbClr val="C42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381000" cy="381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8763001" y="6477000"/>
            <a:ext cx="3429000" cy="381000"/>
            <a:chOff x="8763001" y="6477000"/>
            <a:chExt cx="3429000" cy="381000"/>
          </a:xfrm>
        </p:grpSpPr>
        <p:sp>
          <p:nvSpPr>
            <p:cNvPr id="10" name="Rectangle 9"/>
            <p:cNvSpPr/>
            <p:nvPr userDrawn="1"/>
          </p:nvSpPr>
          <p:spPr>
            <a:xfrm rot="5400000">
              <a:off x="10287001" y="4953000"/>
              <a:ext cx="381000" cy="34290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4" name="Rectangle 13"/>
            <p:cNvSpPr/>
            <p:nvPr userDrawn="1"/>
          </p:nvSpPr>
          <p:spPr>
            <a:xfrm rot="5400000">
              <a:off x="11811001" y="6477000"/>
              <a:ext cx="381000" cy="3810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1028" name="Picture 4" descr="http://zsjy.gzhu.edu.cn/images/pic_logo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5034" b="-7143"/>
          <a:stretch>
            <a:fillRect/>
          </a:stretch>
        </p:blipFill>
        <p:spPr bwMode="auto">
          <a:xfrm>
            <a:off x="391886" y="-1"/>
            <a:ext cx="3463289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86" y="-39914"/>
            <a:ext cx="1113116" cy="111311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063" y="-19958"/>
            <a:ext cx="1484186" cy="10686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8" name="Rectangle 7"/>
          <p:cNvSpPr/>
          <p:nvPr userDrawn="1"/>
        </p:nvSpPr>
        <p:spPr>
          <a:xfrm>
            <a:off x="11582400" y="0"/>
            <a:ext cx="612648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0" name="Picture Placeholder 2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2800" cy="6858000"/>
          </a:xfrm>
        </p:spPr>
        <p:txBody>
          <a:bodyPr/>
          <a:lstStyle/>
          <a:p>
            <a:endParaRPr lang="en-MY"/>
          </a:p>
        </p:txBody>
      </p:sp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3944679" y="0"/>
            <a:ext cx="7575809" cy="1028700"/>
          </a:xfrm>
        </p:spPr>
        <p:txBody>
          <a:bodyPr lIns="0" anchor="b" anchorCtr="0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2192000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1649807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09756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582401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  <a:noFill/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grp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grp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  <a:solidFill>
            <a:srgbClr val="002060"/>
          </a:solidFill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2" y="6176962"/>
            <a:ext cx="2438400" cy="752475"/>
          </a:xfrm>
          <a:prstGeom prst="rect">
            <a:avLst/>
          </a:prstGeom>
        </p:spPr>
      </p:pic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669924" y="1123950"/>
            <a:ext cx="10850563" cy="50196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  <a:solidFill>
            <a:srgbClr val="002060"/>
          </a:solidFill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2" y="6176962"/>
            <a:ext cx="2438400" cy="7524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0" cy="6858001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69924" y="3456451"/>
            <a:ext cx="10850563" cy="869854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4" y="4406734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accent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69924" y="4722368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时间日期</a:t>
            </a:r>
            <a:endParaRPr lang="en-US" altLang="zh-CN" dirty="0"/>
          </a:p>
        </p:txBody>
      </p:sp>
      <p:grpSp>
        <p:nvGrpSpPr>
          <p:cNvPr id="6" name="Group 5"/>
          <p:cNvGrpSpPr/>
          <p:nvPr userDrawn="1"/>
        </p:nvGrpSpPr>
        <p:grpSpPr>
          <a:xfrm rot="5400000">
            <a:off x="10442716" y="202243"/>
            <a:ext cx="69568" cy="3429000"/>
            <a:chOff x="0" y="0"/>
            <a:chExt cx="381000" cy="3429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 rot="16200000">
            <a:off x="1679716" y="202243"/>
            <a:ext cx="69568" cy="3429000"/>
            <a:chOff x="0" y="0"/>
            <a:chExt cx="381000" cy="342900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465" y="1123950"/>
            <a:ext cx="1553273" cy="155327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591" y="1140104"/>
            <a:ext cx="2157323" cy="155327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996" y="1077943"/>
            <a:ext cx="1677597" cy="167759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2C0D-3978-4D00-BE11-3FF38497FC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F69DF-D574-4037-B6A5-58CCD724C6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defTabSz="914400">
              <a:defRPr lang="zh-CN" altLang="en-US" sz="3200" dirty="0"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b="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35700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35700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35700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0" y="2466791"/>
            <a:ext cx="12192000" cy="894080"/>
          </a:xfrm>
        </p:spPr>
        <p:txBody>
          <a:bodyPr>
            <a:noAutofit/>
          </a:bodyPr>
          <a:lstStyle/>
          <a:p>
            <a:r>
              <a:rPr lang="en-US" sz="3200">
                <a:sym typeface="+mn-ea"/>
              </a:rPr>
              <a:t>SSRF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  <a:latin typeface="华光中圆_CNKI" panose="02000500000000000000" pitchFamily="2" charset="-122"/>
              <a:ea typeface="华光中圆_CNKI" panose="02000500000000000000" pitchFamily="2" charset="-122"/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673098" y="4711552"/>
            <a:ext cx="10845800" cy="1709126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指导老师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鲁辉，何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郁郁</a:t>
            </a:r>
            <a:endParaRPr lang="zh-CN" altLang="en-US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助教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邹瑞恒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</a:pPr>
            <a:endParaRPr lang="zh-CN" altLang="en-US" sz="1800" dirty="0">
              <a:latin typeface="方正正中黑简体" panose="02000000000000000000" pitchFamily="2" charset="-122"/>
              <a:ea typeface="方正正中黑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+mn-ea"/>
                <a:ea typeface="+mn-ea"/>
              </a:rPr>
              <a:t>1.1</a:t>
            </a:r>
            <a:r>
              <a:rPr lang="zh-CN" altLang="en-US" sz="2800" dirty="0">
                <a:latin typeface="+mn-ea"/>
                <a:ea typeface="+mn-ea"/>
              </a:rPr>
              <a:t>定义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01570" y="2192655"/>
            <a:ext cx="850709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kumimoji="1" sz="2800" dirty="0">
              <a:latin typeface="+mn-ea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sz="2800" dirty="0">
                <a:latin typeface="+mn-ea"/>
              </a:rPr>
              <a:t>伪造服务端发送</a:t>
            </a:r>
            <a:r>
              <a:rPr kumimoji="1" lang="zh-CN" sz="2800" dirty="0">
                <a:latin typeface="+mn-ea"/>
              </a:rPr>
              <a:t>恶意请求</a:t>
            </a:r>
            <a:endParaRPr kumimoji="1" sz="2800" dirty="0">
              <a:latin typeface="+mn-ea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kumimoji="1" sz="2800" dirty="0">
              <a:latin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373329" y="5811720"/>
            <a:ext cx="18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1.2</a:t>
            </a:r>
            <a:r>
              <a:rPr lang="zh-CN" altLang="en-US" sz="2800" dirty="0">
                <a:latin typeface="+mn-ea"/>
                <a:ea typeface="+mn-ea"/>
              </a:rPr>
              <a:t> 为什么要伪造请求</a:t>
            </a:r>
            <a:r>
              <a:rPr lang="zh-CN" altLang="en-US" sz="2800" dirty="0">
                <a:latin typeface="+mn-ea"/>
                <a:ea typeface="+mn-ea"/>
              </a:rPr>
              <a:t>呢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615440" y="1729105"/>
            <a:ext cx="8771255" cy="3538220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6391" y="5967427"/>
            <a:ext cx="18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445" y="1726565"/>
            <a:ext cx="876300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33880" y="1924927"/>
            <a:ext cx="82124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file_get_contents() 与 readfile()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1.3</a:t>
            </a:r>
            <a:r>
              <a:rPr lang="zh-CN" altLang="en-US" sz="2800" dirty="0">
                <a:latin typeface="+mn-ea"/>
                <a:ea typeface="+mn-ea"/>
              </a:rPr>
              <a:t>怎么样的服务器</a:t>
            </a:r>
            <a:r>
              <a:rPr lang="zh-CN" altLang="en-US" sz="2800" dirty="0">
                <a:latin typeface="+mn-ea"/>
                <a:ea typeface="+mn-ea"/>
              </a:rPr>
              <a:t>才能发送请求呢</a:t>
            </a:r>
            <a:r>
              <a:rPr lang="en-US" altLang="zh-CN" sz="2800" dirty="0">
                <a:latin typeface="+mn-ea"/>
                <a:ea typeface="+mn-ea"/>
              </a:rPr>
              <a:t>?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386391" y="5967427"/>
            <a:ext cx="18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341755" y="2570087"/>
            <a:ext cx="821245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>
              <a:lnSpc>
                <a:spcPct val="150000"/>
              </a:lnSpc>
            </a:pPr>
            <a:r>
              <a:rPr lang="en-US" altLang="zh-CN" sz="2400">
                <a:sym typeface="+mn-ea"/>
              </a:rPr>
              <a:t>2.</a:t>
            </a:r>
            <a:r>
              <a:rPr lang="zh-CN" altLang="en-US" sz="2400">
                <a:sym typeface="+mn-ea"/>
              </a:rPr>
              <a:t>fsockopen()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33880" y="3429000"/>
            <a:ext cx="60426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/>
              <a:t>3.</a:t>
            </a:r>
            <a:r>
              <a:rPr lang="zh-CN" altLang="en-US" sz="2400"/>
              <a:t>curl_exec()</a:t>
            </a:r>
            <a:endParaRPr lang="zh-CN" alt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1833880" y="1279767"/>
            <a:ext cx="82124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抓住能够触发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ssrf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危险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1.4</a:t>
            </a:r>
            <a:r>
              <a:rPr lang="zh-CN" altLang="en-US" sz="2800" dirty="0">
                <a:latin typeface="+mn-ea"/>
                <a:ea typeface="+mn-ea"/>
              </a:rPr>
              <a:t>如何构造恶意请求呢</a:t>
            </a:r>
            <a:r>
              <a:rPr lang="en-US" altLang="zh-CN" sz="2800" dirty="0">
                <a:latin typeface="+mn-ea"/>
                <a:ea typeface="+mn-ea"/>
              </a:rPr>
              <a:t>?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6391" y="5967427"/>
            <a:ext cx="18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119630" y="1580515"/>
            <a:ext cx="7706995" cy="535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/>
              <a:t>                            </a:t>
            </a:r>
            <a:r>
              <a:rPr lang="zh-CN" altLang="en-US" sz="2800"/>
              <a:t>妙用各种</a:t>
            </a:r>
            <a:r>
              <a:rPr lang="zh-CN" altLang="en-US" sz="2800"/>
              <a:t>协议</a:t>
            </a:r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100965" y="2116455"/>
            <a:ext cx="98882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ym typeface="+mn-ea"/>
              </a:rPr>
              <a:t>file://</a:t>
            </a:r>
            <a:r>
              <a:rPr lang="zh-CN" altLang="en-US" sz="2800">
                <a:sym typeface="+mn-ea"/>
              </a:rPr>
              <a:t>协议读取本地文件</a:t>
            </a:r>
            <a:r>
              <a:rPr lang="en-US" altLang="zh-CN" sz="2800">
                <a:sym typeface="+mn-ea"/>
              </a:rPr>
              <a:t> </a:t>
            </a:r>
            <a:r>
              <a:rPr lang="zh-CN" altLang="en-US" sz="2800">
                <a:sym typeface="+mn-ea"/>
              </a:rPr>
              <a:t>例子</a:t>
            </a:r>
            <a:r>
              <a:rPr lang="en-US" altLang="zh-CN" sz="2800">
                <a:sym typeface="+mn-ea"/>
              </a:rPr>
              <a:t>:file///flag  file://c://ssrf-lab.php</a:t>
            </a:r>
            <a:endParaRPr lang="en-US" altLang="zh-CN" sz="28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965" y="2778125"/>
            <a:ext cx="131051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>
                <a:sym typeface="+mn-ea"/>
              </a:rPr>
              <a:t>http://</a:t>
            </a:r>
            <a:r>
              <a:rPr lang="zh-CN" altLang="en-US" sz="2800">
                <a:sym typeface="+mn-ea"/>
              </a:rPr>
              <a:t>协议访问网络资源</a:t>
            </a:r>
            <a:r>
              <a:rPr lang="en-US" altLang="zh-CN" sz="2800">
                <a:sym typeface="+mn-ea"/>
              </a:rPr>
              <a:t>    </a:t>
            </a:r>
            <a:r>
              <a:rPr lang="zh-CN" altLang="en-US" sz="2800">
                <a:sym typeface="+mn-ea"/>
              </a:rPr>
              <a:t>例子</a:t>
            </a:r>
            <a:r>
              <a:rPr lang="en-US" altLang="zh-CN" sz="2800">
                <a:sym typeface="+mn-ea"/>
              </a:rPr>
              <a:t>:</a:t>
            </a:r>
            <a:r>
              <a:rPr lang="en-US" altLang="zh-CN" sz="2800">
                <a:sym typeface="+mn-ea"/>
              </a:rPr>
              <a:t>http://www.baidu.com http://127.0.0.1:80/flag</a:t>
            </a:r>
            <a:endParaRPr lang="en-US" altLang="zh-CN" sz="28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0965" y="3395345"/>
            <a:ext cx="115773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ym typeface="+mn-ea"/>
              </a:rPr>
              <a:t>gopher://</a:t>
            </a:r>
            <a:r>
              <a:rPr lang="zh-CN" altLang="en-US" sz="2800">
                <a:sym typeface="+mn-ea"/>
              </a:rPr>
              <a:t>协议伪造各种服务的请求</a:t>
            </a:r>
            <a:r>
              <a:rPr lang="en-US" altLang="zh-CN" sz="2800">
                <a:sym typeface="+mn-ea"/>
              </a:rPr>
              <a:t>    </a:t>
            </a:r>
            <a:r>
              <a:rPr lang="zh-CN" altLang="en-US" sz="2800">
                <a:sym typeface="+mn-ea"/>
              </a:rPr>
              <a:t>例子</a:t>
            </a:r>
            <a:r>
              <a:rPr lang="en-US" altLang="zh-CN" sz="2800">
                <a:sym typeface="+mn-ea"/>
              </a:rPr>
              <a:t>:mysql,redis fastcgi,fpm</a:t>
            </a:r>
            <a:r>
              <a:rPr lang="zh-CN" altLang="en-US" sz="2800">
                <a:sym typeface="+mn-ea"/>
              </a:rPr>
              <a:t>等</a:t>
            </a:r>
            <a:r>
              <a:rPr lang="zh-CN" altLang="en-US" sz="2800">
                <a:sym typeface="+mn-ea"/>
              </a:rPr>
              <a:t>服务</a:t>
            </a:r>
            <a:endParaRPr lang="zh-CN" altLang="en-US" sz="280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0965" y="4674235"/>
            <a:ext cx="120008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ym typeface="+mn-ea"/>
              </a:rPr>
              <a:t>ps:</a:t>
            </a:r>
            <a:r>
              <a:rPr lang="zh-CN" altLang="en-US" sz="2800">
                <a:sym typeface="+mn-ea"/>
              </a:rPr>
              <a:t>对于</a:t>
            </a:r>
            <a:r>
              <a:rPr lang="en-US" altLang="zh-CN" sz="2800">
                <a:sym typeface="+mn-ea"/>
              </a:rPr>
              <a:t>file_get_contents</a:t>
            </a:r>
            <a:r>
              <a:rPr lang="zh-CN" altLang="en-US" sz="2800">
                <a:sym typeface="+mn-ea"/>
              </a:rPr>
              <a:t>来说还可以用</a:t>
            </a:r>
            <a:r>
              <a:rPr lang="en-US" altLang="zh-CN" sz="2800">
                <a:sym typeface="+mn-ea"/>
              </a:rPr>
              <a:t>php</a:t>
            </a:r>
            <a:r>
              <a:rPr lang="zh-CN" altLang="en-US" sz="2800">
                <a:sym typeface="+mn-ea"/>
              </a:rPr>
              <a:t>伪协议</a:t>
            </a:r>
            <a:endParaRPr lang="zh-CN" altLang="en-US" sz="280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0965" y="4012565"/>
            <a:ext cx="110718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ym typeface="+mn-ea"/>
              </a:rPr>
              <a:t>dict://</a:t>
            </a:r>
            <a:r>
              <a:rPr lang="zh-CN" altLang="en-US" sz="2800">
                <a:sym typeface="+mn-ea"/>
              </a:rPr>
              <a:t>协议内网服务探测</a:t>
            </a:r>
            <a:r>
              <a:rPr lang="en-US" altLang="zh-CN" sz="2800">
                <a:sym typeface="+mn-ea"/>
              </a:rPr>
              <a:t>,</a:t>
            </a:r>
            <a:r>
              <a:rPr lang="zh-CN" altLang="en-US" sz="2800">
                <a:sym typeface="+mn-ea"/>
              </a:rPr>
              <a:t>打未授权的</a:t>
            </a:r>
            <a:r>
              <a:rPr lang="en-US" altLang="zh-CN" sz="2800">
                <a:sym typeface="+mn-ea"/>
              </a:rPr>
              <a:t>redis   dict://127.0.0.1:{c}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+mn-ea"/>
                <a:ea typeface="+mn-ea"/>
              </a:rPr>
              <a:t>1.5 </a:t>
            </a:r>
            <a:r>
              <a:rPr lang="zh-CN" altLang="en-US" sz="2800" dirty="0">
                <a:latin typeface="+mn-ea"/>
                <a:ea typeface="+mn-ea"/>
              </a:rPr>
              <a:t>靶场</a:t>
            </a:r>
            <a:r>
              <a:rPr lang="zh-CN" altLang="en-US" sz="2800" dirty="0">
                <a:latin typeface="+mn-ea"/>
                <a:ea typeface="+mn-ea"/>
              </a:rPr>
              <a:t>推荐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6391" y="5967427"/>
            <a:ext cx="18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62940" y="1129665"/>
            <a:ext cx="4818380" cy="25101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/>
              <a:t>ssrf-labs</a:t>
            </a:r>
            <a:endParaRPr lang="en-US" altLang="zh-CN" sz="2800"/>
          </a:p>
          <a:p>
            <a:r>
              <a:rPr lang="en-US" altLang="zh-CN" sz="2800"/>
              <a:t>pikaqiu</a:t>
            </a:r>
            <a:endParaRPr lang="en-US" altLang="zh-CN" sz="2800"/>
          </a:p>
          <a:p>
            <a:r>
              <a:rPr lang="en-US" altLang="zh-CN" sz="2800"/>
              <a:t>awvs</a:t>
            </a:r>
            <a:endParaRPr lang="en-US" altLang="zh-CN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+mn-ea"/>
                <a:ea typeface="+mn-ea"/>
              </a:rPr>
              <a:t>2.1</a:t>
            </a:r>
            <a:r>
              <a:rPr lang="zh-CN" altLang="en-US" sz="2800" dirty="0">
                <a:latin typeface="+mn-ea"/>
                <a:ea typeface="+mn-ea"/>
              </a:rPr>
              <a:t>绕过</a:t>
            </a:r>
            <a:r>
              <a:rPr lang="en-US" altLang="zh-CN" sz="2800" dirty="0">
                <a:latin typeface="+mn-ea"/>
                <a:ea typeface="+mn-ea"/>
              </a:rPr>
              <a:t>waf</a:t>
            </a:r>
            <a:r>
              <a:rPr lang="zh-CN" altLang="en-US" sz="2800" dirty="0">
                <a:latin typeface="+mn-ea"/>
                <a:ea typeface="+mn-ea"/>
              </a:rPr>
              <a:t>之构造</a:t>
            </a:r>
            <a:r>
              <a:rPr lang="en-US" altLang="zh-CN" sz="2800" dirty="0">
                <a:latin typeface="+mn-ea"/>
                <a:ea typeface="+mn-ea"/>
              </a:rPr>
              <a:t>127.0.0.1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6391" y="5967427"/>
            <a:ext cx="18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276475" y="3505200"/>
            <a:ext cx="7638415" cy="3594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/>
              <a:t>1.</a:t>
            </a:r>
            <a:r>
              <a:rPr lang="zh-CN" altLang="en-US" sz="2400"/>
              <a:t>特殊的缺省</a:t>
            </a:r>
            <a:r>
              <a:rPr lang="en-US" altLang="zh-CN" sz="2400"/>
              <a:t>ip</a:t>
            </a:r>
            <a:r>
              <a:rPr lang="zh-CN" altLang="en-US" sz="2400"/>
              <a:t>地址</a:t>
            </a:r>
            <a:endParaRPr lang="zh-CN" altLang="en-US" sz="2400"/>
          </a:p>
          <a:p>
            <a:r>
              <a:rPr lang="en-US" altLang="zh-CN" sz="2400"/>
              <a:t>2.</a:t>
            </a:r>
            <a:r>
              <a:rPr lang="zh-CN" altLang="en-US" sz="2400"/>
              <a:t>进制</a:t>
            </a:r>
            <a:r>
              <a:rPr lang="zh-CN" altLang="en-US" sz="2400"/>
              <a:t>转换</a:t>
            </a:r>
            <a:endParaRPr lang="zh-CN" altLang="en-US" sz="2400"/>
          </a:p>
          <a:p>
            <a:r>
              <a:rPr lang="en-US" altLang="zh-CN" sz="2400"/>
              <a:t>3.dns</a:t>
            </a:r>
            <a:r>
              <a:rPr lang="zh-CN" altLang="en-US" sz="2400"/>
              <a:t>欺骗</a:t>
            </a:r>
            <a:endParaRPr lang="zh-CN" altLang="en-US" sz="2400"/>
          </a:p>
          <a:p>
            <a:r>
              <a:rPr lang="en-US" altLang="zh-CN" sz="2400"/>
              <a:t>4.dns</a:t>
            </a:r>
            <a:r>
              <a:rPr lang="zh-CN" altLang="en-US" sz="2400"/>
              <a:t>重绑定</a:t>
            </a:r>
            <a:endParaRPr lang="zh-CN" altLang="en-US" sz="2400"/>
          </a:p>
          <a:p>
            <a:r>
              <a:rPr lang="en-US" altLang="zh-CN" sz="2400"/>
              <a:t>5.302</a:t>
            </a:r>
            <a:r>
              <a:rPr lang="zh-CN" altLang="en-US" sz="2400"/>
              <a:t>跳转</a:t>
            </a:r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735" y="1419860"/>
            <a:ext cx="10255885" cy="6140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" y="2155190"/>
            <a:ext cx="10047605" cy="596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" y="3124200"/>
            <a:ext cx="10856595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latin typeface="+mn-ea"/>
                <a:ea typeface="+mn-ea"/>
                <a:sym typeface="+mn-ea"/>
              </a:rPr>
              <a:t>2.1</a:t>
            </a:r>
            <a:r>
              <a:rPr lang="zh-CN" altLang="en-US" dirty="0">
                <a:latin typeface="+mn-ea"/>
                <a:ea typeface="+mn-ea"/>
                <a:sym typeface="+mn-ea"/>
              </a:rPr>
              <a:t>绕过</a:t>
            </a:r>
            <a:r>
              <a:rPr lang="en-US" altLang="zh-CN" dirty="0">
                <a:latin typeface="+mn-ea"/>
                <a:ea typeface="+mn-ea"/>
                <a:sym typeface="+mn-ea"/>
              </a:rPr>
              <a:t>waf</a:t>
            </a:r>
            <a:r>
              <a:rPr lang="zh-CN" altLang="en-US" dirty="0">
                <a:latin typeface="+mn-ea"/>
                <a:ea typeface="+mn-ea"/>
                <a:sym typeface="+mn-ea"/>
              </a:rPr>
              <a:t>之构造</a:t>
            </a:r>
            <a:r>
              <a:rPr lang="en-US" altLang="zh-CN" dirty="0">
                <a:latin typeface="+mn-ea"/>
                <a:ea typeface="+mn-ea"/>
                <a:sym typeface="+mn-ea"/>
              </a:rPr>
              <a:t>127.0.0.1</a:t>
            </a:r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07670" y="1242695"/>
            <a:ext cx="6096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/>
              <a:t>特殊的缺省</a:t>
            </a:r>
            <a:r>
              <a:rPr lang="en-US" altLang="zh-CN" sz="3600"/>
              <a:t>IP</a:t>
            </a:r>
            <a:endParaRPr lang="zh-CN" altLang="en-US" sz="3600"/>
          </a:p>
          <a:p>
            <a:r>
              <a:rPr lang="zh-CN" altLang="en-US"/>
              <a:t>127.0000000000000.001</a:t>
            </a:r>
            <a:endParaRPr lang="zh-CN" altLang="en-US"/>
          </a:p>
          <a:p>
            <a:r>
              <a:rPr lang="zh-CN" altLang="en-US"/>
              <a:t>127.0.1</a:t>
            </a:r>
            <a:endParaRPr lang="zh-CN" altLang="en-US"/>
          </a:p>
          <a:p>
            <a:r>
              <a:rPr lang="zh-CN" altLang="en-US"/>
              <a:t>127.1</a:t>
            </a:r>
            <a:endParaRPr lang="zh-CN" altLang="en-US"/>
          </a:p>
          <a:p>
            <a:r>
              <a:rPr lang="zh-CN" altLang="en-US"/>
              <a:t>127。0。0。1</a:t>
            </a:r>
            <a:endParaRPr lang="zh-CN" altLang="en-US"/>
          </a:p>
          <a:p>
            <a:r>
              <a:rPr lang="en-US" altLang="zh-CN"/>
              <a:t>0.0.0.0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614670" y="1242695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/>
              <a:t>进制转换</a:t>
            </a:r>
            <a:endParaRPr lang="zh-CN" altLang="en-US" sz="3600"/>
          </a:p>
          <a:p>
            <a:r>
              <a:rPr lang="zh-CN" altLang="en-US"/>
              <a:t>0177.0.0.1</a:t>
            </a:r>
            <a:endParaRPr lang="zh-CN" altLang="en-US"/>
          </a:p>
          <a:p>
            <a:r>
              <a:rPr lang="zh-CN" altLang="en-US"/>
              <a:t>0x7F.0.0.1</a:t>
            </a:r>
            <a:endParaRPr lang="zh-CN" altLang="en-US"/>
          </a:p>
          <a:p>
            <a:r>
              <a:rPr lang="zh-CN" altLang="en-US"/>
              <a:t>0x7F000001</a:t>
            </a:r>
            <a:endParaRPr lang="zh-CN" altLang="en-US"/>
          </a:p>
          <a:p>
            <a:r>
              <a:rPr lang="zh-CN" altLang="en-US"/>
              <a:t>2130706433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05460" y="342900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/>
              <a:t>dns重绑定</a:t>
            </a:r>
            <a:endParaRPr lang="zh-CN" altLang="en-US" sz="3600"/>
          </a:p>
          <a:p>
            <a:r>
              <a:rPr lang="zh-CN" altLang="en-US"/>
              <a:t>https://lock.cmpxchg8b.com/rebinder.html</a:t>
            </a:r>
            <a:endParaRPr lang="zh-CN" altLang="en-US"/>
          </a:p>
          <a:p>
            <a:r>
              <a:rPr lang="zh-CN" altLang="en-US"/>
              <a:t>http://www.ip33.com/dns.html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07670" y="5092065"/>
            <a:ext cx="60960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/>
              <a:t>302跳转</a:t>
            </a:r>
            <a:endParaRPr lang="zh-CN" altLang="en-US" sz="3600"/>
          </a:p>
          <a:p>
            <a:r>
              <a:rPr lang="zh-CN" altLang="en-US" sz="2000"/>
              <a:t>需要</a:t>
            </a:r>
            <a:r>
              <a:rPr lang="en-US" altLang="zh-CN" sz="2000"/>
              <a:t>vps</a:t>
            </a:r>
            <a:endParaRPr lang="en-US" altLang="zh-CN" sz="2000"/>
          </a:p>
        </p:txBody>
      </p:sp>
      <p:sp>
        <p:nvSpPr>
          <p:cNvPr id="8" name="文本框 7"/>
          <p:cNvSpPr txBox="1"/>
          <p:nvPr/>
        </p:nvSpPr>
        <p:spPr>
          <a:xfrm>
            <a:off x="5499735" y="3429000"/>
            <a:ext cx="6096000" cy="147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600"/>
              <a:t>dns</a:t>
            </a:r>
            <a:r>
              <a:rPr lang="zh-CN" altLang="en-US" sz="3600"/>
              <a:t>欺骗</a:t>
            </a:r>
            <a:endParaRPr lang="zh-CN" altLang="en-US" sz="3600"/>
          </a:p>
          <a:p>
            <a:r>
              <a:rPr lang="zh-CN" altLang="en-US"/>
              <a:t>safe.taobao.com  </a:t>
            </a:r>
            <a:endParaRPr lang="zh-CN" altLang="en-US"/>
          </a:p>
          <a:p>
            <a:r>
              <a:rPr lang="zh-CN" altLang="en-US"/>
              <a:t>114.taobao.com</a:t>
            </a:r>
            <a:endParaRPr lang="zh-CN" altLang="en-US"/>
          </a:p>
          <a:p>
            <a:r>
              <a:rPr lang="zh-CN" altLang="en-US"/>
              <a:t>wifi.aliyun.com</a:t>
            </a:r>
            <a:endParaRPr lang="zh-CN" altLang="en-US"/>
          </a:p>
          <a:p>
            <a:r>
              <a:rPr lang="zh-CN" altLang="en-US"/>
              <a:t>imis.qq.com</a:t>
            </a:r>
            <a:endParaRPr lang="zh-CN" altLang="en-US"/>
          </a:p>
          <a:p>
            <a:r>
              <a:rPr lang="zh-CN" altLang="en-US"/>
              <a:t>localhost.sec.qq.com</a:t>
            </a:r>
            <a:endParaRPr lang="zh-CN" altLang="en-US"/>
          </a:p>
          <a:p>
            <a:r>
              <a:rPr lang="zh-CN" altLang="en-US"/>
              <a:t>ecd.tencent.com 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+mn-ea"/>
                <a:ea typeface="+mn-ea"/>
                <a:sym typeface="+mn-ea"/>
              </a:rPr>
              <a:t>2.2</a:t>
            </a:r>
            <a:r>
              <a:rPr lang="zh-CN" altLang="en-US" sz="2800" dirty="0">
                <a:latin typeface="+mn-ea"/>
                <a:ea typeface="+mn-ea"/>
                <a:sym typeface="+mn-ea"/>
              </a:rPr>
              <a:t>绕过</a:t>
            </a:r>
            <a:r>
              <a:rPr lang="en-US" altLang="zh-CN" sz="2800" dirty="0">
                <a:latin typeface="+mn-ea"/>
                <a:ea typeface="+mn-ea"/>
                <a:sym typeface="+mn-ea"/>
              </a:rPr>
              <a:t>waf</a:t>
            </a:r>
            <a:r>
              <a:rPr lang="zh-CN" altLang="en-US" sz="2800" dirty="0">
                <a:latin typeface="+mn-ea"/>
                <a:ea typeface="+mn-ea"/>
                <a:sym typeface="+mn-ea"/>
              </a:rPr>
              <a:t>之构造</a:t>
            </a:r>
            <a:r>
              <a:rPr lang="en-US" altLang="zh-CN" sz="2800" dirty="0">
                <a:latin typeface="+mn-ea"/>
                <a:ea typeface="+mn-ea"/>
                <a:sym typeface="+mn-ea"/>
              </a:rPr>
              <a:t>127.0.0.1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386391" y="5967427"/>
            <a:ext cx="18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1230" y="1458595"/>
            <a:ext cx="5463540" cy="16154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31210" y="3429000"/>
            <a:ext cx="6096000" cy="1777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>
                <a:sym typeface="+mn-ea"/>
              </a:rPr>
              <a:t>dns</a:t>
            </a:r>
            <a:r>
              <a:rPr lang="zh-CN" altLang="en-US" sz="2400">
                <a:sym typeface="+mn-ea"/>
              </a:rPr>
              <a:t>重绑定</a:t>
            </a:r>
            <a:endParaRPr lang="zh-CN" altLang="en-US" sz="2400"/>
          </a:p>
          <a:p>
            <a:endParaRPr lang="en-US" altLang="zh-CN" sz="2400">
              <a:sym typeface="+mn-ea"/>
            </a:endParaRPr>
          </a:p>
          <a:p>
            <a:endParaRPr lang="en-US" altLang="zh-CN" sz="2400">
              <a:sym typeface="+mn-ea"/>
            </a:endParaRPr>
          </a:p>
          <a:p>
            <a:r>
              <a:rPr lang="en-US" altLang="zh-CN" sz="2400">
                <a:sym typeface="+mn-ea"/>
              </a:rPr>
              <a:t>302</a:t>
            </a:r>
            <a:r>
              <a:rPr lang="zh-CN" altLang="en-US" sz="2400">
                <a:sym typeface="+mn-ea"/>
              </a:rPr>
              <a:t>跳转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+mn-ea"/>
                <a:ea typeface="+mn-ea"/>
                <a:sym typeface="+mn-ea"/>
              </a:rPr>
              <a:t>2.3</a:t>
            </a:r>
            <a:r>
              <a:rPr sz="2800" dirty="0">
                <a:latin typeface="+mn-ea"/>
                <a:ea typeface="+mn-ea"/>
                <a:sym typeface="+mn-ea"/>
              </a:rPr>
              <a:t>@绕必存在host</a:t>
            </a:r>
            <a:r>
              <a:rPr lang="zh-CN" sz="2800" dirty="0">
                <a:latin typeface="+mn-ea"/>
                <a:ea typeface="+mn-ea"/>
                <a:sym typeface="+mn-ea"/>
              </a:rPr>
              <a:t>头</a:t>
            </a:r>
            <a:endParaRPr sz="2800" dirty="0">
              <a:latin typeface="+mn-ea"/>
              <a:ea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6391" y="5967427"/>
            <a:ext cx="18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059180" y="2232660"/>
            <a:ext cx="10568305" cy="935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/>
              <a:t>echo file_get_contens(“</a:t>
            </a:r>
            <a:r>
              <a:rPr lang="en-US" altLang="zh-CN" sz="2400">
                <a:sym typeface="+mn-ea"/>
              </a:rPr>
              <a:t>http://www.baidu.com/”.”</a:t>
            </a:r>
            <a:r>
              <a:rPr lang="zh-CN" altLang="en-US" sz="2400">
                <a:sym typeface="+mn-ea"/>
              </a:rPr>
              <a:t>你想要访问的资源路径</a:t>
            </a:r>
            <a:r>
              <a:rPr lang="en-US" altLang="zh-CN" sz="2400">
                <a:sym typeface="+mn-ea"/>
              </a:rPr>
              <a:t>”</a:t>
            </a:r>
            <a:r>
              <a:rPr lang="en-US" altLang="zh-CN" sz="2400"/>
              <a:t>”)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此刻你不想访问百度</a:t>
            </a:r>
            <a:r>
              <a:rPr lang="en-US" altLang="zh-CN" sz="2400"/>
              <a:t>,</a:t>
            </a:r>
            <a:r>
              <a:rPr lang="zh-CN" altLang="en-US" sz="2400"/>
              <a:t>你想访问其他的那就可以利用</a:t>
            </a:r>
            <a:r>
              <a:rPr lang="en-US" altLang="zh-CN" sz="2400"/>
              <a:t>@</a:t>
            </a:r>
            <a:r>
              <a:rPr lang="zh-CN" altLang="en-US" sz="2400"/>
              <a:t>跳转到你的目标网站</a:t>
            </a:r>
            <a:endParaRPr lang="en-US" altLang="zh-CN" sz="2400"/>
          </a:p>
          <a:p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80" y="3505200"/>
            <a:ext cx="7153275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+mn-ea"/>
                <a:ea typeface="+mn-ea"/>
                <a:sym typeface="+mn-ea"/>
              </a:rPr>
              <a:t>2.3#</a:t>
            </a:r>
            <a:r>
              <a:rPr lang="zh-CN" altLang="en-US" sz="2800" dirty="0">
                <a:latin typeface="+mn-ea"/>
                <a:ea typeface="+mn-ea"/>
                <a:sym typeface="+mn-ea"/>
              </a:rPr>
              <a:t>或者</a:t>
            </a:r>
            <a:r>
              <a:rPr lang="en-US" altLang="zh-CN" sz="2800" dirty="0">
                <a:latin typeface="+mn-ea"/>
                <a:ea typeface="+mn-ea"/>
                <a:sym typeface="+mn-ea"/>
              </a:rPr>
              <a:t>?</a:t>
            </a:r>
            <a:r>
              <a:rPr sz="2800" dirty="0">
                <a:latin typeface="+mn-ea"/>
                <a:ea typeface="+mn-ea"/>
                <a:sym typeface="+mn-ea"/>
              </a:rPr>
              <a:t>绕必存在host</a:t>
            </a:r>
            <a:r>
              <a:rPr lang="zh-CN" sz="2800" dirty="0">
                <a:latin typeface="+mn-ea"/>
                <a:ea typeface="+mn-ea"/>
                <a:sym typeface="+mn-ea"/>
              </a:rPr>
              <a:t>尾</a:t>
            </a:r>
            <a:endParaRPr lang="zh-CN" sz="2800" dirty="0">
              <a:latin typeface="+mn-ea"/>
              <a:ea typeface="+mn-ea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386391" y="5967427"/>
            <a:ext cx="18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379345" y="2005330"/>
            <a:ext cx="7432675" cy="957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/>
              <a:t>if(preg(“/^http://gzhu.*$edu</a:t>
            </a:r>
            <a:r>
              <a:rPr lang="en-US" altLang="zh-CN" sz="2400"/>
              <a:t>”,$host)==True)</a:t>
            </a:r>
            <a:endParaRPr lang="en-US" altLang="zh-CN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225" y="2520315"/>
            <a:ext cx="4876800" cy="28098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320" y="2586990"/>
            <a:ext cx="46863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+mn-ea"/>
                <a:ea typeface="+mn-ea"/>
                <a:sym typeface="+mn-ea"/>
              </a:rPr>
              <a:t>2.4 “302</a:t>
            </a:r>
            <a:r>
              <a:rPr lang="zh-CN" altLang="en-US" sz="2800" dirty="0">
                <a:latin typeface="+mn-ea"/>
                <a:ea typeface="+mn-ea"/>
                <a:sym typeface="+mn-ea"/>
              </a:rPr>
              <a:t>跳转</a:t>
            </a:r>
            <a:r>
              <a:rPr lang="en-US" altLang="zh-CN" sz="2800" dirty="0">
                <a:latin typeface="+mn-ea"/>
                <a:ea typeface="+mn-ea"/>
                <a:sym typeface="+mn-ea"/>
              </a:rPr>
              <a:t>” </a:t>
            </a:r>
            <a:r>
              <a:rPr lang="zh-CN" altLang="en-US" sz="2800" dirty="0">
                <a:latin typeface="+mn-ea"/>
                <a:ea typeface="+mn-ea"/>
                <a:sym typeface="+mn-ea"/>
              </a:rPr>
              <a:t>绕过特定路由关键字的检测</a:t>
            </a:r>
            <a:endParaRPr lang="en-US" altLang="zh-CN" sz="2800" dirty="0">
              <a:latin typeface="+mn-ea"/>
              <a:ea typeface="+mn-ea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386391" y="5967427"/>
            <a:ext cx="18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47955" y="1028700"/>
            <a:ext cx="6904355" cy="52247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/>
              <a:t>原本</a:t>
            </a:r>
            <a:r>
              <a:rPr lang="en-US" altLang="zh-CN" sz="2400"/>
              <a:t>payload:http://127.0.0.1/flag 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app.get('/flag', function(req, res){</a:t>
            </a:r>
            <a:endParaRPr lang="zh-CN" altLang="en-US" sz="2400"/>
          </a:p>
          <a:p>
            <a:r>
              <a:rPr lang="zh-CN" altLang="en-US" sz="2400"/>
              <a:t>    if (req.ip === '127.0.0.1') {</a:t>
            </a:r>
            <a:endParaRPr lang="zh-CN" altLang="en-US" sz="2400"/>
          </a:p>
          <a:p>
            <a:r>
              <a:rPr lang="zh-CN" altLang="en-US" sz="2400"/>
              <a:t>        res.status(200).send(env.parsed.flag)</a:t>
            </a:r>
            <a:endParaRPr lang="zh-CN" altLang="en-US" sz="2400"/>
          </a:p>
          <a:p>
            <a:r>
              <a:rPr lang="zh-CN" altLang="en-US" sz="2400"/>
              <a:t>    }; // 这里可以获取flag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#</a:t>
            </a:r>
            <a:r>
              <a:rPr lang="zh-CN" altLang="en-US" sz="2400"/>
              <a:t>黑名单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let blacklist = ['wrong', '127.', 'local', '@', 'flag']</a:t>
            </a:r>
            <a:endParaRPr lang="zh-CN" altLang="en-US" sz="2400"/>
          </a:p>
          <a:p>
            <a:endParaRPr lang="zh-CN" altLang="en-US" sz="2400"/>
          </a:p>
          <a:p>
            <a:endParaRPr lang="en-US" altLang="zh-CN" sz="2400"/>
          </a:p>
        </p:txBody>
      </p:sp>
      <p:sp>
        <p:nvSpPr>
          <p:cNvPr id="4" name="文本框 3"/>
          <p:cNvSpPr txBox="1"/>
          <p:nvPr/>
        </p:nvSpPr>
        <p:spPr>
          <a:xfrm>
            <a:off x="6739890" y="1442720"/>
            <a:ext cx="5268595" cy="3752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                          302.php</a:t>
            </a:r>
            <a:r>
              <a:rPr lang="zh-CN" altLang="en-US"/>
              <a:t>内容如下</a:t>
            </a:r>
            <a:r>
              <a:rPr lang="en-US" altLang="zh-CN"/>
              <a:t>: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&lt;?php header(“location:http://127.0.0.1/flag”);?&gt;</a:t>
            </a:r>
            <a:endParaRPr lang="en-US" altLang="zh-CN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18135" y="5059045"/>
            <a:ext cx="64217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改进的</a:t>
            </a:r>
            <a:r>
              <a:rPr lang="en-US" altLang="zh-CN" sz="2400">
                <a:sym typeface="+mn-ea"/>
              </a:rPr>
              <a:t>payload:http:vps:port/302.php</a:t>
            </a:r>
            <a:endParaRPr lang="en-US" altLang="zh-CN" sz="240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dirty="0">
                <a:latin typeface="+mn-ea"/>
                <a:ea typeface="+mn-ea"/>
                <a:sym typeface="+mn-ea"/>
              </a:rPr>
              <a:t>2.5 “dns</a:t>
            </a:r>
            <a:r>
              <a:rPr lang="zh-CN" altLang="en-US" dirty="0">
                <a:latin typeface="+mn-ea"/>
                <a:ea typeface="+mn-ea"/>
                <a:sym typeface="+mn-ea"/>
              </a:rPr>
              <a:t>重绑定</a:t>
            </a:r>
            <a:r>
              <a:rPr lang="en-US" altLang="zh-CN" dirty="0">
                <a:latin typeface="+mn-ea"/>
                <a:ea typeface="+mn-ea"/>
                <a:sym typeface="+mn-ea"/>
              </a:rPr>
              <a:t>” </a:t>
            </a:r>
            <a:r>
              <a:rPr lang="zh-CN" altLang="en-US" dirty="0">
                <a:latin typeface="+mn-ea"/>
                <a:ea typeface="+mn-ea"/>
                <a:sym typeface="+mn-ea"/>
              </a:rPr>
              <a:t>绕过指定合法</a:t>
            </a:r>
            <a:r>
              <a:rPr lang="en-US" altLang="zh-CN" dirty="0">
                <a:latin typeface="+mn-ea"/>
                <a:ea typeface="+mn-ea"/>
                <a:sym typeface="+mn-ea"/>
              </a:rPr>
              <a:t>ip</a:t>
            </a:r>
            <a:r>
              <a:rPr lang="zh-CN" altLang="en-US" dirty="0">
                <a:latin typeface="+mn-ea"/>
                <a:ea typeface="+mn-ea"/>
                <a:sym typeface="+mn-ea"/>
              </a:rPr>
              <a:t>检测</a:t>
            </a:r>
            <a:endParaRPr lang="en-US" altLang="zh-CN" dirty="0">
              <a:latin typeface="+mn-ea"/>
              <a:ea typeface="+mn-ea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5260" y="1129030"/>
            <a:ext cx="1060577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原理</a:t>
            </a:r>
            <a:r>
              <a:rPr lang="en-US" altLang="zh-CN" sz="2000"/>
              <a:t>:</a:t>
            </a:r>
            <a:endParaRPr lang="en-US" altLang="zh-CN" sz="2000"/>
          </a:p>
          <a:p>
            <a:r>
              <a:rPr lang="en-US" altLang="zh-CN" sz="2000"/>
              <a:t>1.</a:t>
            </a:r>
            <a:r>
              <a:rPr lang="zh-CN" altLang="en-US" sz="2000"/>
              <a:t>服务端检测域名是否为合法</a:t>
            </a:r>
            <a:r>
              <a:rPr lang="en-US" altLang="zh-CN" sz="2000"/>
              <a:t>ip</a:t>
            </a:r>
            <a:r>
              <a:rPr lang="zh-CN" altLang="en-US" sz="2000"/>
              <a:t>会向</a:t>
            </a:r>
            <a:r>
              <a:rPr lang="en-US" altLang="zh-CN" sz="2000"/>
              <a:t>dns</a:t>
            </a:r>
            <a:r>
              <a:rPr lang="zh-CN" altLang="en-US" sz="2000"/>
              <a:t>服务器发送一次请求</a:t>
            </a:r>
            <a:r>
              <a:rPr lang="en-US" altLang="zh-CN" sz="2000"/>
              <a:t>.</a:t>
            </a:r>
            <a:endParaRPr lang="en-US" altLang="zh-CN" sz="2000"/>
          </a:p>
          <a:p>
            <a:r>
              <a:rPr lang="en-US" altLang="zh-CN" sz="2000"/>
              <a:t>2.</a:t>
            </a:r>
            <a:r>
              <a:rPr lang="zh-CN" altLang="en-US" sz="2000"/>
              <a:t>服务端发送</a:t>
            </a:r>
            <a:r>
              <a:rPr lang="en-US" altLang="zh-CN" sz="2000"/>
              <a:t>url</a:t>
            </a:r>
            <a:r>
              <a:rPr lang="zh-CN" altLang="en-US" sz="2000"/>
              <a:t>请求时又会向</a:t>
            </a:r>
            <a:r>
              <a:rPr lang="en-US" altLang="zh-CN" sz="2000"/>
              <a:t>dns</a:t>
            </a:r>
            <a:r>
              <a:rPr lang="zh-CN" altLang="en-US" sz="2000"/>
              <a:t>服务器发送一次请求</a:t>
            </a:r>
            <a:r>
              <a:rPr lang="en-US" altLang="zh-CN" sz="2000"/>
              <a:t>.</a:t>
            </a:r>
            <a:endParaRPr lang="en-US" altLang="zh-CN" sz="2000"/>
          </a:p>
          <a:p>
            <a:r>
              <a:rPr lang="en-US" altLang="zh-CN" sz="2000"/>
              <a:t>3.</a:t>
            </a:r>
            <a:r>
              <a:rPr lang="zh-CN" altLang="en-US" sz="2000"/>
              <a:t>由于解析两者具有时间差</a:t>
            </a:r>
            <a:r>
              <a:rPr lang="en-US" altLang="zh-CN" sz="2000"/>
              <a:t>(TTL),</a:t>
            </a:r>
            <a:r>
              <a:rPr lang="zh-CN" altLang="en-US" sz="2000"/>
              <a:t>如果该构造能够解析为两种</a:t>
            </a:r>
            <a:r>
              <a:rPr lang="en-US" altLang="zh-CN" sz="2000"/>
              <a:t>ip,</a:t>
            </a:r>
            <a:r>
              <a:rPr lang="zh-CN" altLang="en-US" sz="2000"/>
              <a:t>一种为合法</a:t>
            </a:r>
            <a:r>
              <a:rPr lang="en-US" altLang="zh-CN" sz="2000"/>
              <a:t>,</a:t>
            </a:r>
            <a:r>
              <a:rPr lang="zh-CN" altLang="en-US" sz="2000"/>
              <a:t>一种为恶意的域名</a:t>
            </a:r>
            <a:r>
              <a:rPr lang="en-US" altLang="zh-CN" sz="2000"/>
              <a:t>.</a:t>
            </a:r>
            <a:r>
              <a:rPr lang="zh-CN" altLang="en-US" sz="2000"/>
              <a:t>即可实现</a:t>
            </a:r>
            <a:r>
              <a:rPr lang="zh-CN" altLang="en-US" sz="2000"/>
              <a:t>攻击</a:t>
            </a:r>
            <a:endParaRPr lang="zh-CN" altLang="en-US" sz="2000"/>
          </a:p>
        </p:txBody>
      </p:sp>
      <p:pic>
        <p:nvPicPr>
          <p:cNvPr id="5" name="图片 4" descr="20200329021826-849a478a-7120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6460" y="2609850"/>
            <a:ext cx="7903210" cy="33705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3.1</a:t>
            </a:r>
            <a:r>
              <a:rPr lang="zh-CN" altLang="en-US"/>
              <a:t>攻击内网</a:t>
            </a:r>
            <a:r>
              <a:rPr lang="zh-CN" altLang="en-US"/>
              <a:t>服务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884805" y="13220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推荐</a:t>
            </a:r>
            <a:r>
              <a:rPr lang="zh-CN" altLang="en-US"/>
              <a:t>博客链接</a:t>
            </a:r>
            <a:r>
              <a:rPr lang="en-US" altLang="zh-CN"/>
              <a:t>:</a:t>
            </a:r>
            <a:r>
              <a:rPr lang="zh-CN" altLang="en-US"/>
              <a:t>https://zhuanlan.zhihu.com/p/596892238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630" y="2444750"/>
            <a:ext cx="8808720" cy="33108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4.1SSRF</a:t>
            </a:r>
            <a:r>
              <a:rPr lang="zh-CN" altLang="en-US"/>
              <a:t>的挖掘</a:t>
            </a:r>
            <a:r>
              <a:rPr lang="zh-CN" altLang="en-US"/>
              <a:t>思路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444500" y="1028700"/>
            <a:ext cx="11251565" cy="51777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2f81aabc-3a24-43d8-a9d2-ec8c08796c3c"/>
  <p:tag name="COMMONDATA" val="eyJoZGlkIjoiNWExNzg3NmNiZjRmYTZhZTI2OGZmZTVjYjVjZGU2ZDAifQ=="/>
  <p:tag name="commondata" val="eyJoZGlkIjoiZDBiM2I0MzNkYjAyYzc4NjdjYzQyNThiZjIzOTMxYWIifQ==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5">
  <a:themeElements>
    <a:clrScheme name="University of Malaya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19844"/>
      </a:accent1>
      <a:accent2>
        <a:srgbClr val="E82209"/>
      </a:accent2>
      <a:accent3>
        <a:srgbClr val="FCC300"/>
      </a:accent3>
      <a:accent4>
        <a:srgbClr val="0B52A2"/>
      </a:accent4>
      <a:accent5>
        <a:srgbClr val="0D8ECC"/>
      </a:accent5>
      <a:accent6>
        <a:srgbClr val="ABDBDF"/>
      </a:accent6>
      <a:hlink>
        <a:srgbClr val="4472C4"/>
      </a:hlink>
      <a:folHlink>
        <a:srgbClr val="BFBFBF"/>
      </a:folHlink>
    </a:clrScheme>
    <a:fontScheme name="tdl3kz1d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1660</Words>
  <Application>WPS 演示</Application>
  <PresentationFormat>宽屏</PresentationFormat>
  <Paragraphs>181</Paragraphs>
  <Slides>15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华光中圆_CNKI</vt:lpstr>
      <vt:lpstr>黑体</vt:lpstr>
      <vt:lpstr>方正正中黑简体</vt:lpstr>
      <vt:lpstr>Times New Roman</vt:lpstr>
      <vt:lpstr>微软雅黑</vt:lpstr>
      <vt:lpstr>Arial Unicode MS</vt:lpstr>
      <vt:lpstr>等线</vt:lpstr>
      <vt:lpstr>webwppDefTheme</vt:lpstr>
      <vt:lpstr>主题5</vt:lpstr>
      <vt:lpstr>SSRF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2.1绕过waf之构造127.0.0.1</vt:lpstr>
      <vt:lpstr>PowerPoint 演示文稿</vt:lpstr>
      <vt:lpstr>PowerPoint 演示文稿</vt:lpstr>
      <vt:lpstr>PowerPoint 演示文稿</vt:lpstr>
      <vt:lpstr>PowerPoint 演示文稿</vt:lpstr>
      <vt:lpstr>2.5 “dns重绑定” 绕过指定合法ip检测(huaweictf)</vt:lpstr>
      <vt:lpstr>3.1攻击内网服务</vt:lpstr>
      <vt:lpstr>4.1真实环境下的SSRF场景(只是举例子)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主标题</dc:title>
  <dc:creator>Hansen</dc:creator>
  <cp:lastModifiedBy>瑞通成物流-邹先生</cp:lastModifiedBy>
  <cp:revision>62</cp:revision>
  <dcterms:created xsi:type="dcterms:W3CDTF">2024-03-05T03:22:00Z</dcterms:created>
  <dcterms:modified xsi:type="dcterms:W3CDTF">2026-04-09T06:17:46Z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  <property fmtid="{D5CDD505-2E9C-101B-9397-08002B2CF9AE}" pid="3" name="KSOProductBuildVer">
    <vt:lpwstr>2052-12.1.0.25225</vt:lpwstr>
  </property>
  <property fmtid="{D5CDD505-2E9C-101B-9397-08002B2CF9AE}" pid="4" name="ICV">
    <vt:lpwstr>24D8FA3F9A054FCEBF39D1FD797C71F4_13</vt:lpwstr>
  </property>
</Properties>
</file>